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CAB5E0F-72A9-2B16-C8EC-455B7A52D6F7}" v="3" dt="2025-10-10T00:49:32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154" autoAdjust="0"/>
    <p:restoredTop sz="94660"/>
  </p:normalViewPr>
  <p:slideViewPr>
    <p:cSldViewPr snapToGrid="0">
      <p:cViewPr varScale="1">
        <p:scale>
          <a:sx n="62" d="100"/>
          <a:sy n="62" d="100"/>
        </p:scale>
        <p:origin x="44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lly WONG" userId="S::10992176@kew.vic.edu.au::d9e599d2-2b55-465c-8699-20a0cfdf18e2" providerId="AD" clId="Web-{DCAB5E0F-72A9-2B16-C8EC-455B7A52D6F7}"/>
    <pc:docChg chg="modSld">
      <pc:chgData name="Kelly WONG" userId="S::10992176@kew.vic.edu.au::d9e599d2-2b55-465c-8699-20a0cfdf18e2" providerId="AD" clId="Web-{DCAB5E0F-72A9-2B16-C8EC-455B7A52D6F7}" dt="2025-10-10T00:49:32.913" v="2" actId="20577"/>
      <pc:docMkLst>
        <pc:docMk/>
      </pc:docMkLst>
      <pc:sldChg chg="modSp">
        <pc:chgData name="Kelly WONG" userId="S::10992176@kew.vic.edu.au::d9e599d2-2b55-465c-8699-20a0cfdf18e2" providerId="AD" clId="Web-{DCAB5E0F-72A9-2B16-C8EC-455B7A52D6F7}" dt="2025-10-10T00:49:32.913" v="2" actId="20577"/>
        <pc:sldMkLst>
          <pc:docMk/>
          <pc:sldMk cId="4194090641" sldId="269"/>
        </pc:sldMkLst>
        <pc:spChg chg="mod">
          <ac:chgData name="Kelly WONG" userId="S::10992176@kew.vic.edu.au::d9e599d2-2b55-465c-8699-20a0cfdf18e2" providerId="AD" clId="Web-{DCAB5E0F-72A9-2B16-C8EC-455B7A52D6F7}" dt="2025-10-10T00:49:32.913" v="2" actId="20577"/>
          <ac:spMkLst>
            <pc:docMk/>
            <pc:sldMk cId="4194090641" sldId="269"/>
            <ac:spMk id="3" creationId="{A08E73BB-853A-CC55-2029-43EE202BE84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396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235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29729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2072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5983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04387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5765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5677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1115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892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7069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844111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94301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85245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5499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93242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B60BC-7690-49FA-B372-FCB142E29D0B}" type="datetimeFigureOut">
              <a:rPr lang="en-AU" smtClean="0"/>
              <a:t>9/10/2025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DB25E47-FB67-4E9B-8F96-0CBE3158AD1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77441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7ABABA7-0420-4200-9B65-1C1967CE93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17EBE3-FF86-4DA1-BC9A-331F7F2144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AU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03E380-9CD1-4ABA-A763-9F9D252B8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6009967" y="0"/>
            <a:ext cx="6176982" cy="6853245"/>
            <a:chOff x="2487613" y="285750"/>
            <a:chExt cx="2428876" cy="5654676"/>
          </a:xfrm>
          <a:solidFill>
            <a:schemeClr val="bg2">
              <a:lumMod val="90000"/>
            </a:schemeClr>
          </a:solidFill>
        </p:grpSpPr>
        <p:sp>
          <p:nvSpPr>
            <p:cNvPr id="25" name="Freeform 11">
              <a:extLst>
                <a:ext uri="{FF2B5EF4-FFF2-40B4-BE49-F238E27FC236}">
                  <a16:creationId xmlns:a16="http://schemas.microsoft.com/office/drawing/2014/main" id="{66E01B84-4C2B-4DE5-90C8-9C4001A75B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12">
              <a:extLst>
                <a:ext uri="{FF2B5EF4-FFF2-40B4-BE49-F238E27FC236}">
                  <a16:creationId xmlns:a16="http://schemas.microsoft.com/office/drawing/2014/main" id="{64CE5A7A-D5C5-4FE5-860C-0B5748FDE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Freeform 13">
              <a:extLst>
                <a:ext uri="{FF2B5EF4-FFF2-40B4-BE49-F238E27FC236}">
                  <a16:creationId xmlns:a16="http://schemas.microsoft.com/office/drawing/2014/main" id="{016A7D2A-6EEA-47B8-A763-7D82E41B3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14">
              <a:extLst>
                <a:ext uri="{FF2B5EF4-FFF2-40B4-BE49-F238E27FC236}">
                  <a16:creationId xmlns:a16="http://schemas.microsoft.com/office/drawing/2014/main" id="{E758F6E7-6DEC-48D0-ACB1-E5E26B13E6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5">
              <a:extLst>
                <a:ext uri="{FF2B5EF4-FFF2-40B4-BE49-F238E27FC236}">
                  <a16:creationId xmlns:a16="http://schemas.microsoft.com/office/drawing/2014/main" id="{B56657FF-C027-42E7-859B-902929B6F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79047F2A-5978-46C6-B3A2-54AAC2136B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7">
              <a:extLst>
                <a:ext uri="{FF2B5EF4-FFF2-40B4-BE49-F238E27FC236}">
                  <a16:creationId xmlns:a16="http://schemas.microsoft.com/office/drawing/2014/main" id="{F3BE8FD1-0A72-4640-AC7A-2E057273F8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8">
              <a:extLst>
                <a:ext uri="{FF2B5EF4-FFF2-40B4-BE49-F238E27FC236}">
                  <a16:creationId xmlns:a16="http://schemas.microsoft.com/office/drawing/2014/main" id="{752FC782-A372-4D11-B20D-958955E56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9">
              <a:extLst>
                <a:ext uri="{FF2B5EF4-FFF2-40B4-BE49-F238E27FC236}">
                  <a16:creationId xmlns:a16="http://schemas.microsoft.com/office/drawing/2014/main" id="{AA00B2F1-BEE2-444A-8249-C8E3212CA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8014" y="468286"/>
              <a:ext cx="1768475" cy="4262464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20">
              <a:extLst>
                <a:ext uri="{FF2B5EF4-FFF2-40B4-BE49-F238E27FC236}">
                  <a16:creationId xmlns:a16="http://schemas.microsoft.com/office/drawing/2014/main" id="{E7F5747E-514B-4CF7-B6B0-DAD7149097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21">
              <a:extLst>
                <a:ext uri="{FF2B5EF4-FFF2-40B4-BE49-F238E27FC236}">
                  <a16:creationId xmlns:a16="http://schemas.microsoft.com/office/drawing/2014/main" id="{931614BB-1593-40ED-8113-2BD1187055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22">
              <a:extLst>
                <a:ext uri="{FF2B5EF4-FFF2-40B4-BE49-F238E27FC236}">
                  <a16:creationId xmlns:a16="http://schemas.microsoft.com/office/drawing/2014/main" id="{2691871F-F15C-4E19-BC9C-78E5748D744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81C8F26-6C4D-2791-0BAA-0420619B8A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4103" y="1318591"/>
            <a:ext cx="5800929" cy="4220820"/>
          </a:xfrm>
        </p:spPr>
        <p:txBody>
          <a:bodyPr anchor="ctr">
            <a:normAutofit/>
          </a:bodyPr>
          <a:lstStyle/>
          <a:p>
            <a:pPr algn="r"/>
            <a:r>
              <a:rPr lang="en-AU" sz="6600">
                <a:solidFill>
                  <a:schemeClr val="tx2">
                    <a:lumMod val="75000"/>
                  </a:schemeClr>
                </a:solidFill>
              </a:rPr>
              <a:t>Writing topic sentences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3B412D-099F-E35C-AC7E-973E686288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55048" y="1871831"/>
            <a:ext cx="3084569" cy="3199806"/>
          </a:xfrm>
        </p:spPr>
        <p:txBody>
          <a:bodyPr anchor="ctr">
            <a:normAutofit/>
          </a:bodyPr>
          <a:lstStyle/>
          <a:p>
            <a:r>
              <a:rPr lang="en-AU" dirty="0">
                <a:solidFill>
                  <a:schemeClr val="tx2">
                    <a:lumMod val="75000"/>
                  </a:schemeClr>
                </a:solidFill>
              </a:rPr>
              <a:t>Year 7 English</a:t>
            </a:r>
            <a:br>
              <a:rPr lang="en-AU" dirty="0">
                <a:solidFill>
                  <a:schemeClr val="tx2">
                    <a:lumMod val="75000"/>
                  </a:schemeClr>
                </a:solidFill>
              </a:rPr>
            </a:br>
            <a:r>
              <a:rPr lang="en-AU" dirty="0">
                <a:solidFill>
                  <a:schemeClr val="tx2">
                    <a:lumMod val="75000"/>
                  </a:schemeClr>
                </a:solidFill>
              </a:rPr>
              <a:t>Text Response Essays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4D43EC1-35FA-4FC3-8526-F655CEB09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7196" y="1871831"/>
            <a:ext cx="0" cy="3200400"/>
          </a:xfrm>
          <a:prstGeom prst="line">
            <a:avLst/>
          </a:prstGeom>
          <a:ln w="158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860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4D06B-AD1A-029A-EAE8-B2B911946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Learning outcomes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8D1E2-AD4B-B9BB-B9E3-F48FA3ED3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sz="2000" b="1" dirty="0">
                <a:solidFill>
                  <a:schemeClr val="accent1"/>
                </a:solidFill>
              </a:rPr>
              <a:t>Learning intentions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783CF-B38B-A892-5997-33E3570E86B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improve your sentence writing skills.</a:t>
            </a: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be able to write a topic sentence.</a:t>
            </a:r>
            <a:endParaRPr lang="en-AU" sz="36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B89309-49B9-9243-EC0F-3D82AA32CD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sz="2000" b="1" dirty="0">
                <a:solidFill>
                  <a:schemeClr val="accent1"/>
                </a:solidFill>
              </a:rPr>
              <a:t>By the end of the lesson, you will have: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34CE8A-3746-3D0D-56A4-4CB4839CEFB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AU" sz="2400" dirty="0"/>
              <a:t>Learnt how to nominalise sentences</a:t>
            </a:r>
          </a:p>
          <a:p>
            <a:r>
              <a:rPr lang="en-AU" sz="2400" dirty="0"/>
              <a:t>Changed the subject of the sentence to refer to different elements</a:t>
            </a:r>
          </a:p>
          <a:p>
            <a:r>
              <a:rPr lang="en-AU" sz="2400" dirty="0"/>
              <a:t>Written three potential topic sentences</a:t>
            </a:r>
          </a:p>
        </p:txBody>
      </p:sp>
    </p:spTree>
    <p:extLst>
      <p:ext uri="{BB962C8B-B14F-4D97-AF65-F5344CB8AC3E}">
        <p14:creationId xmlns:p14="http://schemas.microsoft.com/office/powerpoint/2010/main" val="3437928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FEB56-1369-2D7E-60E7-D476E3AC6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Parts of a sentence -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A37AF-4732-F454-A92A-E0DB6B81C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92500" lnSpcReduction="10000"/>
          </a:bodyPr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200" b="1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Verb </a:t>
            </a:r>
            <a:r>
              <a:rPr lang="en-AU" sz="22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– the thing that is </a:t>
            </a:r>
            <a:r>
              <a:rPr lang="en-AU" sz="2200" i="1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happening</a:t>
            </a:r>
            <a:r>
              <a:rPr lang="en-AU" sz="22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the sentence. That might be an action, thinking or simply existing.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200" b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Subject</a:t>
            </a:r>
            <a:r>
              <a:rPr lang="en-AU" sz="22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– the thing that is </a:t>
            </a:r>
            <a:r>
              <a:rPr lang="en-AU" sz="22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making</a:t>
            </a:r>
            <a:r>
              <a:rPr lang="en-AU" sz="22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the verb happen. It is often the first thing mentioned in a clause.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200" b="1" kern="100" dirty="0">
                <a:solidFill>
                  <a:schemeClr val="accent2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Object</a:t>
            </a:r>
            <a:r>
              <a:rPr lang="en-AU" sz="2200" kern="100" dirty="0">
                <a:solidFill>
                  <a:schemeClr val="accent2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– the thing that the verb is </a:t>
            </a:r>
            <a:r>
              <a:rPr lang="en-AU" sz="2200" i="1" kern="100" dirty="0">
                <a:solidFill>
                  <a:schemeClr val="accent2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done to.</a:t>
            </a: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200" b="1" kern="100" dirty="0">
                <a:solidFill>
                  <a:srgbClr val="0B76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Prepositional phrase </a:t>
            </a:r>
            <a:r>
              <a:rPr lang="en-AU" sz="2200" kern="100" dirty="0">
                <a:solidFill>
                  <a:srgbClr val="0B76A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– Extra information that describes when, where or how the verb takes place.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2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Fevre </a:t>
            </a:r>
            <a:r>
              <a:rPr lang="en-AU" sz="22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ate </a:t>
            </a:r>
            <a:r>
              <a:rPr lang="en-AU" sz="2200" kern="100" dirty="0">
                <a:solidFill>
                  <a:srgbClr val="C04F15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booger </a:t>
            </a:r>
            <a:r>
              <a:rPr lang="en-AU" sz="2200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380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85AC-5509-9243-4EF1-C8D0E4E6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Nominalisation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92B1-D122-B345-D8A0-734C5F67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sz="30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Nominalisation</a:t>
            </a:r>
            <a:r>
              <a:rPr lang="en-AU" sz="3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– the process of changing the information in the </a:t>
            </a:r>
            <a:r>
              <a:rPr lang="en-AU" sz="30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subject</a:t>
            </a:r>
            <a:r>
              <a:rPr lang="en-AU" sz="3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the sentence.</a:t>
            </a:r>
          </a:p>
          <a:p>
            <a:pPr marL="0" indent="0">
              <a:buNone/>
            </a:pPr>
            <a:endParaRPr lang="en-AU" sz="30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AU" sz="30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There are two ways that we are able to change the information in the subject.</a:t>
            </a:r>
          </a:p>
          <a:p>
            <a:pPr marL="1704975" indent="-742950">
              <a:buAutoNum type="arabicPeriod"/>
            </a:pPr>
            <a:r>
              <a:rPr lang="en-AU" sz="3000" dirty="0"/>
              <a:t>Adding details</a:t>
            </a:r>
          </a:p>
          <a:p>
            <a:pPr marL="1704975" indent="-742950">
              <a:buAutoNum type="arabicPeriod"/>
            </a:pPr>
            <a:r>
              <a:rPr lang="en-AU" sz="3000" dirty="0"/>
              <a:t>Swapping elements</a:t>
            </a:r>
          </a:p>
        </p:txBody>
      </p:sp>
    </p:spTree>
    <p:extLst>
      <p:ext uri="{BB962C8B-B14F-4D97-AF65-F5344CB8AC3E}">
        <p14:creationId xmlns:p14="http://schemas.microsoft.com/office/powerpoint/2010/main" val="1157905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85AC-5509-9243-4EF1-C8D0E4E6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Nominalisation – adding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92B1-D122-B345-D8A0-734C5F67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Consider the first sentence:</a:t>
            </a:r>
          </a:p>
          <a:p>
            <a:pPr marL="0" indent="0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Fevre </a:t>
            </a:r>
            <a:r>
              <a:rPr lang="en-AU" sz="2400" i="1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ate </a:t>
            </a:r>
            <a:r>
              <a:rPr lang="en-AU" sz="2400" i="1" kern="100" dirty="0">
                <a:solidFill>
                  <a:srgbClr val="C04F15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booger </a:t>
            </a:r>
            <a:r>
              <a:rPr lang="en-AU" sz="24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400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AU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 could move the object of the sentence (the booger) to become part of the subject:</a:t>
            </a:r>
          </a:p>
          <a:p>
            <a:pPr marL="0" indent="0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</a:t>
            </a:r>
            <a:r>
              <a:rPr lang="en-AU" sz="2400" i="1" kern="100" dirty="0" err="1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Fevre’s</a:t>
            </a: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booger </a:t>
            </a:r>
            <a:r>
              <a:rPr lang="en-AU" sz="2400" i="1" kern="100" dirty="0">
                <a:solidFill>
                  <a:schemeClr val="accent6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 eaten </a:t>
            </a:r>
            <a:r>
              <a:rPr lang="en-AU" sz="24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400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Notice how the verb needed to be changed to the passive “was eaten”.</a:t>
            </a:r>
            <a:endParaRPr lang="en-AU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6170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85AC-5509-9243-4EF1-C8D0E4E6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Nominalisation – adding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92B1-D122-B345-D8A0-734C5F67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Fevre </a:t>
            </a:r>
            <a:r>
              <a:rPr lang="en-AU" sz="2400" i="1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ate </a:t>
            </a:r>
            <a:r>
              <a:rPr lang="en-AU" sz="2400" i="1" kern="100" dirty="0">
                <a:solidFill>
                  <a:srgbClr val="C04F15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booger </a:t>
            </a:r>
            <a:r>
              <a:rPr lang="en-AU" sz="24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400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AU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 could also move the prepositional phrase to become part of the subject:</a:t>
            </a:r>
          </a:p>
          <a:p>
            <a:pPr marL="0" indent="0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</a:t>
            </a:r>
            <a:r>
              <a:rPr lang="en-AU" sz="2400" i="1" kern="100" dirty="0" err="1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Fevre’s</a:t>
            </a: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pre-breakfast booger…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This leaves us room to say something more interesting about it now:</a:t>
            </a:r>
          </a:p>
          <a:p>
            <a:pPr marL="0" indent="0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</a:t>
            </a:r>
            <a:r>
              <a:rPr lang="en-AU" sz="2400" i="1" kern="100" dirty="0" err="1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Fevre’s</a:t>
            </a: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pre-breakfast booger </a:t>
            </a:r>
            <a:r>
              <a:rPr lang="en-AU" sz="2400" i="1" kern="100" dirty="0">
                <a:solidFill>
                  <a:schemeClr val="accent6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</a:t>
            </a:r>
            <a:r>
              <a:rPr lang="en-AU" sz="2400" i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oddly salty.</a:t>
            </a:r>
            <a:endParaRPr lang="en-AU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326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85AC-5509-9243-4EF1-C8D0E4E6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Nominalisation – changing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92B1-D122-B345-D8A0-734C5F675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664413"/>
            <a:ext cx="8915400" cy="4479533"/>
          </a:xfrm>
        </p:spPr>
        <p:txBody>
          <a:bodyPr anchor="ctr">
            <a:no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6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That first sentence again:</a:t>
            </a:r>
          </a:p>
          <a:p>
            <a:pPr marL="0" indent="0" algn="ctr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6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Fevre </a:t>
            </a:r>
            <a:r>
              <a:rPr lang="en-AU" sz="2600" i="1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ate </a:t>
            </a:r>
            <a:r>
              <a:rPr lang="en-AU" sz="2600" i="1" kern="100" dirty="0">
                <a:solidFill>
                  <a:srgbClr val="C04F15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booger </a:t>
            </a:r>
            <a:r>
              <a:rPr lang="en-AU" sz="26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600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endParaRPr lang="en-AU" sz="2600" kern="100" dirty="0">
              <a:solidFill>
                <a:srgbClr val="0070C0"/>
              </a:solidFill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26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sentence has four pieces of content:</a:t>
            </a:r>
          </a:p>
          <a:p>
            <a:pPr marL="719138">
              <a:spcBef>
                <a:spcPts val="0"/>
              </a:spcBef>
              <a:spcAft>
                <a:spcPts val="600"/>
              </a:spcAft>
            </a:pPr>
            <a:r>
              <a:rPr lang="en-AU" sz="26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Who</a:t>
            </a:r>
            <a:r>
              <a:rPr lang="en-AU" sz="26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(Mr le Fevre)</a:t>
            </a:r>
          </a:p>
          <a:p>
            <a:pPr marL="719138">
              <a:spcBef>
                <a:spcPts val="0"/>
              </a:spcBef>
              <a:spcAft>
                <a:spcPts val="600"/>
              </a:spcAft>
            </a:pPr>
            <a:r>
              <a:rPr lang="en-AU" sz="2600" kern="100" dirty="0">
                <a:solidFill>
                  <a:schemeClr val="accent6">
                    <a:lumMod val="7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What</a:t>
            </a:r>
            <a:r>
              <a:rPr lang="en-AU" sz="26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(Eating)</a:t>
            </a:r>
          </a:p>
          <a:p>
            <a:pPr marL="719138">
              <a:spcBef>
                <a:spcPts val="0"/>
              </a:spcBef>
              <a:spcAft>
                <a:spcPts val="600"/>
              </a:spcAft>
            </a:pPr>
            <a:r>
              <a:rPr lang="en-AU" sz="2600" kern="100" dirty="0">
                <a:solidFill>
                  <a:schemeClr val="accent2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whom </a:t>
            </a:r>
            <a:r>
              <a:rPr lang="en-AU" sz="26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(The booger)</a:t>
            </a:r>
          </a:p>
          <a:p>
            <a:pPr marL="719138">
              <a:spcBef>
                <a:spcPts val="0"/>
              </a:spcBef>
              <a:spcAft>
                <a:spcPts val="600"/>
              </a:spcAft>
            </a:pPr>
            <a:r>
              <a:rPr lang="en-AU" sz="2600" kern="100" dirty="0">
                <a:solidFill>
                  <a:srgbClr val="0070C0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When</a:t>
            </a:r>
            <a:r>
              <a:rPr lang="en-AU" sz="26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(Before breakfast)</a:t>
            </a:r>
          </a:p>
          <a:p>
            <a:pPr marL="92075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26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Each one of these elements could become the subject of the sentence.</a:t>
            </a:r>
          </a:p>
        </p:txBody>
      </p:sp>
    </p:spTree>
    <p:extLst>
      <p:ext uri="{BB962C8B-B14F-4D97-AF65-F5344CB8AC3E}">
        <p14:creationId xmlns:p14="http://schemas.microsoft.com/office/powerpoint/2010/main" val="3375382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D85AC-5509-9243-4EF1-C8D0E4E6F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Nominalisation – changing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A92B1-D122-B345-D8A0-734C5F675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92500"/>
          </a:bodyPr>
          <a:lstStyle/>
          <a:p>
            <a:pPr marL="92075" indent="0">
              <a:spcBef>
                <a:spcPts val="0"/>
              </a:spcBef>
              <a:spcAft>
                <a:spcPts val="2400"/>
              </a:spcAft>
              <a:buNone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 started with the who (</a:t>
            </a: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Mr le Fevre </a:t>
            </a:r>
            <a:r>
              <a:rPr lang="en-AU" sz="2400" i="1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ate </a:t>
            </a:r>
            <a:r>
              <a:rPr lang="en-AU" sz="2400" i="1" kern="100" dirty="0">
                <a:solidFill>
                  <a:srgbClr val="C04F15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booger </a:t>
            </a:r>
            <a:r>
              <a:rPr lang="en-AU" sz="24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400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</a:t>
            </a:r>
          </a:p>
          <a:p>
            <a:pPr marL="92075" indent="0">
              <a:spcBef>
                <a:spcPts val="0"/>
              </a:spcBef>
              <a:spcAft>
                <a:spcPts val="2400"/>
              </a:spcAft>
              <a:buNone/>
            </a:pPr>
            <a:r>
              <a:rPr lang="en-AU" sz="24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But what about some of the other options?</a:t>
            </a:r>
          </a:p>
          <a:p>
            <a:pPr marL="2157413" indent="-1622425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What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	</a:t>
            </a: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eating of the booger by Mr le Fevre </a:t>
            </a:r>
            <a:r>
              <a:rPr lang="en-AU" sz="2400" i="1" kern="100" dirty="0">
                <a:solidFill>
                  <a:schemeClr val="accent6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occurred</a:t>
            </a:r>
            <a:r>
              <a:rPr lang="en-AU" sz="2400" i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AU" sz="24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400" i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2157413" indent="-1622425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 Whom: 	</a:t>
            </a:r>
            <a:r>
              <a:rPr lang="en-AU" sz="2400" i="1" kern="100" dirty="0">
                <a:solidFill>
                  <a:srgbClr val="C00000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booger </a:t>
            </a:r>
            <a:r>
              <a:rPr lang="en-AU" sz="2400" i="1" kern="100" dirty="0">
                <a:solidFill>
                  <a:schemeClr val="accent6">
                    <a:lumMod val="7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 eaten </a:t>
            </a:r>
            <a:r>
              <a:rPr lang="en-AU" sz="2400" i="1" kern="100" dirty="0">
                <a:solidFill>
                  <a:schemeClr val="accent2">
                    <a:lumMod val="75000"/>
                  </a:schemeClr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by Mr le Fevre </a:t>
            </a:r>
            <a:r>
              <a:rPr lang="en-AU" sz="2400" i="1" kern="100" dirty="0">
                <a:solidFill>
                  <a:srgbClr val="0070C0"/>
                </a:solidFill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before breakfast</a:t>
            </a:r>
            <a:r>
              <a:rPr lang="en-AU" sz="2400" i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</a:p>
          <a:p>
            <a:pPr marL="2157413" indent="-1622425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When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: 	</a:t>
            </a:r>
            <a:r>
              <a:rPr lang="en-AU" sz="2400" i="1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Breakfast</a:t>
            </a:r>
            <a:r>
              <a:rPr lang="en-AU" sz="2400" i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AU" sz="2400" i="1" kern="100" dirty="0">
                <a:solidFill>
                  <a:schemeClr val="accent6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was preceded </a:t>
            </a:r>
            <a:r>
              <a:rPr lang="en-AU" sz="2400" i="1" kern="100" dirty="0">
                <a:solidFill>
                  <a:schemeClr val="accent2">
                    <a:lumMod val="75000"/>
                  </a:schemeClr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by Mr le Fevre </a:t>
            </a:r>
            <a:r>
              <a:rPr lang="en-AU" sz="2400" i="1" kern="100" dirty="0">
                <a:solidFill>
                  <a:srgbClr val="0070C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eating a booger.</a:t>
            </a:r>
          </a:p>
        </p:txBody>
      </p:sp>
    </p:spTree>
    <p:extLst>
      <p:ext uri="{BB962C8B-B14F-4D97-AF65-F5344CB8AC3E}">
        <p14:creationId xmlns:p14="http://schemas.microsoft.com/office/powerpoint/2010/main" val="2842831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F0A7B-990A-82F3-4AC4-4176B033F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Nominalisation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3DDB3-DD6A-E86D-1273-F758D1B7D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AU" sz="2600" dirty="0"/>
              <a:t>What have we learnt?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sz="2600" b="1" dirty="0"/>
              <a:t>Nominalisation</a:t>
            </a:r>
            <a:r>
              <a:rPr lang="en-AU" sz="2600" dirty="0"/>
              <a:t> means changing the </a:t>
            </a:r>
            <a:r>
              <a:rPr lang="en-AU" sz="2600" dirty="0">
                <a:solidFill>
                  <a:srgbClr val="C00000"/>
                </a:solidFill>
              </a:rPr>
              <a:t>subject</a:t>
            </a:r>
            <a:r>
              <a:rPr lang="en-AU" sz="2600" dirty="0"/>
              <a:t> of the sentence.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sz="2600" dirty="0"/>
              <a:t>We can nominalise a sentence by adding detail to the </a:t>
            </a:r>
            <a:r>
              <a:rPr lang="en-AU" sz="2600" dirty="0">
                <a:solidFill>
                  <a:srgbClr val="C00000"/>
                </a:solidFill>
              </a:rPr>
              <a:t>subject</a:t>
            </a:r>
            <a:r>
              <a:rPr lang="en-AU" sz="2600" dirty="0"/>
              <a:t>, or by changing the information that the </a:t>
            </a:r>
            <a:r>
              <a:rPr lang="en-AU" sz="2600" dirty="0">
                <a:solidFill>
                  <a:srgbClr val="C00000"/>
                </a:solidFill>
              </a:rPr>
              <a:t>subject</a:t>
            </a:r>
            <a:r>
              <a:rPr lang="en-AU" sz="2600" dirty="0"/>
              <a:t> refers to.</a:t>
            </a:r>
          </a:p>
        </p:txBody>
      </p:sp>
    </p:spTree>
    <p:extLst>
      <p:ext uri="{BB962C8B-B14F-4D97-AF65-F5344CB8AC3E}">
        <p14:creationId xmlns:p14="http://schemas.microsoft.com/office/powerpoint/2010/main" val="14027812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F861F-488B-E16E-0869-DC04B8F71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3539B6-2639-D158-33C2-A3621EB54F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3605" y="2133600"/>
            <a:ext cx="9462498" cy="4100290"/>
          </a:xfrm>
        </p:spPr>
        <p:txBody>
          <a:bodyPr>
            <a:noAutofit/>
          </a:bodyPr>
          <a:lstStyle/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4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Topic sentence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– the first sentence in an essay paragraph. </a:t>
            </a:r>
          </a:p>
          <a:p>
            <a:pPr marL="0" indent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topic sentence should be a short, clear sentence. It should clearly state the idea that will be discussed in the rest of the paragraph.</a:t>
            </a:r>
          </a:p>
          <a:p>
            <a:pPr marL="0" indent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</a:t>
            </a:r>
            <a:r>
              <a:rPr lang="en-AU" sz="2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subject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in a topic sentence can be:</a:t>
            </a:r>
          </a:p>
          <a:p>
            <a:pPr marL="801688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 idea 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(refugees in Australia, hope, family)</a:t>
            </a:r>
          </a:p>
          <a:p>
            <a:pPr marL="801688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 character</a:t>
            </a:r>
          </a:p>
          <a:p>
            <a:pPr marL="801688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AU" sz="2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book 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(either the title, the author or a chapter)</a:t>
            </a:r>
            <a:endParaRPr lang="en-AU" sz="2400" dirty="0"/>
          </a:p>
        </p:txBody>
      </p:sp>
    </p:spTree>
    <p:extLst>
      <p:ext uri="{BB962C8B-B14F-4D97-AF65-F5344CB8AC3E}">
        <p14:creationId xmlns:p14="http://schemas.microsoft.com/office/powerpoint/2010/main" val="1262085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480AC-A5CE-8791-A58D-9F8346812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81E48-FE0A-3A19-C567-2C852C710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4328890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2200" b="1" dirty="0"/>
              <a:t>The </a:t>
            </a:r>
            <a:r>
              <a:rPr lang="en-AU" sz="2200" b="1" dirty="0">
                <a:solidFill>
                  <a:srgbClr val="C00000"/>
                </a:solidFill>
              </a:rPr>
              <a:t>subject</a:t>
            </a:r>
            <a:r>
              <a:rPr lang="en-AU" sz="2200" b="1" dirty="0"/>
              <a:t> refers to the </a:t>
            </a:r>
            <a:r>
              <a:rPr lang="en-AU" sz="2200" b="1" dirty="0">
                <a:solidFill>
                  <a:srgbClr val="C00000"/>
                </a:solidFill>
              </a:rPr>
              <a:t>text</a:t>
            </a:r>
            <a:r>
              <a:rPr lang="en-AU" sz="2200" b="1" dirty="0"/>
              <a:t>:</a:t>
            </a:r>
          </a:p>
          <a:p>
            <a:pPr marL="534988" indent="0">
              <a:lnSpc>
                <a:spcPct val="115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2200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The beginning chapters of</a:t>
            </a:r>
            <a:r>
              <a:rPr lang="en-AU" sz="2200" i="1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The Bone Sparrow</a:t>
            </a:r>
            <a:r>
              <a:rPr lang="en-AU" sz="2200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AU" sz="2200" kern="100" dirty="0">
                <a:solidFill>
                  <a:srgbClr val="3B7D23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illustrate </a:t>
            </a:r>
            <a:r>
              <a:rPr lang="en-AU" sz="22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the living conditions of those in Australia’s refugee detention centres.</a:t>
            </a:r>
          </a:p>
          <a:p>
            <a:pPr marL="534988" indent="0">
              <a:lnSpc>
                <a:spcPct val="115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2200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Zana </a:t>
            </a:r>
            <a:r>
              <a:rPr lang="en-AU" sz="2200" kern="100" dirty="0" err="1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Fraillon</a:t>
            </a:r>
            <a:r>
              <a:rPr lang="en-AU" sz="2200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AU" sz="2200" kern="100" dirty="0">
                <a:solidFill>
                  <a:srgbClr val="3B7D23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highlights </a:t>
            </a:r>
            <a:r>
              <a:rPr lang="en-AU" sz="22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the importance of imagination </a:t>
            </a:r>
          </a:p>
          <a:p>
            <a:pPr marL="534988" indent="0">
              <a:lnSpc>
                <a:spcPct val="115000"/>
              </a:lnSpc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2200" i="1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The Bone Sparrow</a:t>
            </a:r>
            <a:r>
              <a:rPr lang="en-AU" sz="2200" kern="1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AU" sz="2200" kern="100" dirty="0">
                <a:solidFill>
                  <a:srgbClr val="3B7D23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explores </a:t>
            </a:r>
            <a:r>
              <a:rPr lang="en-AU" sz="22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loneliness and hope through the journeys of Subhi, Eli and Jimmie.</a:t>
            </a:r>
          </a:p>
          <a:p>
            <a:pPr marL="534988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2200" dirty="0">
                <a:solidFill>
                  <a:srgbClr val="C00000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The novel </a:t>
            </a:r>
            <a:r>
              <a:rPr lang="en-AU" sz="2200" dirty="0">
                <a:solidFill>
                  <a:srgbClr val="3B7D23"/>
                </a:solidFill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is written </a:t>
            </a:r>
            <a:r>
              <a:rPr lang="en-AU" sz="22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using descriptive language to demonstrate Subhi’s imagination. </a:t>
            </a:r>
            <a:endParaRPr lang="en-AU" sz="2200" dirty="0"/>
          </a:p>
        </p:txBody>
      </p:sp>
    </p:spTree>
    <p:extLst>
      <p:ext uri="{BB962C8B-B14F-4D97-AF65-F5344CB8AC3E}">
        <p14:creationId xmlns:p14="http://schemas.microsoft.com/office/powerpoint/2010/main" val="27621797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480AC-A5CE-8791-A58D-9F8346812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81E48-FE0A-3A19-C567-2C852C710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905000"/>
            <a:ext cx="8915400" cy="4328890"/>
          </a:xfrm>
        </p:spPr>
        <p:txBody>
          <a:bodyPr>
            <a:noAutofit/>
          </a:bodyPr>
          <a:lstStyle/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2200" b="1" dirty="0"/>
              <a:t>The </a:t>
            </a:r>
            <a:r>
              <a:rPr lang="en-AU" sz="2200" b="1" dirty="0">
                <a:solidFill>
                  <a:srgbClr val="C00000"/>
                </a:solidFill>
              </a:rPr>
              <a:t>subject</a:t>
            </a:r>
            <a:r>
              <a:rPr lang="en-AU" sz="2200" b="1" dirty="0"/>
              <a:t> refers to the </a:t>
            </a:r>
            <a:r>
              <a:rPr lang="en-AU" sz="2200" b="1" dirty="0">
                <a:solidFill>
                  <a:srgbClr val="C00000"/>
                </a:solidFill>
              </a:rPr>
              <a:t>character</a:t>
            </a:r>
            <a:r>
              <a:rPr lang="en-AU" sz="2200" b="1" dirty="0"/>
              <a:t>:</a:t>
            </a:r>
          </a:p>
          <a:p>
            <a:pPr marL="534988" indent="0">
              <a:lnSpc>
                <a:spcPct val="115000"/>
              </a:lnSpc>
              <a:spcAft>
                <a:spcPts val="900"/>
              </a:spcAft>
              <a:buNone/>
            </a:pPr>
            <a:r>
              <a:rPr lang="en-AU" sz="22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Eli </a:t>
            </a:r>
            <a:r>
              <a:rPr lang="en-AU" sz="22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represents </a:t>
            </a:r>
            <a:r>
              <a:rPr lang="en-AU" sz="22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those children in detention who are not given access to basic human rights.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534988" indent="0">
              <a:lnSpc>
                <a:spcPct val="115000"/>
              </a:lnSpc>
              <a:spcAft>
                <a:spcPts val="900"/>
              </a:spcAft>
              <a:buNone/>
            </a:pPr>
            <a:r>
              <a:rPr lang="en-AU" sz="22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Jimmie’s story </a:t>
            </a:r>
            <a:r>
              <a:rPr lang="en-AU" sz="22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allows </a:t>
            </a:r>
            <a:r>
              <a:rPr lang="en-AU" sz="22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her to understand her family history.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534988" indent="0">
              <a:lnSpc>
                <a:spcPct val="115000"/>
              </a:lnSpc>
              <a:spcAft>
                <a:spcPts val="900"/>
              </a:spcAft>
              <a:buNone/>
            </a:pPr>
            <a:r>
              <a:rPr lang="en-AU" sz="22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Beaver </a:t>
            </a:r>
            <a:r>
              <a:rPr lang="en-AU" sz="22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symbolises </a:t>
            </a:r>
            <a:r>
              <a:rPr lang="en-AU" sz="2200" kern="1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those in Australia who believe that families like Subhi’s don’t deserve Asylum.</a:t>
            </a:r>
            <a:endParaRPr lang="en-AU" sz="2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534988" indent="0">
              <a:buNone/>
            </a:pPr>
            <a:r>
              <a:rPr lang="en-AU" sz="22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Subhi </a:t>
            </a:r>
            <a:r>
              <a:rPr lang="en-AU" sz="22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is portrayed </a:t>
            </a:r>
            <a:r>
              <a:rPr lang="en-AU" sz="2200" dirty="0">
                <a:solidFill>
                  <a:srgbClr val="0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dreaming of a magical night sea, where creates and objects wash ashore, even though the camp is in the desert.</a:t>
            </a:r>
            <a:endParaRPr lang="en-AU" sz="2200" dirty="0"/>
          </a:p>
        </p:txBody>
      </p:sp>
    </p:spTree>
    <p:extLst>
      <p:ext uri="{BB962C8B-B14F-4D97-AF65-F5344CB8AC3E}">
        <p14:creationId xmlns:p14="http://schemas.microsoft.com/office/powerpoint/2010/main" val="3050063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480AC-A5CE-8791-A58D-9F8346812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Topic sentences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81E48-FE0A-3A19-C567-2C852C710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600"/>
              </a:spcBef>
              <a:spcAft>
                <a:spcPts val="1200"/>
              </a:spcAft>
              <a:buNone/>
            </a:pPr>
            <a:r>
              <a:rPr lang="en-AU" sz="3200" b="1" dirty="0"/>
              <a:t>The </a:t>
            </a:r>
            <a:r>
              <a:rPr lang="en-AU" sz="3200" b="1" dirty="0">
                <a:solidFill>
                  <a:srgbClr val="C00000"/>
                </a:solidFill>
              </a:rPr>
              <a:t>subject</a:t>
            </a:r>
            <a:r>
              <a:rPr lang="en-AU" sz="3200" b="1" dirty="0"/>
              <a:t> refers to the </a:t>
            </a:r>
            <a:r>
              <a:rPr lang="en-AU" sz="3200" b="1" dirty="0">
                <a:solidFill>
                  <a:srgbClr val="C00000"/>
                </a:solidFill>
              </a:rPr>
              <a:t>idea (a theme)</a:t>
            </a:r>
            <a:r>
              <a:rPr lang="en-AU" sz="3200" b="1" dirty="0"/>
              <a:t>:</a:t>
            </a:r>
          </a:p>
          <a:p>
            <a:pPr marL="627063" indent="0">
              <a:lnSpc>
                <a:spcPct val="115000"/>
              </a:lnSpc>
              <a:spcAft>
                <a:spcPts val="900"/>
              </a:spcAft>
              <a:buNone/>
            </a:pPr>
            <a:r>
              <a:rPr lang="en-AU" sz="2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Loneliness and hope </a:t>
            </a:r>
            <a:r>
              <a:rPr lang="en-AU" sz="24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are depicted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AU" sz="24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through 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journeys of Subhi, Eli and Jimmie.</a:t>
            </a:r>
          </a:p>
          <a:p>
            <a:pPr marL="627063" indent="0">
              <a:lnSpc>
                <a:spcPct val="115000"/>
              </a:lnSpc>
              <a:spcAft>
                <a:spcPts val="900"/>
              </a:spcAft>
              <a:buNone/>
            </a:pPr>
            <a:r>
              <a:rPr lang="en-AU" sz="2400" kern="1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poor living conditions in the centre </a:t>
            </a:r>
            <a:r>
              <a:rPr lang="en-AU" sz="2400" kern="1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are worsened by </a:t>
            </a:r>
            <a:r>
              <a:rPr lang="en-AU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food shortage that Subhi describes.</a:t>
            </a:r>
          </a:p>
          <a:p>
            <a:pPr marL="627063" indent="0">
              <a:buNone/>
            </a:pPr>
            <a:r>
              <a:rPr lang="en-AU" sz="2400" dirty="0">
                <a:solidFill>
                  <a:srgbClr val="C00000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sense of imprisonment </a:t>
            </a:r>
            <a:r>
              <a:rPr lang="en-AU" sz="2400" dirty="0">
                <a:solidFill>
                  <a:srgbClr val="3B7D23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is reinforced by </a:t>
            </a:r>
            <a:r>
              <a:rPr lang="en-AU" sz="24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symbolism of fences, cages and trapped animals.</a:t>
            </a: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2268354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903BD7-EEEE-C485-20B9-227249D2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task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C0C70D-4A24-4368-6BD3-DE709D579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Writing topic sentences</a:t>
            </a:r>
          </a:p>
        </p:txBody>
      </p:sp>
    </p:spTree>
    <p:extLst>
      <p:ext uri="{BB962C8B-B14F-4D97-AF65-F5344CB8AC3E}">
        <p14:creationId xmlns:p14="http://schemas.microsoft.com/office/powerpoint/2010/main" val="40653945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956F1-BF5A-B0A3-726C-F195E3FA6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E73BB-853A-CC55-2029-43EE202BE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endParaRPr lang="en-AU" sz="2200" dirty="0"/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AU" sz="2200" dirty="0"/>
              <a:t>Look at your first claim.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AU" sz="2200" dirty="0"/>
              <a:t>Write </a:t>
            </a:r>
            <a:r>
              <a:rPr lang="en-AU" sz="2200" b="1" dirty="0"/>
              <a:t>three</a:t>
            </a:r>
            <a:r>
              <a:rPr lang="en-AU" sz="2200" dirty="0"/>
              <a:t> different topic sentences about your first idea.</a:t>
            </a:r>
          </a:p>
          <a:p>
            <a:pPr marL="1407795" indent="-51435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AU" sz="2200" dirty="0"/>
              <a:t>The </a:t>
            </a:r>
            <a:r>
              <a:rPr lang="en-AU" sz="2200" dirty="0">
                <a:solidFill>
                  <a:srgbClr val="C00000"/>
                </a:solidFill>
              </a:rPr>
              <a:t>subject</a:t>
            </a:r>
            <a:r>
              <a:rPr lang="en-AU" sz="2200" dirty="0"/>
              <a:t> is a character</a:t>
            </a:r>
          </a:p>
          <a:p>
            <a:pPr marL="1407795" indent="-514350">
              <a:spcBef>
                <a:spcPts val="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AU" sz="2200" dirty="0"/>
              <a:t>The </a:t>
            </a:r>
            <a:r>
              <a:rPr lang="en-AU" sz="2200" dirty="0">
                <a:solidFill>
                  <a:srgbClr val="C00000"/>
                </a:solidFill>
              </a:rPr>
              <a:t>subject</a:t>
            </a:r>
            <a:r>
              <a:rPr lang="en-AU" sz="2200" dirty="0"/>
              <a:t> is the text</a:t>
            </a:r>
          </a:p>
          <a:p>
            <a:pPr marL="1407795" indent="-51435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AU" sz="2200" dirty="0"/>
              <a:t>The </a:t>
            </a:r>
            <a:r>
              <a:rPr lang="en-AU" sz="2200" dirty="0">
                <a:solidFill>
                  <a:srgbClr val="C00000"/>
                </a:solidFill>
              </a:rPr>
              <a:t>subject</a:t>
            </a:r>
            <a:r>
              <a:rPr lang="en-AU" sz="2200" dirty="0"/>
              <a:t> is the idea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AU" i="1" dirty="0"/>
              <a:t>Remember that a topic sentence should be a short, clear sentence that clearly states the main idea that will be discussed in the paragraph.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4090641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539b02d923bb555703caf23504a7cb02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e414e06b879c708180ee4e9731c4d399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9CB5BD4-EBF0-4789-9198-2BD2CD1CF1B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846ff6-a39a-4f56-aca6-b2ea1af70d2e"/>
    <ds:schemaRef ds:uri="a8299878-b215-4b71-83d0-6b3d83d7e5d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2F28B98-65DC-4D32-BD77-FF97B91CA5D0}">
  <ds:schemaRefs>
    <ds:schemaRef ds:uri="http://schemas.microsoft.com/office/2006/metadata/properties"/>
    <ds:schemaRef ds:uri="http://schemas.microsoft.com/office/infopath/2007/PartnerControls"/>
    <ds:schemaRef ds:uri="46846ff6-a39a-4f56-aca6-b2ea1af70d2e"/>
    <ds:schemaRef ds:uri="a8299878-b215-4b71-83d0-6b3d83d7e5d9"/>
  </ds:schemaRefs>
</ds:datastoreItem>
</file>

<file path=customXml/itemProps3.xml><?xml version="1.0" encoding="utf-8"?>
<ds:datastoreItem xmlns:ds="http://schemas.openxmlformats.org/officeDocument/2006/customXml" ds:itemID="{525586B2-8E25-4D1C-A672-93DE47DEE3C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152</TotalTime>
  <Words>823</Words>
  <Application>Microsoft Office PowerPoint</Application>
  <PresentationFormat>Widescreen</PresentationFormat>
  <Paragraphs>87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Wisp</vt:lpstr>
      <vt:lpstr>Writing topic sentences</vt:lpstr>
      <vt:lpstr>Learning outcomes</vt:lpstr>
      <vt:lpstr>Parts of a sentence - recap</vt:lpstr>
      <vt:lpstr>Nominalisation</vt:lpstr>
      <vt:lpstr>Nominalisation – adding details</vt:lpstr>
      <vt:lpstr>Nominalisation – adding details</vt:lpstr>
      <vt:lpstr>Nominalisation – changing elements</vt:lpstr>
      <vt:lpstr>Nominalisation – changing elements</vt:lpstr>
      <vt:lpstr>Nominalisation</vt:lpstr>
      <vt:lpstr>Topic sentences</vt:lpstr>
      <vt:lpstr>Topic sentences</vt:lpstr>
      <vt:lpstr>Topic sentences</vt:lpstr>
      <vt:lpstr>Topic sentences</vt:lpstr>
      <vt:lpstr>Your task</vt:lpstr>
      <vt:lpstr>Your 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Lincoln LE FEVRE</dc:creator>
  <cp:lastModifiedBy>Lincoln LE FEVRE</cp:lastModifiedBy>
  <cp:revision>6</cp:revision>
  <dcterms:created xsi:type="dcterms:W3CDTF">2024-10-23T23:20:41Z</dcterms:created>
  <dcterms:modified xsi:type="dcterms:W3CDTF">2025-10-10T00:49:41Z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  <property fmtid="{D5CDD505-2E9C-101B-9397-08002B2CF9AE}" pid="3" name="MediaServiceImageTags">
    <vt:lpwstr/>
  </property>
</Properties>
</file>