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60" r:id="rId8"/>
    <p:sldId id="259" r:id="rId9"/>
    <p:sldId id="261" r:id="rId10"/>
    <p:sldId id="262" r:id="rId11"/>
    <p:sldId id="263" r:id="rId12"/>
    <p:sldId id="265" r:id="rId13"/>
    <p:sldId id="264" r:id="rId14"/>
    <p:sldId id="266" r:id="rId15"/>
    <p:sldId id="267" r:id="rId16"/>
    <p:sldId id="268" r:id="rId17"/>
    <p:sldId id="273" r:id="rId18"/>
    <p:sldId id="274" r:id="rId19"/>
    <p:sldId id="275" r:id="rId20"/>
    <p:sldId id="269" r:id="rId21"/>
    <p:sldId id="270" r:id="rId22"/>
    <p:sldId id="276" r:id="rId23"/>
    <p:sldId id="271" r:id="rId24"/>
    <p:sldId id="277" r:id="rId25"/>
    <p:sldId id="279" r:id="rId26"/>
    <p:sldId id="272" r:id="rId27"/>
    <p:sldId id="280" r:id="rId28"/>
    <p:sldId id="281" r:id="rId29"/>
    <p:sldId id="282" r:id="rId30"/>
    <p:sldId id="284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57F"/>
    <a:srgbClr val="FCE5B2"/>
    <a:srgbClr val="A6CB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68" autoAdjust="0"/>
    <p:restoredTop sz="94660"/>
  </p:normalViewPr>
  <p:slideViewPr>
    <p:cSldViewPr snapToGrid="0">
      <p:cViewPr varScale="1">
        <p:scale>
          <a:sx n="93" d="100"/>
          <a:sy n="93" d="100"/>
        </p:scale>
        <p:origin x="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acher" userId="Teacher" providerId="ADAL" clId="{221A0C9A-F5CC-4CB4-9F87-C43DF9281697}"/>
    <pc:docChg chg="modSld">
      <pc:chgData name="Teacher" userId="Teacher" providerId="ADAL" clId="{221A0C9A-F5CC-4CB4-9F87-C43DF9281697}" dt="2025-10-17T01:46:50.029" v="15" actId="20577"/>
      <pc:docMkLst>
        <pc:docMk/>
      </pc:docMkLst>
      <pc:sldChg chg="modSp mod">
        <pc:chgData name="Teacher" userId="Teacher" providerId="ADAL" clId="{221A0C9A-F5CC-4CB4-9F87-C43DF9281697}" dt="2025-10-16T03:51:18.036" v="9" actId="20577"/>
        <pc:sldMkLst>
          <pc:docMk/>
          <pc:sldMk cId="310807459" sldId="259"/>
        </pc:sldMkLst>
        <pc:spChg chg="mod">
          <ac:chgData name="Teacher" userId="Teacher" providerId="ADAL" clId="{221A0C9A-F5CC-4CB4-9F87-C43DF9281697}" dt="2025-10-16T03:51:18.036" v="9" actId="20577"/>
          <ac:spMkLst>
            <pc:docMk/>
            <pc:sldMk cId="310807459" sldId="259"/>
            <ac:spMk id="2" creationId="{68D95665-321C-4A52-9879-67866434C84C}"/>
          </ac:spMkLst>
        </pc:spChg>
      </pc:sldChg>
      <pc:sldChg chg="modSp mod">
        <pc:chgData name="Teacher" userId="Teacher" providerId="ADAL" clId="{221A0C9A-F5CC-4CB4-9F87-C43DF9281697}" dt="2025-10-17T01:46:50.029" v="15" actId="20577"/>
        <pc:sldMkLst>
          <pc:docMk/>
          <pc:sldMk cId="3596281404" sldId="284"/>
        </pc:sldMkLst>
        <pc:spChg chg="mod">
          <ac:chgData name="Teacher" userId="Teacher" providerId="ADAL" clId="{221A0C9A-F5CC-4CB4-9F87-C43DF9281697}" dt="2025-10-17T01:46:50.029" v="15" actId="20577"/>
          <ac:spMkLst>
            <pc:docMk/>
            <pc:sldMk cId="3596281404" sldId="284"/>
            <ac:spMk id="3" creationId="{A78CAA2F-5EEE-50F9-AA92-3F1A243D52D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653C1-336B-AEA3-6C22-167B3A7445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985371-6CB8-3E87-83FC-73A18AD6BE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3101E9-052C-82C2-C82E-4023F39F9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F4C92-6140-434F-BD39-663E27A05AC3}" type="datetimeFigureOut">
              <a:rPr lang="en-AU" smtClean="0"/>
              <a:t>17/10/2025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99679-187E-5EED-3AA1-23E7CD177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68AF7-7097-6C5E-50AF-1D0CEE6C9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FA016-AB32-48FE-B322-EBBED885AA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1727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12D6F-1F11-74D5-FC68-FB27B1AFB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13EB5-97EF-8FB5-4604-72E9F5FF87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A7499C-DDB5-3E71-08D7-8A49A7C46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F4C92-6140-434F-BD39-663E27A05AC3}" type="datetimeFigureOut">
              <a:rPr lang="en-AU" smtClean="0"/>
              <a:t>17/10/2025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9BB882-67F0-E96D-E651-F2375AA25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90DF1D-E119-E1DA-B89B-B0BCF1DC4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FA016-AB32-48FE-B322-EBBED885AA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62742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66210-752A-40AC-22BA-F25DD874D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94B993-211F-E93B-5BF6-1D5E819393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20E161-8F0D-8FFC-FC6F-55D58B6E8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F4C92-6140-434F-BD39-663E27A05AC3}" type="datetimeFigureOut">
              <a:rPr lang="en-AU" smtClean="0"/>
              <a:t>17/10/2025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029C1-64DB-1683-3F9D-D914DBB80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7241D-6408-5F8D-9D47-3E582BD91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FA016-AB32-48FE-B322-EBBED885AA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376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0014C-EF28-D0F7-525E-5FDB204C2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F6FB7-C7F1-27D4-800C-9CA0ACFD04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2D6BFA-162B-95EE-C948-7230AE5925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B57E42-3B0B-71AA-9077-261D86E4C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F4C92-6140-434F-BD39-663E27A05AC3}" type="datetimeFigureOut">
              <a:rPr lang="en-AU" smtClean="0"/>
              <a:t>17/10/2025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A27A6F-EB4F-1174-1DFA-D43455773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A9F733-E158-DCC5-DE53-CF533F43B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FA016-AB32-48FE-B322-EBBED885AA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598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80C5A-22B4-C2D7-0963-3972CCC4F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687A2E-8ED2-9A96-26F7-E174D8DFA8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DD22CD-614F-FE67-2AEB-AE7E60B4B8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7A6E6A-155C-4CC3-9415-6AB1BDBC22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420CB9-98C7-448B-2A2B-D99B07662A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CB3737-58A1-8B52-3781-B19876A2D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F4C92-6140-434F-BD39-663E27A05AC3}" type="datetimeFigureOut">
              <a:rPr lang="en-AU" smtClean="0"/>
              <a:t>17/10/2025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2048D4-4057-6D93-4A11-C7C0721E3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B4A8BE-DF18-6E8D-A934-126C7FC56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FA016-AB32-48FE-B322-EBBED885AA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8488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8977C-07B3-3C91-4509-F4B82AF70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523A5D-4AF7-FF26-F2D8-75FD979D8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F4C92-6140-434F-BD39-663E27A05AC3}" type="datetimeFigureOut">
              <a:rPr lang="en-AU" smtClean="0"/>
              <a:t>17/10/2025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A72195-5285-0EF4-3159-2F94A4F7E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51D8E9-091E-7817-E4FE-D7417AAFB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FA016-AB32-48FE-B322-EBBED885AA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7294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BAAA1B-80B4-6437-EE18-B4177F46A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F4C92-6140-434F-BD39-663E27A05AC3}" type="datetimeFigureOut">
              <a:rPr lang="en-AU" smtClean="0"/>
              <a:t>17/10/2025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48B219-718F-2BC9-6C1B-FB2A42AC0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B8B325-EA2F-E377-D086-02FD73550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FA016-AB32-48FE-B322-EBBED885AA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696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DB5D0-D9FE-1238-C42B-8B4B4A51D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0BD19-AA30-D924-05B1-78F972314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ADA8E2-39B7-8FA2-7477-6ED8944F07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3A2931-F007-7A90-4C03-6DFEBE22E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F4C92-6140-434F-BD39-663E27A05AC3}" type="datetimeFigureOut">
              <a:rPr lang="en-AU" smtClean="0"/>
              <a:t>17/10/2025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401A4D-54D8-AE61-7E62-177EA239A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27F1A3-0A0C-8CD3-6288-9F9A02BD8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FA016-AB32-48FE-B322-EBBED885AA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78755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8F213-A43C-2187-C39B-19BE72EAE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A528C0-97AA-BECB-352F-2A96DCCDB9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94964F-62E7-22D4-1694-756C7A96FB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9B153A-E0DA-2AC4-58A5-FD5DCE294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F4C92-6140-434F-BD39-663E27A05AC3}" type="datetimeFigureOut">
              <a:rPr lang="en-AU" smtClean="0"/>
              <a:t>17/10/2025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1E0A6A-CD50-23BE-120E-8A4E921E1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1E2563-FEA7-0E7E-7C54-EA4DE0A18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FA016-AB32-48FE-B322-EBBED885AA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4927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CD9DA-3DFA-59ED-EFDA-0BC6B2D9E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1D24BF-C51B-64D5-5134-8B0BB770EF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D1C4D4-11B9-206E-4A17-2EF91B25A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F4C92-6140-434F-BD39-663E27A05AC3}" type="datetimeFigureOut">
              <a:rPr lang="en-AU" smtClean="0"/>
              <a:t>17/10/2025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50CF07-5B97-618D-E355-439B6DD6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8B005-9A38-5C36-4FDA-8D3A893A0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FA016-AB32-48FE-B322-EBBED885AA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9338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B7371E-FDE0-B79C-F039-1AF200F5FB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27DF40-11A6-702B-04BB-A0071876DF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F8E412-728F-FDB7-10C9-50EE86A94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F4C92-6140-434F-BD39-663E27A05AC3}" type="datetimeFigureOut">
              <a:rPr lang="en-AU" smtClean="0"/>
              <a:t>17/10/2025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924F58-3C82-AEAC-8356-33CD3EE3D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571C11-8BBF-405B-0968-FD1CF8BBD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FA016-AB32-48FE-B322-EBBED885AA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5506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91000">
              <a:srgbClr val="B1D0EC">
                <a:alpha val="71000"/>
              </a:srgbClr>
            </a:gs>
            <a:gs pos="100000">
              <a:schemeClr val="tx2">
                <a:lumMod val="90000"/>
                <a:lumOff val="10000"/>
                <a:alpha val="49000"/>
              </a:schemeClr>
            </a:gs>
            <a:gs pos="55000">
              <a:srgbClr val="BCD5EB">
                <a:alpha val="23000"/>
              </a:srgbClr>
            </a:gs>
            <a:gs pos="0">
              <a:schemeClr val="bg2">
                <a:alpha val="52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BAE1AD-1AD8-A040-E095-16DD0EE16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CF70A7-DCB9-5829-69B4-82360DDEB9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6697DC-DE5E-5C9D-283C-E3E2CD1B42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7F4C92-6140-434F-BD39-663E27A05AC3}" type="datetimeFigureOut">
              <a:rPr lang="en-AU" smtClean="0"/>
              <a:t>17/10/2025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07144-296C-F1A3-DED8-003E1AE361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2756BF-303E-3FF7-6166-CBD2F12409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0FA016-AB32-48FE-B322-EBBED885AA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1791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kewhighschool.sharepoint.com/:w:/s/EnglishLA/Ec1ZY_cwgAtDkzZEue_BExoBmtscUi_RcHXLNJL_zADKbA?e=WboywL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kewhighschool.sharepoint.com/sites/Section_7ENG.A-2024/_layouts/OneNote.aspx?id=%2Fsites%2FSection_7ENG.A-2024%2FSiteAssets%2F7ENG.A-2024%20Notebook&amp;wd=target%28_Content%20Library%2FUnit%205%20-%20Reading%20The%20Bone%20Sparrow.one%7CC9EAF87E-4F7B-46F7-9D63-67543B3A0318%2F4.2w%20-%20Writing%20your%20argument%7C378A6527-04F5-4AA7-A0D9-75F0C751DCA5%2F%29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5D4A9B-7AB0-A2BE-4FA9-65B356915E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8" y="643468"/>
            <a:ext cx="5822646" cy="1217990"/>
          </a:xfrm>
        </p:spPr>
        <p:txBody>
          <a:bodyPr>
            <a:normAutofit/>
          </a:bodyPr>
          <a:lstStyle/>
          <a:p>
            <a:pPr algn="l"/>
            <a:r>
              <a:rPr lang="en-AU" sz="5400" b="1" dirty="0">
                <a:latin typeface="Amasis MT Pro Light" panose="02040304050005020304" pitchFamily="18" charset="0"/>
              </a:rPr>
              <a:t>The Bone Sparrow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5E4BD9-0EEE-EFBD-B222-BFD56D930C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8" y="1957541"/>
            <a:ext cx="4620584" cy="775494"/>
          </a:xfrm>
        </p:spPr>
        <p:txBody>
          <a:bodyPr>
            <a:normAutofit/>
          </a:bodyPr>
          <a:lstStyle/>
          <a:p>
            <a:pPr algn="l"/>
            <a:r>
              <a:rPr lang="en-AU" dirty="0">
                <a:solidFill>
                  <a:schemeClr val="accent1"/>
                </a:solidFill>
                <a:latin typeface="Amasis MT Pro Light" panose="02040304050005020304" pitchFamily="18" charset="0"/>
              </a:rPr>
              <a:t>Starting your text response essay</a:t>
            </a:r>
          </a:p>
        </p:txBody>
      </p:sp>
      <p:pic>
        <p:nvPicPr>
          <p:cNvPr id="5" name="Picture 4" descr="A book cover of a book&#10;&#10;Description automatically generated">
            <a:extLst>
              <a:ext uri="{FF2B5EF4-FFF2-40B4-BE49-F238E27FC236}">
                <a16:creationId xmlns:a16="http://schemas.microsoft.com/office/drawing/2014/main" id="{D2C72AB4-CA3C-52AD-95BF-466E01ADB2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577" r="-2" b="6526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715015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E5259-C2EA-65BC-9D5B-EB06CBF21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chemeClr val="accent1"/>
                </a:solidFill>
                <a:latin typeface="Amasis MT Pro Light" panose="02040304050005020304" pitchFamily="18" charset="0"/>
              </a:rPr>
              <a:t>Learning outcomes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234E57-66BC-2BD2-9AAC-03E06B68D0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>
                <a:solidFill>
                  <a:schemeClr val="accent1"/>
                </a:solidFill>
              </a:rPr>
              <a:t>Learning intention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7CD192-A5AE-9531-C0CB-74094AF61C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661007"/>
            <a:ext cx="5157787" cy="3528656"/>
          </a:xfrm>
        </p:spPr>
        <p:txBody>
          <a:bodyPr>
            <a:normAutofit/>
          </a:bodyPr>
          <a:lstStyle/>
          <a:p>
            <a:r>
              <a:rPr lang="en-AU" sz="3200" dirty="0">
                <a:effectLst/>
              </a:rPr>
              <a:t>To understand the concept of an argument in essay writing</a:t>
            </a:r>
            <a:endParaRPr lang="en-AU" sz="4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8A7455-E6FC-CAFA-69CD-254E341808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AU" dirty="0">
                <a:solidFill>
                  <a:schemeClr val="accent1"/>
                </a:solidFill>
              </a:rPr>
              <a:t>I will be successful when: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E1F9E7-C973-7059-DC13-C1FCC80495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61007"/>
            <a:ext cx="5183188" cy="3528656"/>
          </a:xfrm>
        </p:spPr>
        <p:txBody>
          <a:bodyPr>
            <a:normAutofit/>
          </a:bodyPr>
          <a:lstStyle/>
          <a:p>
            <a:pPr rtl="0" fontAlgn="ctr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AU" sz="3200" dirty="0">
                <a:effectLst/>
                <a:cs typeface="Calibri" panose="020F0502020204030204" pitchFamily="34" charset="0"/>
              </a:rPr>
              <a:t>I have written a contention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AU" sz="3200" dirty="0">
                <a:effectLst/>
                <a:cs typeface="Calibri" panose="020F0502020204030204" pitchFamily="34" charset="0"/>
              </a:rPr>
              <a:t>I have decided on the claims that will support my contention</a:t>
            </a:r>
            <a:endParaRPr lang="en-AU" sz="4400" dirty="0"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1026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DE921-C8AC-F38D-AF41-2AA6F28C1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b="1" dirty="0">
                <a:solidFill>
                  <a:schemeClr val="accent1"/>
                </a:solidFill>
                <a:latin typeface="Amasis MT Pro Light" panose="02040304050005020304" pitchFamily="18" charset="0"/>
              </a:rPr>
              <a:t>Entry slip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9FBBD-D69F-282A-7EFB-7A96B8204B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>
              <a:buNone/>
            </a:pPr>
            <a:r>
              <a:rPr lang="en-AU" dirty="0"/>
              <a:t>On your piece of paper, write a short response to the two questions:</a:t>
            </a:r>
          </a:p>
          <a:p>
            <a:pPr marL="0" indent="0">
              <a:buNone/>
            </a:pPr>
            <a:endParaRPr lang="en-AU" dirty="0"/>
          </a:p>
          <a:p>
            <a:pPr marL="628650" marR="0" indent="-514350"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AU" dirty="0">
                <a:effectLst/>
              </a:rPr>
              <a:t>What is an </a:t>
            </a:r>
            <a:r>
              <a:rPr lang="en-AU" b="1" dirty="0">
                <a:effectLst/>
              </a:rPr>
              <a:t>argument</a:t>
            </a:r>
            <a:r>
              <a:rPr lang="en-AU" dirty="0">
                <a:effectLst/>
              </a:rPr>
              <a:t>?</a:t>
            </a:r>
          </a:p>
          <a:p>
            <a:pPr marL="628650" marR="0" indent="-514350"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AU" dirty="0">
                <a:effectLst/>
              </a:rPr>
              <a:t>What does the word </a:t>
            </a:r>
            <a:r>
              <a:rPr lang="en-AU" b="1" dirty="0">
                <a:effectLst/>
              </a:rPr>
              <a:t>logic</a:t>
            </a:r>
            <a:r>
              <a:rPr lang="en-AU" dirty="0">
                <a:effectLst/>
              </a:rPr>
              <a:t> mean to you?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91917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95665-321C-4A52-9879-67866434C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chemeClr val="accent1"/>
                </a:solidFill>
                <a:latin typeface="Amasis MT Pro Light" panose="02040304050005020304" pitchFamily="18" charset="0"/>
              </a:rPr>
              <a:t>Arguments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9017C-7FC4-5FBB-F5C0-9DEF46463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>
              <a:spcAft>
                <a:spcPts val="1200"/>
              </a:spcAft>
              <a:buNone/>
            </a:pPr>
            <a:r>
              <a:rPr lang="en-AU" dirty="0"/>
              <a:t>An argument isn't just having a verbal disagreement or trying to justify an opinion.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AU" b="1" dirty="0"/>
              <a:t>An argument is a type of logic.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AU" dirty="0"/>
              <a:t>An argument is a set of ideas that contains a series of statements (called “claims”) that lead to a conclusion.</a:t>
            </a:r>
          </a:p>
        </p:txBody>
      </p:sp>
    </p:spTree>
    <p:extLst>
      <p:ext uri="{BB962C8B-B14F-4D97-AF65-F5344CB8AC3E}">
        <p14:creationId xmlns:p14="http://schemas.microsoft.com/office/powerpoint/2010/main" val="2739776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95665-321C-4A52-9879-67866434C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chemeClr val="accent1"/>
                </a:solidFill>
                <a:latin typeface="Amasis MT Pro Light" panose="02040304050005020304" pitchFamily="18" charset="0"/>
              </a:rPr>
              <a:t>An argument is: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9017C-7FC4-5FBB-F5C0-9DEF46463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A </a:t>
            </a:r>
            <a:r>
              <a:rPr lang="en-AU" b="1" dirty="0"/>
              <a:t>series of statements</a:t>
            </a:r>
            <a:r>
              <a:rPr lang="en-AU" dirty="0"/>
              <a:t> (called “claims”) that </a:t>
            </a:r>
            <a:r>
              <a:rPr lang="en-AU" b="1" dirty="0"/>
              <a:t>leads to a conclusion</a:t>
            </a:r>
            <a:r>
              <a:rPr lang="en-AU" dirty="0"/>
              <a:t>.</a:t>
            </a:r>
          </a:p>
          <a:p>
            <a:pPr marL="0" indent="0">
              <a:buNone/>
            </a:pPr>
            <a:r>
              <a:rPr lang="en-AU" dirty="0"/>
              <a:t>Take this example: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8EA6532-F9E4-7656-791A-F9AC71A3D5F8}"/>
              </a:ext>
            </a:extLst>
          </p:cNvPr>
          <p:cNvSpPr/>
          <p:nvPr/>
        </p:nvSpPr>
        <p:spPr>
          <a:xfrm>
            <a:off x="3026229" y="3331028"/>
            <a:ext cx="5867400" cy="239485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rtl="0" fontAlgn="ctr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AU" sz="2400" b="0" i="0" dirty="0">
                <a:effectLst/>
                <a:latin typeface="Calibri" panose="020F0502020204030204" pitchFamily="34" charset="0"/>
              </a:rPr>
              <a:t>All lizards are cold blooded.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AU" sz="2400" b="0" i="0" dirty="0">
                <a:effectLst/>
                <a:latin typeface="Calibri" panose="020F0502020204030204" pitchFamily="34" charset="0"/>
              </a:rPr>
              <a:t>Frank is my pet goanna.</a:t>
            </a:r>
          </a:p>
          <a:p>
            <a:pPr rtl="0" fontAlgn="ctr">
              <a:spcBef>
                <a:spcPts val="0"/>
              </a:spcBef>
              <a:spcAft>
                <a:spcPts val="500"/>
              </a:spcAft>
              <a:buFont typeface="+mj-lt"/>
              <a:buAutoNum type="arabicPeriod"/>
            </a:pPr>
            <a:r>
              <a:rPr lang="en-AU" sz="2400" b="0" i="0" dirty="0">
                <a:effectLst/>
                <a:latin typeface="Calibri" panose="020F0502020204030204" pitchFamily="34" charset="0"/>
              </a:rPr>
              <a:t>Goannas are a type of lizard.</a:t>
            </a:r>
          </a:p>
          <a:p>
            <a:pPr marL="182880" marR="0">
              <a:spcBef>
                <a:spcPts val="0"/>
              </a:spcBef>
              <a:spcAft>
                <a:spcPts val="0"/>
              </a:spcAft>
            </a:pPr>
            <a:r>
              <a:rPr lang="en-AU" sz="2400" b="1" dirty="0">
                <a:effectLst/>
                <a:latin typeface="Calibri" panose="020F0502020204030204" pitchFamily="34" charset="0"/>
              </a:rPr>
              <a:t>Therefore</a:t>
            </a:r>
            <a:r>
              <a:rPr lang="en-AU" sz="2400" dirty="0">
                <a:effectLst/>
                <a:latin typeface="Calibri" panose="020F0502020204030204" pitchFamily="34" charset="0"/>
              </a:rPr>
              <a:t>, Frank is cold blooded.</a:t>
            </a:r>
          </a:p>
        </p:txBody>
      </p:sp>
    </p:spTree>
    <p:extLst>
      <p:ext uri="{BB962C8B-B14F-4D97-AF65-F5344CB8AC3E}">
        <p14:creationId xmlns:p14="http://schemas.microsoft.com/office/powerpoint/2010/main" val="310807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95665-321C-4A52-9879-67866434C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chemeClr val="accent1"/>
                </a:solidFill>
                <a:latin typeface="Amasis MT Pro Light" panose="02040304050005020304" pitchFamily="18" charset="0"/>
              </a:rPr>
              <a:t>Arguments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9017C-7FC4-5FBB-F5C0-9DEF46463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AU" dirty="0">
                <a:effectLst/>
              </a:rPr>
              <a:t>This has three </a:t>
            </a:r>
            <a:r>
              <a:rPr lang="en-AU" b="1" dirty="0">
                <a:effectLst/>
              </a:rPr>
              <a:t>claims:</a:t>
            </a:r>
            <a:endParaRPr lang="en-AU" dirty="0">
              <a:effectLst/>
            </a:endParaRPr>
          </a:p>
          <a:p>
            <a:pPr marL="804863" indent="-342900" rtl="0" fontAlgn="ctr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AU" b="0" i="0" dirty="0">
                <a:solidFill>
                  <a:srgbClr val="7030A0"/>
                </a:solidFill>
                <a:effectLst/>
              </a:rPr>
              <a:t>All lizards are cold blooded.</a:t>
            </a:r>
          </a:p>
          <a:p>
            <a:pPr marL="804863" indent="-342900" rtl="0" fontAlgn="ctr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AU" b="0" i="0" dirty="0">
                <a:solidFill>
                  <a:srgbClr val="7030A0"/>
                </a:solidFill>
                <a:effectLst/>
              </a:rPr>
              <a:t>Frank is my pet goanna.</a:t>
            </a:r>
          </a:p>
          <a:p>
            <a:pPr marL="804863" indent="-342900" rtl="0" fontAlgn="ctr">
              <a:spcBef>
                <a:spcPts val="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AU" b="0" i="0" dirty="0">
                <a:solidFill>
                  <a:srgbClr val="7030A0"/>
                </a:solidFill>
                <a:effectLst/>
              </a:rPr>
              <a:t>Goannas are a type of lizard.</a:t>
            </a:r>
          </a:p>
          <a:p>
            <a:pPr marL="0" marR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AU" dirty="0">
                <a:effectLst/>
              </a:rPr>
              <a:t>When put together, the three claims lead to a </a:t>
            </a:r>
            <a:r>
              <a:rPr lang="en-AU" b="1" dirty="0">
                <a:effectLst/>
              </a:rPr>
              <a:t>conclusion.</a:t>
            </a:r>
          </a:p>
          <a:p>
            <a:pPr marL="804863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AU" b="1" dirty="0">
                <a:solidFill>
                  <a:srgbClr val="7030A0"/>
                </a:solidFill>
                <a:effectLst/>
              </a:rPr>
              <a:t>Therefore*</a:t>
            </a:r>
            <a:r>
              <a:rPr lang="en-AU" dirty="0">
                <a:solidFill>
                  <a:srgbClr val="7030A0"/>
                </a:solidFill>
                <a:effectLst/>
              </a:rPr>
              <a:t>, Frank is cold blooded.</a:t>
            </a:r>
          </a:p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AU" dirty="0">
                <a:effectLst/>
              </a:rPr>
              <a:t>If those three claims are true, then the conclusion must be true. There's no way that it can be false.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54E6743-6AF3-AB77-83CD-DB00CDBAA41C}"/>
              </a:ext>
            </a:extLst>
          </p:cNvPr>
          <p:cNvSpPr/>
          <p:nvPr/>
        </p:nvSpPr>
        <p:spPr>
          <a:xfrm>
            <a:off x="7935686" y="681037"/>
            <a:ext cx="3799115" cy="1325563"/>
          </a:xfrm>
          <a:prstGeom prst="roundRect">
            <a:avLst/>
          </a:prstGeom>
          <a:solidFill>
            <a:srgbClr val="FCE5B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AU" i="1" dirty="0">
                <a:solidFill>
                  <a:schemeClr val="tx1"/>
                </a:solidFill>
                <a:effectLst/>
              </a:rPr>
              <a:t>* Conclusions often start with the word </a:t>
            </a:r>
            <a:r>
              <a:rPr lang="en-AU" b="1" i="1" dirty="0">
                <a:solidFill>
                  <a:schemeClr val="tx1"/>
                </a:solidFill>
                <a:effectLst/>
              </a:rPr>
              <a:t>therefore</a:t>
            </a:r>
            <a:r>
              <a:rPr lang="en-AU" i="1" dirty="0">
                <a:solidFill>
                  <a:schemeClr val="tx1"/>
                </a:solidFill>
                <a:effectLst/>
              </a:rPr>
              <a:t> (which is like the word equivalent of an equal sign).</a:t>
            </a:r>
            <a:endParaRPr lang="en-AU" dirty="0"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653936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95665-321C-4A52-9879-67866434C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chemeClr val="accent1"/>
                </a:solidFill>
                <a:latin typeface="Amasis MT Pro Light" panose="02040304050005020304" pitchFamily="18" charset="0"/>
              </a:rPr>
              <a:t>Arguments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9017C-7FC4-5FBB-F5C0-9DEF46463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What about this one: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This is </a:t>
            </a:r>
            <a:r>
              <a:rPr lang="en-AU" b="1" dirty="0"/>
              <a:t>a valid argument</a:t>
            </a:r>
            <a:r>
              <a:rPr lang="en-AU" dirty="0"/>
              <a:t>. It doesn't matter that we don't know what </a:t>
            </a:r>
            <a:r>
              <a:rPr lang="en-AU" dirty="0" err="1"/>
              <a:t>groobs</a:t>
            </a:r>
            <a:r>
              <a:rPr lang="en-AU" dirty="0"/>
              <a:t> or </a:t>
            </a:r>
            <a:r>
              <a:rPr lang="en-AU" dirty="0" err="1"/>
              <a:t>perfnicks</a:t>
            </a:r>
            <a:r>
              <a:rPr lang="en-AU" dirty="0"/>
              <a:t> are!</a:t>
            </a:r>
          </a:p>
          <a:p>
            <a:pPr marL="0" indent="0">
              <a:buNone/>
            </a:pPr>
            <a:r>
              <a:rPr lang="en-AU" dirty="0"/>
              <a:t>If the claims are true, then there is no way that the conclusion can be false.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8EA6532-F9E4-7656-791A-F9AC71A3D5F8}"/>
              </a:ext>
            </a:extLst>
          </p:cNvPr>
          <p:cNvSpPr/>
          <p:nvPr/>
        </p:nvSpPr>
        <p:spPr>
          <a:xfrm>
            <a:off x="4898572" y="1825625"/>
            <a:ext cx="5867400" cy="2394857"/>
          </a:xfrm>
          <a:prstGeom prst="roundRect">
            <a:avLst/>
          </a:prstGeom>
          <a:solidFill>
            <a:srgbClr val="F5F57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rtl="0" fontAlgn="ctr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AU" sz="2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All </a:t>
            </a:r>
            <a:r>
              <a:rPr lang="en-AU" sz="2800" b="0" i="0" dirty="0" err="1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groobs</a:t>
            </a:r>
            <a:r>
              <a:rPr lang="en-AU" sz="2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are yellow.</a:t>
            </a:r>
          </a:p>
          <a:p>
            <a:pPr marL="457200" indent="-457200" rtl="0" fontAlgn="ctr">
              <a:spcBef>
                <a:spcPts val="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AU" sz="2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A </a:t>
            </a:r>
            <a:r>
              <a:rPr lang="en-AU" sz="2800" b="0" i="0" dirty="0" err="1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perfnick</a:t>
            </a:r>
            <a:r>
              <a:rPr lang="en-AU" sz="2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is a type of </a:t>
            </a:r>
            <a:r>
              <a:rPr lang="en-AU" sz="2800" b="0" i="0" dirty="0" err="1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groob</a:t>
            </a:r>
            <a:r>
              <a:rPr lang="en-AU" sz="2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.</a:t>
            </a:r>
          </a:p>
          <a:p>
            <a:pPr marL="446088" rtl="0" fontAlgn="ctr">
              <a:spcBef>
                <a:spcPts val="0"/>
              </a:spcBef>
              <a:spcAft>
                <a:spcPts val="0"/>
              </a:spcAft>
            </a:pPr>
            <a:r>
              <a:rPr lang="en-AU" sz="2800" b="1" i="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Therefore</a:t>
            </a:r>
            <a:r>
              <a:rPr lang="en-AU" sz="2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en-AU" sz="2800" b="0" i="0" dirty="0" err="1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perfnicks</a:t>
            </a:r>
            <a:r>
              <a:rPr lang="en-AU" sz="2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must be yellow.</a:t>
            </a:r>
            <a:endParaRPr lang="en-AU" sz="2800" dirty="0"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4702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95665-321C-4A52-9879-67866434C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chemeClr val="accent1"/>
                </a:solidFill>
                <a:latin typeface="Amasis MT Pro Light" panose="02040304050005020304" pitchFamily="18" charset="0"/>
              </a:rPr>
              <a:t>Arguments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9017C-7FC4-5FBB-F5C0-9DEF46463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However: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This is </a:t>
            </a:r>
            <a:r>
              <a:rPr lang="en-AU" b="1" dirty="0"/>
              <a:t>not</a:t>
            </a:r>
            <a:r>
              <a:rPr lang="en-AU" dirty="0"/>
              <a:t> a valid argument. </a:t>
            </a:r>
          </a:p>
          <a:p>
            <a:pPr marL="0" indent="0">
              <a:buNone/>
            </a:pPr>
            <a:r>
              <a:rPr lang="en-AU" dirty="0"/>
              <a:t>This conclusion </a:t>
            </a:r>
            <a:r>
              <a:rPr lang="en-AU" b="1" dirty="0"/>
              <a:t>hasn't</a:t>
            </a:r>
            <a:r>
              <a:rPr lang="en-AU" dirty="0"/>
              <a:t> been proven by the claims (there might be other types of </a:t>
            </a:r>
            <a:r>
              <a:rPr lang="en-AU" dirty="0" err="1"/>
              <a:t>groobs</a:t>
            </a:r>
            <a:r>
              <a:rPr lang="en-AU" dirty="0"/>
              <a:t> that are different colours).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8EA6532-F9E4-7656-791A-F9AC71A3D5F8}"/>
              </a:ext>
            </a:extLst>
          </p:cNvPr>
          <p:cNvSpPr/>
          <p:nvPr/>
        </p:nvSpPr>
        <p:spPr>
          <a:xfrm>
            <a:off x="5018315" y="1698399"/>
            <a:ext cx="5867400" cy="239485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rtl="0" fontAlgn="ctr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AU" sz="2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All </a:t>
            </a:r>
            <a:r>
              <a:rPr lang="en-AU" sz="2800" b="0" i="0" dirty="0" err="1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perfnicks</a:t>
            </a:r>
            <a:r>
              <a:rPr lang="en-AU" sz="2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are yellow.</a:t>
            </a:r>
          </a:p>
          <a:p>
            <a:pPr marL="457200" indent="-457200" rtl="0" fontAlgn="ctr">
              <a:spcBef>
                <a:spcPts val="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AU" sz="2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A </a:t>
            </a:r>
            <a:r>
              <a:rPr lang="en-AU" sz="2800" b="0" i="0" dirty="0" err="1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perfnick</a:t>
            </a:r>
            <a:r>
              <a:rPr lang="en-AU" sz="2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is a type of </a:t>
            </a:r>
            <a:r>
              <a:rPr lang="en-AU" sz="2800" b="0" i="0" dirty="0" err="1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groob</a:t>
            </a:r>
            <a:r>
              <a:rPr lang="en-AU" sz="2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.</a:t>
            </a:r>
          </a:p>
          <a:p>
            <a:pPr marL="533400" indent="-87313" rtl="0" fontAlgn="ctr">
              <a:spcBef>
                <a:spcPts val="0"/>
              </a:spcBef>
              <a:spcAft>
                <a:spcPts val="0"/>
              </a:spcAft>
            </a:pPr>
            <a:r>
              <a:rPr lang="en-AU" sz="2800" b="1" i="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Therefore</a:t>
            </a:r>
            <a:r>
              <a:rPr lang="en-AU" sz="2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, all </a:t>
            </a:r>
            <a:r>
              <a:rPr lang="en-AU" sz="2800" b="0" i="0" dirty="0" err="1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groobs</a:t>
            </a:r>
            <a:r>
              <a:rPr lang="en-AU" sz="2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 are yellow.</a:t>
            </a:r>
            <a:endParaRPr lang="en-AU" sz="2800" dirty="0"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3982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0D3D5-096A-35D5-D41C-83FC936E3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chemeClr val="accent1"/>
                </a:solidFill>
                <a:latin typeface="Amasis MT Pro Light" panose="02040304050005020304" pitchFamily="18" charset="0"/>
              </a:rPr>
              <a:t>Arguments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AB982-FAFE-1843-0E95-8D90F35BB1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AU" dirty="0"/>
              <a:t>Let’s recap: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AU" dirty="0"/>
              <a:t>An argument has four elements:</a:t>
            </a:r>
          </a:p>
          <a:p>
            <a:pPr marL="631825" indent="0">
              <a:spcBef>
                <a:spcPts val="0"/>
              </a:spcBef>
              <a:spcAft>
                <a:spcPts val="1200"/>
              </a:spcAft>
              <a:buNone/>
              <a:tabLst>
                <a:tab pos="631825" algn="dec"/>
              </a:tabLst>
            </a:pPr>
            <a:r>
              <a:rPr lang="en-AU" dirty="0">
                <a:solidFill>
                  <a:schemeClr val="accent1"/>
                </a:solidFill>
              </a:rPr>
              <a:t>A </a:t>
            </a:r>
            <a:r>
              <a:rPr lang="en-AU" b="1" dirty="0">
                <a:solidFill>
                  <a:schemeClr val="accent1"/>
                </a:solidFill>
              </a:rPr>
              <a:t>contention</a:t>
            </a:r>
            <a:r>
              <a:rPr lang="en-AU" dirty="0">
                <a:solidFill>
                  <a:schemeClr val="accent1"/>
                </a:solidFill>
              </a:rPr>
              <a:t> – what we think we will prove, or what we hope to prove.</a:t>
            </a:r>
          </a:p>
          <a:p>
            <a:pPr marL="631825" indent="0">
              <a:spcBef>
                <a:spcPts val="0"/>
              </a:spcBef>
              <a:spcAft>
                <a:spcPts val="1200"/>
              </a:spcAft>
              <a:buNone/>
              <a:tabLst>
                <a:tab pos="631825" algn="dec"/>
              </a:tabLst>
            </a:pPr>
            <a:r>
              <a:rPr lang="en-AU" b="1" dirty="0">
                <a:solidFill>
                  <a:schemeClr val="accent1"/>
                </a:solidFill>
              </a:rPr>
              <a:t>Claims</a:t>
            </a:r>
            <a:r>
              <a:rPr lang="en-AU" dirty="0">
                <a:solidFill>
                  <a:schemeClr val="accent1"/>
                </a:solidFill>
              </a:rPr>
              <a:t> – the statements that we must show that lead to the conclusion.</a:t>
            </a:r>
          </a:p>
          <a:p>
            <a:pPr marL="631825" indent="0">
              <a:spcBef>
                <a:spcPts val="0"/>
              </a:spcBef>
              <a:spcAft>
                <a:spcPts val="1200"/>
              </a:spcAft>
              <a:buNone/>
              <a:tabLst>
                <a:tab pos="631825" algn="dec"/>
              </a:tabLst>
            </a:pPr>
            <a:r>
              <a:rPr lang="en-AU" b="1" dirty="0">
                <a:solidFill>
                  <a:schemeClr val="accent1"/>
                </a:solidFill>
              </a:rPr>
              <a:t>Evidence</a:t>
            </a:r>
            <a:r>
              <a:rPr lang="en-AU" dirty="0">
                <a:solidFill>
                  <a:schemeClr val="accent1"/>
                </a:solidFill>
              </a:rPr>
              <a:t> – the way that we prove that each claim is true </a:t>
            </a:r>
          </a:p>
          <a:p>
            <a:pPr marL="631825" indent="0">
              <a:spcBef>
                <a:spcPts val="0"/>
              </a:spcBef>
              <a:spcAft>
                <a:spcPts val="1200"/>
              </a:spcAft>
              <a:buNone/>
              <a:tabLst>
                <a:tab pos="631825" algn="dec"/>
              </a:tabLst>
            </a:pPr>
            <a:r>
              <a:rPr lang="en-AU" dirty="0">
                <a:solidFill>
                  <a:schemeClr val="accent1"/>
                </a:solidFill>
              </a:rPr>
              <a:t>A </a:t>
            </a:r>
            <a:r>
              <a:rPr lang="en-AU" b="1" dirty="0">
                <a:solidFill>
                  <a:schemeClr val="accent1"/>
                </a:solidFill>
              </a:rPr>
              <a:t>conclusion</a:t>
            </a:r>
            <a:r>
              <a:rPr lang="en-AU" dirty="0">
                <a:solidFill>
                  <a:schemeClr val="accent1"/>
                </a:solidFill>
              </a:rPr>
              <a:t> – the main idea that the argument proves. 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AU" dirty="0"/>
              <a:t>The only difference between a contention and a conclusion is that a contention occurs at the start, and the conclusion occurs at the end.</a:t>
            </a:r>
          </a:p>
        </p:txBody>
      </p:sp>
    </p:spTree>
    <p:extLst>
      <p:ext uri="{BB962C8B-B14F-4D97-AF65-F5344CB8AC3E}">
        <p14:creationId xmlns:p14="http://schemas.microsoft.com/office/powerpoint/2010/main" val="2510892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95665-321C-4A52-9879-67866434C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chemeClr val="accent1"/>
                </a:solidFill>
                <a:latin typeface="Amasis MT Pro Light" panose="02040304050005020304" pitchFamily="18" charset="0"/>
              </a:rPr>
              <a:t>Arguments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9017C-7FC4-5FBB-F5C0-9DEF46463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Try writing your own valid argument!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8EA6532-F9E4-7656-791A-F9AC71A3D5F8}"/>
              </a:ext>
            </a:extLst>
          </p:cNvPr>
          <p:cNvSpPr/>
          <p:nvPr/>
        </p:nvSpPr>
        <p:spPr>
          <a:xfrm>
            <a:off x="2939144" y="2656341"/>
            <a:ext cx="5867400" cy="239485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rtl="0" fontAlgn="ctr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AU" sz="2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…</a:t>
            </a:r>
          </a:p>
          <a:p>
            <a:pPr marL="457200" indent="-457200" rtl="0" fontAlgn="ctr">
              <a:spcBef>
                <a:spcPts val="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AU" sz="2800" dirty="0">
                <a:solidFill>
                  <a:schemeClr val="tx1"/>
                </a:solidFill>
                <a:latin typeface="Calibri" panose="020F0502020204030204" pitchFamily="34" charset="0"/>
              </a:rPr>
              <a:t>…</a:t>
            </a:r>
            <a:endParaRPr lang="en-AU" sz="2800" b="0" i="0" dirty="0"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  <a:p>
            <a:pPr marL="533400" indent="-87313" rtl="0" fontAlgn="ctr">
              <a:spcBef>
                <a:spcPts val="0"/>
              </a:spcBef>
              <a:spcAft>
                <a:spcPts val="0"/>
              </a:spcAft>
            </a:pPr>
            <a:r>
              <a:rPr lang="en-AU" sz="2800" b="1" i="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Therefore</a:t>
            </a:r>
            <a:r>
              <a:rPr lang="en-AU" sz="2800" b="0" i="0" dirty="0">
                <a:solidFill>
                  <a:schemeClr val="tx1"/>
                </a:solidFill>
                <a:effectLst/>
                <a:latin typeface="Calibri" panose="020F0502020204030204" pitchFamily="34" charset="0"/>
              </a:rPr>
              <a:t>, ....</a:t>
            </a:r>
            <a:endParaRPr lang="en-AU" sz="2800" dirty="0"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70069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9DCC5-35CE-B83B-ADF8-9C3892E7A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chemeClr val="accent1"/>
                </a:solidFill>
                <a:latin typeface="Amasis MT Pro Light" panose="02040304050005020304" pitchFamily="18" charset="0"/>
              </a:rPr>
              <a:t>Apply what you’ve learned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25C2BE-6484-5572-7535-4977016ADF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Task 1 – write a contention</a:t>
            </a:r>
          </a:p>
        </p:txBody>
      </p:sp>
    </p:spTree>
    <p:extLst>
      <p:ext uri="{BB962C8B-B14F-4D97-AF65-F5344CB8AC3E}">
        <p14:creationId xmlns:p14="http://schemas.microsoft.com/office/powerpoint/2010/main" val="26665770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86186-0AB9-3244-D44D-16E84D8AE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chemeClr val="accent1"/>
                </a:solidFill>
                <a:latin typeface="Amasis MT Pro Light" panose="02040304050005020304" pitchFamily="18" charset="0"/>
              </a:rPr>
              <a:t>Task 1 – Develop a contention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55DA9-38A3-05F6-B66D-8C934D7594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AU" dirty="0"/>
              <a:t>Look at your </a:t>
            </a:r>
            <a:r>
              <a:rPr lang="en-AU" dirty="0">
                <a:hlinkClick r:id="rId2"/>
              </a:rPr>
              <a:t>worksheet from last lesson</a:t>
            </a:r>
            <a:r>
              <a:rPr lang="en-AU" dirty="0"/>
              <a:t>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spcBef>
                <a:spcPts val="0"/>
              </a:spcBef>
              <a:spcAft>
                <a:spcPts val="900"/>
              </a:spcAft>
              <a:buNone/>
            </a:pPr>
            <a:r>
              <a:rPr lang="en-AU" dirty="0"/>
              <a:t>So far, you have:</a:t>
            </a:r>
          </a:p>
          <a:p>
            <a:pPr marL="631825"/>
            <a:r>
              <a:rPr lang="en-AU" dirty="0"/>
              <a:t>Chosen one of the three prompts</a:t>
            </a:r>
          </a:p>
          <a:p>
            <a:pPr marL="631825"/>
            <a:r>
              <a:rPr lang="en-AU" dirty="0"/>
              <a:t>Unpacked the prompt (found synonyms and antonyms)</a:t>
            </a:r>
          </a:p>
          <a:p>
            <a:pPr marL="631825"/>
            <a:r>
              <a:rPr lang="en-AU" dirty="0"/>
              <a:t>Reflection on what the prompt is asking you</a:t>
            </a:r>
          </a:p>
          <a:p>
            <a:pPr marL="631825">
              <a:spcAft>
                <a:spcPts val="1200"/>
              </a:spcAft>
            </a:pPr>
            <a:r>
              <a:rPr lang="en-AU" dirty="0"/>
              <a:t>Brainstormed ideas.</a:t>
            </a:r>
          </a:p>
          <a:p>
            <a:pPr marL="0" indent="0">
              <a:buNone/>
            </a:pPr>
            <a:r>
              <a:rPr lang="en-AU" dirty="0"/>
              <a:t>Your next task is to </a:t>
            </a:r>
            <a:r>
              <a:rPr lang="en-AU" b="1" dirty="0"/>
              <a:t>write a contention </a:t>
            </a:r>
            <a:r>
              <a:rPr lang="en-AU" dirty="0"/>
              <a:t>and</a:t>
            </a:r>
            <a:r>
              <a:rPr lang="en-AU" b="1" dirty="0"/>
              <a:t> decide on your claims</a:t>
            </a:r>
            <a:r>
              <a:rPr lang="en-A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360695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18C3B-794A-D84D-D52A-01D6BC404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chemeClr val="accent1"/>
                </a:solidFill>
                <a:latin typeface="Amasis MT Pro Light" panose="02040304050005020304" pitchFamily="18" charset="0"/>
              </a:rPr>
              <a:t>Task 1 – Develop a contention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CAA2F-5EEE-50F9-AA92-3F1A243D52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AU" sz="3200" dirty="0">
                <a:effectLst/>
              </a:rPr>
              <a:t>Remember: your contention is what you hope to prove. </a:t>
            </a:r>
          </a:p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AU" sz="3200" dirty="0">
                <a:effectLst/>
              </a:rPr>
              <a:t>But in this case, you also need to </a:t>
            </a:r>
            <a:r>
              <a:rPr lang="en-AU" sz="3200" b="1" dirty="0">
                <a:effectLst/>
              </a:rPr>
              <a:t>respond to the prompt</a:t>
            </a:r>
            <a:r>
              <a:rPr lang="en-AU" sz="3200" dirty="0">
                <a:effectLst/>
              </a:rPr>
              <a:t>.</a:t>
            </a:r>
          </a:p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AU" sz="3200" dirty="0">
                <a:effectLst/>
              </a:rPr>
              <a:t>That means that your </a:t>
            </a:r>
            <a:r>
              <a:rPr lang="en-AU" sz="3200" b="1" dirty="0">
                <a:effectLst/>
              </a:rPr>
              <a:t>contention</a:t>
            </a:r>
            <a:r>
              <a:rPr lang="en-AU" sz="3200" dirty="0">
                <a:effectLst/>
              </a:rPr>
              <a:t> must </a:t>
            </a:r>
            <a:r>
              <a:rPr lang="en-AU" sz="3200" b="1" dirty="0">
                <a:solidFill>
                  <a:srgbClr val="7030A0"/>
                </a:solidFill>
                <a:effectLst/>
              </a:rPr>
              <a:t>explain an answer to the prompt that you hope to prove.</a:t>
            </a:r>
            <a:endParaRPr lang="en-AU" sz="4400" dirty="0"/>
          </a:p>
        </p:txBody>
      </p:sp>
    </p:spTree>
    <p:extLst>
      <p:ext uri="{BB962C8B-B14F-4D97-AF65-F5344CB8AC3E}">
        <p14:creationId xmlns:p14="http://schemas.microsoft.com/office/powerpoint/2010/main" val="28067692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18C3B-794A-D84D-D52A-01D6BC404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chemeClr val="accent1"/>
                </a:solidFill>
                <a:latin typeface="Amasis MT Pro Light" panose="02040304050005020304" pitchFamily="18" charset="0"/>
              </a:rPr>
              <a:t>Task 1 – Develop a contention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CAA2F-5EEE-50F9-AA92-3F1A243D52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AU" dirty="0"/>
              <a:t>The next three slides contain some suggestions for contentions that you can use.</a:t>
            </a:r>
          </a:p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AU" dirty="0"/>
              <a:t>You can either use one of these, or you can develop your own.</a:t>
            </a:r>
          </a:p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AU" b="1" dirty="0"/>
              <a:t>Recap:</a:t>
            </a:r>
          </a:p>
          <a:p>
            <a:pPr marL="804863" indent="-173038">
              <a:spcBef>
                <a:spcPts val="0"/>
              </a:spcBef>
              <a:spcAft>
                <a:spcPts val="1800"/>
              </a:spcAft>
              <a:buNone/>
            </a:pPr>
            <a:r>
              <a:rPr lang="en-AU" b="1" dirty="0">
                <a:solidFill>
                  <a:srgbClr val="7030A0"/>
                </a:solidFill>
              </a:rPr>
              <a:t>Q: </a:t>
            </a:r>
            <a:r>
              <a:rPr lang="en-AU" dirty="0"/>
              <a:t>What is a contention?</a:t>
            </a:r>
          </a:p>
          <a:p>
            <a:pPr marL="990600" indent="-358775">
              <a:spcBef>
                <a:spcPts val="0"/>
              </a:spcBef>
              <a:spcAft>
                <a:spcPts val="1800"/>
              </a:spcAft>
              <a:buNone/>
            </a:pPr>
            <a:r>
              <a:rPr lang="en-AU" b="1" dirty="0">
                <a:solidFill>
                  <a:srgbClr val="7030A0"/>
                </a:solidFill>
              </a:rPr>
              <a:t>A: </a:t>
            </a:r>
            <a:r>
              <a:rPr lang="en-AU" dirty="0"/>
              <a:t>A contention is a </a:t>
            </a:r>
            <a:r>
              <a:rPr lang="en-AU" b="1" dirty="0"/>
              <a:t>statement</a:t>
            </a:r>
            <a:r>
              <a:rPr lang="en-AU" dirty="0"/>
              <a:t> that describes </a:t>
            </a:r>
            <a:r>
              <a:rPr lang="en-AU" b="1" dirty="0"/>
              <a:t>what you hope to prove</a:t>
            </a:r>
            <a:r>
              <a:rPr lang="en-AU" dirty="0"/>
              <a:t> in response to </a:t>
            </a:r>
            <a:r>
              <a:rPr lang="en-AU" b="1" dirty="0"/>
              <a:t>an essay prompt</a:t>
            </a:r>
            <a:r>
              <a:rPr lang="en-A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482968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18C3B-794A-D84D-D52A-01D6BC404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chemeClr val="accent1"/>
                </a:solidFill>
                <a:latin typeface="Amasis MT Pro Light" panose="02040304050005020304" pitchFamily="18" charset="0"/>
              </a:rPr>
              <a:t>Task 1 – Develop a contention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8F892C0-6DB5-15F6-BACF-D9CD6BFD17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1115762"/>
              </p:ext>
            </p:extLst>
          </p:nvPr>
        </p:nvGraphicFramePr>
        <p:xfrm>
          <a:off x="586152" y="1548379"/>
          <a:ext cx="10944209" cy="4640582"/>
        </p:xfrm>
        <a:graphic>
          <a:graphicData uri="http://schemas.openxmlformats.org/drawingml/2006/table">
            <a:tbl>
              <a:tblPr/>
              <a:tblGrid>
                <a:gridCol w="2342105">
                  <a:extLst>
                    <a:ext uri="{9D8B030D-6E8A-4147-A177-3AD203B41FA5}">
                      <a16:colId xmlns:a16="http://schemas.microsoft.com/office/drawing/2014/main" val="1601107429"/>
                    </a:ext>
                  </a:extLst>
                </a:gridCol>
                <a:gridCol w="8602104">
                  <a:extLst>
                    <a:ext uri="{9D8B030D-6E8A-4147-A177-3AD203B41FA5}">
                      <a16:colId xmlns:a16="http://schemas.microsoft.com/office/drawing/2014/main" val="1586946899"/>
                    </a:ext>
                  </a:extLst>
                </a:gridCol>
              </a:tblGrid>
              <a:tr h="850902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20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Prompt 1</a:t>
                      </a:r>
                      <a:endParaRPr lang="en-AU" sz="2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20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Possible contentions</a:t>
                      </a:r>
                      <a:endParaRPr lang="en-AU" sz="2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2000" i="1" dirty="0">
                          <a:solidFill>
                            <a:srgbClr val="7030A0"/>
                          </a:solidFill>
                          <a:effectLst/>
                          <a:latin typeface="+mn-lt"/>
                        </a:rPr>
                        <a:t>This is not a complete list. You might choose to come up with your own!</a:t>
                      </a:r>
                      <a:endParaRPr lang="en-AU" sz="2000" dirty="0">
                        <a:solidFill>
                          <a:srgbClr val="7030A0"/>
                        </a:solidFill>
                        <a:effectLst/>
                        <a:latin typeface="+mn-lt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0042792"/>
                  </a:ext>
                </a:extLst>
              </a:tr>
              <a:tr h="3700435">
                <a:tc>
                  <a:txBody>
                    <a:bodyPr/>
                    <a:lstStyle/>
                    <a:p>
                      <a:pPr marL="87313" lvl="1" indent="0" rtl="0" fontAlgn="ctr">
                        <a:spcBef>
                          <a:spcPts val="0"/>
                        </a:spcBef>
                        <a:spcAft>
                          <a:spcPts val="1200"/>
                        </a:spcAft>
                        <a:buFont typeface="+mj-lt"/>
                        <a:buNone/>
                      </a:pPr>
                      <a:r>
                        <a:rPr lang="en-AU" sz="18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'But reading is important'</a:t>
                      </a:r>
                      <a:r>
                        <a:rPr lang="en-AU" sz="18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(p39).</a:t>
                      </a:r>
                    </a:p>
                    <a:p>
                      <a:pPr marL="87313" lvl="1" indent="0" rtl="0" fontAlgn="ctr">
                        <a:spcBef>
                          <a:spcPts val="0"/>
                        </a:spcBef>
                        <a:spcAft>
                          <a:spcPts val="1200"/>
                        </a:spcAft>
                        <a:buFont typeface="+mj-lt"/>
                        <a:buNone/>
                      </a:pPr>
                      <a:r>
                        <a:rPr lang="en-AU" sz="18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Discuss how stories and imagination are important for characters in The Bone Sparrow.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46088" lvl="1" indent="-285750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AU" sz="2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In </a:t>
                      </a:r>
                      <a:r>
                        <a:rPr lang="en-AU" sz="2200" i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The Bone Sparrow</a:t>
                      </a:r>
                      <a:r>
                        <a:rPr lang="en-AU" sz="2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, stories and imagination are used as a way to explore characters’ thoughts and personalities.</a:t>
                      </a:r>
                    </a:p>
                    <a:p>
                      <a:pPr marL="446088" lvl="1" indent="-285750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AU" sz="2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In </a:t>
                      </a:r>
                      <a:r>
                        <a:rPr lang="en-AU" sz="2200" i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The Bone Sparrow</a:t>
                      </a:r>
                      <a:r>
                        <a:rPr lang="en-AU" sz="2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, stories allow characters to connect with their pasts.</a:t>
                      </a:r>
                    </a:p>
                    <a:p>
                      <a:pPr marL="446088" lvl="1" indent="-285750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AU" sz="2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For the characters in </a:t>
                      </a:r>
                      <a:r>
                        <a:rPr lang="en-AU" sz="2200" i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The Bone </a:t>
                      </a:r>
                      <a:r>
                        <a:rPr lang="en-AU" sz="2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Sparrow, stories are a way of keeping the memories of their families alive.</a:t>
                      </a:r>
                    </a:p>
                    <a:p>
                      <a:pPr marL="446088" lvl="1" indent="-285750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AU" sz="2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In </a:t>
                      </a:r>
                      <a:r>
                        <a:rPr lang="en-AU" sz="2200" i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The Bone Sparrow</a:t>
                      </a:r>
                      <a:r>
                        <a:rPr lang="en-AU" sz="2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, imagination acts as a distraction that allows characters to survive in a harsh world.</a:t>
                      </a:r>
                    </a:p>
                    <a:p>
                      <a:pPr marL="0" marR="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2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  <a:p>
                      <a:pPr marL="0" marR="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2200" i="1" dirty="0">
                          <a:solidFill>
                            <a:srgbClr val="7030A0"/>
                          </a:solidFill>
                          <a:effectLst/>
                          <a:latin typeface="+mn-lt"/>
                        </a:rPr>
                        <a:t>What else might you want to explain about the novel and imagination? Why do you think reading is important?</a:t>
                      </a:r>
                      <a:endParaRPr lang="en-AU" sz="2200" dirty="0">
                        <a:solidFill>
                          <a:srgbClr val="7030A0"/>
                        </a:solidFill>
                        <a:effectLst/>
                        <a:latin typeface="+mn-lt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46194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73809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18C3B-794A-D84D-D52A-01D6BC404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chemeClr val="accent1"/>
                </a:solidFill>
                <a:latin typeface="Amasis MT Pro Light" panose="02040304050005020304" pitchFamily="18" charset="0"/>
              </a:rPr>
              <a:t>Task 1 – Develop a contention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8F892C0-6DB5-15F6-BACF-D9CD6BFD17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0074944"/>
              </p:ext>
            </p:extLst>
          </p:nvPr>
        </p:nvGraphicFramePr>
        <p:xfrm>
          <a:off x="586152" y="1548379"/>
          <a:ext cx="10944209" cy="4792982"/>
        </p:xfrm>
        <a:graphic>
          <a:graphicData uri="http://schemas.openxmlformats.org/drawingml/2006/table">
            <a:tbl>
              <a:tblPr/>
              <a:tblGrid>
                <a:gridCol w="2342105">
                  <a:extLst>
                    <a:ext uri="{9D8B030D-6E8A-4147-A177-3AD203B41FA5}">
                      <a16:colId xmlns:a16="http://schemas.microsoft.com/office/drawing/2014/main" val="1601107429"/>
                    </a:ext>
                  </a:extLst>
                </a:gridCol>
                <a:gridCol w="8602104">
                  <a:extLst>
                    <a:ext uri="{9D8B030D-6E8A-4147-A177-3AD203B41FA5}">
                      <a16:colId xmlns:a16="http://schemas.microsoft.com/office/drawing/2014/main" val="1586946899"/>
                    </a:ext>
                  </a:extLst>
                </a:gridCol>
              </a:tblGrid>
              <a:tr h="850902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20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Prompt 2</a:t>
                      </a:r>
                      <a:endParaRPr lang="en-AU" sz="2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20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Possible contentions</a:t>
                      </a:r>
                      <a:endParaRPr lang="en-AU" sz="2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2000" i="1" dirty="0">
                          <a:solidFill>
                            <a:srgbClr val="7030A0"/>
                          </a:solidFill>
                          <a:effectLst/>
                          <a:latin typeface="+mn-lt"/>
                        </a:rPr>
                        <a:t>This is not a complete list. You might choose to come up with your own!</a:t>
                      </a:r>
                      <a:endParaRPr lang="en-AU" sz="2000" dirty="0">
                        <a:solidFill>
                          <a:srgbClr val="7030A0"/>
                        </a:solidFill>
                        <a:effectLst/>
                        <a:latin typeface="+mn-lt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0042792"/>
                  </a:ext>
                </a:extLst>
              </a:tr>
              <a:tr h="3700435">
                <a:tc>
                  <a:txBody>
                    <a:bodyPr/>
                    <a:lstStyle/>
                    <a:p>
                      <a:pPr marL="87313" lvl="1" indent="0" rtl="0" fontAlgn="ctr">
                        <a:spcBef>
                          <a:spcPts val="0"/>
                        </a:spcBef>
                        <a:spcAft>
                          <a:spcPts val="1200"/>
                        </a:spcAft>
                        <a:buFont typeface="+mj-lt"/>
                        <a:buNone/>
                      </a:pPr>
                      <a:r>
                        <a:rPr lang="en-AU" sz="18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'Soon they'll see that living in here isn't living at all. We just need to show them who we are, that we're people, and then they'll remember' </a:t>
                      </a:r>
                      <a:r>
                        <a:rPr lang="en-AU" sz="18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(p108)</a:t>
                      </a:r>
                    </a:p>
                    <a:p>
                      <a:pPr marL="87313" lvl="1" indent="0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AU" sz="18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Discuss the living conditions for characters inside and outside the centre.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503238" lvl="1" indent="-342900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AU" sz="2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The Bone Sparrow portrays the harsh reality of life inside Australia's refugee detention system.</a:t>
                      </a:r>
                    </a:p>
                    <a:p>
                      <a:pPr marL="503238" lvl="1" indent="-342900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AU" sz="2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Zana </a:t>
                      </a:r>
                      <a:r>
                        <a:rPr lang="en-AU" sz="220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Fraillon</a:t>
                      </a:r>
                      <a:r>
                        <a:rPr lang="en-AU" sz="2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depicts a difference between the way Australians imagine detention and the reality for those living inside.</a:t>
                      </a:r>
                    </a:p>
                    <a:p>
                      <a:pPr marL="503238" lvl="1" indent="-342900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AU" sz="2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Zana </a:t>
                      </a:r>
                      <a:r>
                        <a:rPr lang="en-AU" sz="220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Fraillon's</a:t>
                      </a:r>
                      <a:r>
                        <a:rPr lang="en-AU" sz="2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novel illustrates the ways in which Australia does not guarantee the human rights of detained children.</a:t>
                      </a:r>
                    </a:p>
                    <a:p>
                      <a:pPr marL="503238" lvl="1" indent="-342900" rtl="0" fontAlgn="ctr">
                        <a:spcBef>
                          <a:spcPts val="0"/>
                        </a:spcBef>
                        <a:spcAft>
                          <a:spcPts val="1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AU" sz="2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The Bone Sparrow helps the audience better understand the feelings of those living in detention. </a:t>
                      </a:r>
                    </a:p>
                    <a:p>
                      <a:pPr marL="0" marR="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2200" i="1" dirty="0">
                          <a:solidFill>
                            <a:srgbClr val="7030A0"/>
                          </a:solidFill>
                          <a:effectLst/>
                          <a:latin typeface="+mn-lt"/>
                        </a:rPr>
                        <a:t>What else could you explain about the living conditions in the novel. What might you say about what it means to be "living", or "showing them who we are."</a:t>
                      </a:r>
                      <a:endParaRPr lang="en-AU" sz="2200" dirty="0">
                        <a:solidFill>
                          <a:srgbClr val="7030A0"/>
                        </a:solidFill>
                        <a:effectLst/>
                        <a:latin typeface="+mn-lt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46194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16628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18C3B-794A-D84D-D52A-01D6BC404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chemeClr val="accent1"/>
                </a:solidFill>
                <a:latin typeface="Amasis MT Pro Light" panose="02040304050005020304" pitchFamily="18" charset="0"/>
              </a:rPr>
              <a:t>Task 1 – Develop a contention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8F892C0-6DB5-15F6-BACF-D9CD6BFD17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2243674"/>
              </p:ext>
            </p:extLst>
          </p:nvPr>
        </p:nvGraphicFramePr>
        <p:xfrm>
          <a:off x="586152" y="1548379"/>
          <a:ext cx="10944209" cy="4792982"/>
        </p:xfrm>
        <a:graphic>
          <a:graphicData uri="http://schemas.openxmlformats.org/drawingml/2006/table">
            <a:tbl>
              <a:tblPr/>
              <a:tblGrid>
                <a:gridCol w="2342105">
                  <a:extLst>
                    <a:ext uri="{9D8B030D-6E8A-4147-A177-3AD203B41FA5}">
                      <a16:colId xmlns:a16="http://schemas.microsoft.com/office/drawing/2014/main" val="1601107429"/>
                    </a:ext>
                  </a:extLst>
                </a:gridCol>
                <a:gridCol w="8602104">
                  <a:extLst>
                    <a:ext uri="{9D8B030D-6E8A-4147-A177-3AD203B41FA5}">
                      <a16:colId xmlns:a16="http://schemas.microsoft.com/office/drawing/2014/main" val="1586946899"/>
                    </a:ext>
                  </a:extLst>
                </a:gridCol>
              </a:tblGrid>
              <a:tr h="850902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20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Prompt 3</a:t>
                      </a:r>
                      <a:endParaRPr lang="en-AU" sz="2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20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Possible contentions</a:t>
                      </a:r>
                      <a:endParaRPr lang="en-AU" sz="2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2000" i="1" dirty="0">
                          <a:solidFill>
                            <a:srgbClr val="7030A0"/>
                          </a:solidFill>
                          <a:effectLst/>
                          <a:latin typeface="+mn-lt"/>
                        </a:rPr>
                        <a:t>This is not a complete list. You might choose to come up with your own!</a:t>
                      </a:r>
                      <a:endParaRPr lang="en-AU" sz="2000" dirty="0">
                        <a:solidFill>
                          <a:srgbClr val="7030A0"/>
                        </a:solidFill>
                        <a:effectLst/>
                        <a:latin typeface="+mn-lt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0042792"/>
                  </a:ext>
                </a:extLst>
              </a:tr>
              <a:tr h="3700435">
                <a:tc>
                  <a:txBody>
                    <a:bodyPr/>
                    <a:lstStyle/>
                    <a:p>
                      <a:pPr marL="87313" lvl="1" indent="0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AU" sz="18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The Bone Sparrow explores themes of family and friendship.</a:t>
                      </a:r>
                    </a:p>
                    <a:p>
                      <a:pPr marL="87313" lvl="1" indent="0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AU" sz="18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Discuss.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46088" lvl="1" indent="-285750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AU" sz="2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The Bone Sparrow shows that friends are just as important as family.</a:t>
                      </a:r>
                    </a:p>
                    <a:p>
                      <a:pPr marL="446088" lvl="1" indent="-285750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AU" sz="2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The Bone Sparrow shows that friends are a type of family.</a:t>
                      </a:r>
                    </a:p>
                    <a:p>
                      <a:pPr marL="446088" lvl="1" indent="-285750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AU" sz="2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The Bone Sparrow depicts friends that are more important that family.</a:t>
                      </a:r>
                    </a:p>
                    <a:p>
                      <a:pPr marL="446088" lvl="1" indent="-285750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AU" sz="2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The Bone Sparrow describes how friends can never take the place of family.</a:t>
                      </a:r>
                    </a:p>
                    <a:p>
                      <a:pPr marL="446088" lvl="1" indent="-285750" rtl="0" fontAlgn="ctr">
                        <a:spcBef>
                          <a:spcPts val="0"/>
                        </a:spcBef>
                        <a:spcAft>
                          <a:spcPts val="1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AU" sz="2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Zana </a:t>
                      </a:r>
                      <a:r>
                        <a:rPr lang="en-AU" sz="220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Fraillon's</a:t>
                      </a:r>
                      <a:r>
                        <a:rPr lang="en-AU" sz="2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novel explores the impact that detention can have on relationships. </a:t>
                      </a:r>
                    </a:p>
                    <a:p>
                      <a:pPr marL="0" marR="0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2200" i="1" dirty="0">
                          <a:solidFill>
                            <a:srgbClr val="7030A0"/>
                          </a:solidFill>
                          <a:effectLst/>
                          <a:latin typeface="+mn-lt"/>
                        </a:rPr>
                        <a:t>What else might you want to explain about the way the novel explores family and friendship?</a:t>
                      </a:r>
                      <a:endParaRPr lang="en-AU" sz="2200" dirty="0">
                        <a:solidFill>
                          <a:srgbClr val="7030A0"/>
                        </a:solidFill>
                        <a:effectLst/>
                        <a:latin typeface="+mn-lt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46194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84140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18C3B-794A-D84D-D52A-01D6BC404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chemeClr val="accent1"/>
                </a:solidFill>
                <a:latin typeface="Amasis MT Pro Light" panose="02040304050005020304" pitchFamily="18" charset="0"/>
              </a:rPr>
              <a:t>Task 1 – Develop a contention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CAA2F-5EEE-50F9-AA92-3F1A243D52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AU" sz="3600" dirty="0">
                <a:solidFill>
                  <a:srgbClr val="7030A0"/>
                </a:solidFill>
              </a:rPr>
              <a:t>Your task: </a:t>
            </a:r>
          </a:p>
          <a:p>
            <a:pPr marL="742950" indent="-742950">
              <a:spcBef>
                <a:spcPts val="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AU" sz="3600" dirty="0"/>
              <a:t>Open </a:t>
            </a:r>
            <a:r>
              <a:rPr lang="en-AU" sz="3600" dirty="0">
                <a:hlinkClick r:id="rId2"/>
              </a:rPr>
              <a:t>the worksheet 4.2w</a:t>
            </a:r>
            <a:r>
              <a:rPr lang="en-AU" sz="3600" dirty="0"/>
              <a:t> in OneNote</a:t>
            </a:r>
          </a:p>
          <a:p>
            <a:pPr marL="742950" indent="-742950">
              <a:spcBef>
                <a:spcPts val="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AU" sz="3600" dirty="0"/>
              <a:t>Write out your chosen prompt </a:t>
            </a:r>
          </a:p>
          <a:p>
            <a:pPr marL="742950" indent="-742950">
              <a:spcBef>
                <a:spcPts val="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AU" sz="3600" dirty="0"/>
              <a:t>Copy or write the contention that you want to use.</a:t>
            </a:r>
          </a:p>
        </p:txBody>
      </p:sp>
    </p:spTree>
    <p:extLst>
      <p:ext uri="{BB962C8B-B14F-4D97-AF65-F5344CB8AC3E}">
        <p14:creationId xmlns:p14="http://schemas.microsoft.com/office/powerpoint/2010/main" val="38943044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70B4B-2008-E029-5352-1FBC30F01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Decide on your claims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CEDFC3-2323-2D0A-250F-CB5880B3F7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Task 2</a:t>
            </a:r>
          </a:p>
        </p:txBody>
      </p:sp>
    </p:spTree>
    <p:extLst>
      <p:ext uri="{BB962C8B-B14F-4D97-AF65-F5344CB8AC3E}">
        <p14:creationId xmlns:p14="http://schemas.microsoft.com/office/powerpoint/2010/main" val="31862351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18C3B-794A-D84D-D52A-01D6BC404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chemeClr val="accent1"/>
                </a:solidFill>
                <a:latin typeface="Amasis MT Pro Light" panose="02040304050005020304" pitchFamily="18" charset="0"/>
              </a:rPr>
              <a:t>Task 2 – Decide on your claims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CAA2F-5EEE-50F9-AA92-3F1A243D52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AU" sz="3200" dirty="0">
                <a:solidFill>
                  <a:schemeClr val="accent1"/>
                </a:solidFill>
              </a:rPr>
              <a:t>Remember</a:t>
            </a:r>
            <a:r>
              <a:rPr lang="en-AU" sz="3200" dirty="0"/>
              <a:t>: </a:t>
            </a:r>
          </a:p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AU" sz="3200" dirty="0"/>
              <a:t>A </a:t>
            </a:r>
            <a:r>
              <a:rPr lang="en-AU" sz="3200" b="1" dirty="0"/>
              <a:t>claim</a:t>
            </a:r>
            <a:r>
              <a:rPr lang="en-AU" sz="3200" dirty="0"/>
              <a:t> is a statement that is shown in order to prove your contention. As well as writing your claim, you will also have to prove that it is correct.</a:t>
            </a:r>
          </a:p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AU" sz="3200" dirty="0"/>
              <a:t>Most text response essays written in English class will have three claims.</a:t>
            </a:r>
          </a:p>
        </p:txBody>
      </p:sp>
    </p:spTree>
    <p:extLst>
      <p:ext uri="{BB962C8B-B14F-4D97-AF65-F5344CB8AC3E}">
        <p14:creationId xmlns:p14="http://schemas.microsoft.com/office/powerpoint/2010/main" val="34972514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18C3B-794A-D84D-D52A-01D6BC404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chemeClr val="accent1"/>
                </a:solidFill>
                <a:latin typeface="Amasis MT Pro Light" panose="02040304050005020304" pitchFamily="18" charset="0"/>
              </a:rPr>
              <a:t>Task 2 – Decide on your claims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CAA2F-5EEE-50F9-AA92-3F1A243D52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AU" sz="3200" dirty="0"/>
              <a:t>Think back to the film Edward Scissorhands.</a:t>
            </a:r>
          </a:p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AU" sz="3200" dirty="0"/>
              <a:t>Let's say that our </a:t>
            </a:r>
            <a:r>
              <a:rPr lang="en-AU" sz="3200" b="1" dirty="0"/>
              <a:t>contention</a:t>
            </a:r>
            <a:r>
              <a:rPr lang="en-AU" sz="3200" dirty="0"/>
              <a:t> is that:</a:t>
            </a:r>
          </a:p>
          <a:p>
            <a:pPr marL="631825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AU" sz="3200" i="1" dirty="0">
                <a:solidFill>
                  <a:srgbClr val="7030A0"/>
                </a:solidFill>
              </a:rPr>
              <a:t>Edward Scissorhands is a modern-day fairytale that reminds the audience that beauty is more than skin deep.</a:t>
            </a:r>
          </a:p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AU" sz="3200" dirty="0"/>
              <a:t>The next task would be to think of some claims - statements that would help to prove that this idea is true.</a:t>
            </a:r>
            <a:endParaRPr lang="en-AU" sz="3200" i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70727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18C3B-794A-D84D-D52A-01D6BC404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chemeClr val="accent1"/>
                </a:solidFill>
                <a:latin typeface="Amasis MT Pro Light" panose="02040304050005020304" pitchFamily="18" charset="0"/>
              </a:rPr>
              <a:t>Task 2 – Decide on your claims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CAA2F-5EEE-50F9-AA92-3F1A243D52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AU" sz="3200" dirty="0"/>
              <a:t>We need to try and prove that Edward Scissorhands is </a:t>
            </a:r>
            <a:r>
              <a:rPr lang="en-AU" sz="3200" u="sng" dirty="0"/>
              <a:t>a </a:t>
            </a:r>
            <a:r>
              <a:rPr lang="en-AU" sz="3200" b="1" dirty="0"/>
              <a:t>modern-day fairytale </a:t>
            </a:r>
            <a:r>
              <a:rPr lang="en-AU" sz="3200" dirty="0"/>
              <a:t>about </a:t>
            </a:r>
            <a:r>
              <a:rPr lang="en-AU" sz="3200" b="1" dirty="0"/>
              <a:t>beauty only being skin deep.</a:t>
            </a:r>
          </a:p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AU" sz="3200" dirty="0"/>
              <a:t>Cast your mind back to the film.</a:t>
            </a:r>
          </a:p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AU" sz="3200" dirty="0"/>
              <a:t>What characters, events or ideas can you remember that might relate to:</a:t>
            </a:r>
          </a:p>
          <a:p>
            <a:pPr marL="1349375" indent="-457200">
              <a:spcBef>
                <a:spcPts val="0"/>
              </a:spcBef>
              <a:spcAft>
                <a:spcPts val="1800"/>
              </a:spcAft>
            </a:pPr>
            <a:r>
              <a:rPr lang="en-AU" sz="3200" dirty="0"/>
              <a:t>The film being a modern-day fairytale?</a:t>
            </a:r>
          </a:p>
          <a:p>
            <a:pPr marL="1349375" indent="-457200">
              <a:spcBef>
                <a:spcPts val="0"/>
              </a:spcBef>
              <a:spcAft>
                <a:spcPts val="1800"/>
              </a:spcAft>
            </a:pPr>
            <a:r>
              <a:rPr lang="en-AU" sz="3200" dirty="0"/>
              <a:t>Beauty, and it being more than skin deep?</a:t>
            </a:r>
            <a:endParaRPr lang="en-AU" sz="3200" i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31225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18C3B-794A-D84D-D52A-01D6BC404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chemeClr val="accent1"/>
                </a:solidFill>
                <a:latin typeface="Amasis MT Pro Light" panose="02040304050005020304" pitchFamily="18" charset="0"/>
              </a:rPr>
              <a:t>Task 2 – Decide on your claims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CAA2F-5EEE-50F9-AA92-3F1A243D52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 fontScale="55000" lnSpcReduction="20000"/>
          </a:bodyPr>
          <a:lstStyle/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AU" sz="4400" dirty="0"/>
              <a:t>We could make a list of all the possible ideas:</a:t>
            </a:r>
          </a:p>
          <a:p>
            <a:pPr marL="533400" indent="-533400">
              <a:spcBef>
                <a:spcPts val="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AU" sz="4400" dirty="0"/>
              <a:t>The film is shown as a bedtime story that contains magic and monsters, just like a fairytale.</a:t>
            </a:r>
          </a:p>
          <a:p>
            <a:pPr marL="533400" indent="-533400">
              <a:spcBef>
                <a:spcPts val="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AU" sz="4400" dirty="0"/>
              <a:t>The story is set in a modern suburb with cars and electricity, where appearances are very important.</a:t>
            </a:r>
          </a:p>
          <a:p>
            <a:pPr marL="533400" indent="-533400">
              <a:spcBef>
                <a:spcPts val="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AU" sz="4400" dirty="0"/>
              <a:t>There is a strong focus on beauty and ugliness throughout the film.</a:t>
            </a:r>
          </a:p>
          <a:p>
            <a:pPr marL="533400" indent="-533400">
              <a:spcBef>
                <a:spcPts val="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AU" sz="4400" dirty="0"/>
              <a:t>The main character sells skin-care products, and another runs a hair salon.</a:t>
            </a:r>
          </a:p>
          <a:p>
            <a:pPr marL="533400" indent="-533400">
              <a:spcBef>
                <a:spcPts val="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AU" sz="4400" dirty="0"/>
              <a:t>The main character is scarred and disfigured, but creates beautiful art.</a:t>
            </a:r>
          </a:p>
          <a:p>
            <a:pPr marL="533400" indent="-533400">
              <a:spcBef>
                <a:spcPts val="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AU" sz="4400" dirty="0"/>
              <a:t>Ultimately, inner qualities like honesty and empathy are shown to be more important that appearances.</a:t>
            </a:r>
          </a:p>
        </p:txBody>
      </p:sp>
    </p:spTree>
    <p:extLst>
      <p:ext uri="{BB962C8B-B14F-4D97-AF65-F5344CB8AC3E}">
        <p14:creationId xmlns:p14="http://schemas.microsoft.com/office/powerpoint/2010/main" val="13263248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18C3B-794A-D84D-D52A-01D6BC404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chemeClr val="accent1"/>
                </a:solidFill>
                <a:latin typeface="Amasis MT Pro Light" panose="02040304050005020304" pitchFamily="18" charset="0"/>
              </a:rPr>
              <a:t>Task 2 – Decide on your claims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CAA2F-5EEE-50F9-AA92-3F1A243D52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AU" sz="3000" dirty="0"/>
              <a:t>Out of all those ideas, which do the best job of working together to support our contention?</a:t>
            </a:r>
          </a:p>
          <a:p>
            <a:pPr marL="457200" lvl="1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AU" sz="3000" i="1" dirty="0">
                <a:solidFill>
                  <a:srgbClr val="7030A0"/>
                </a:solidFill>
              </a:rPr>
              <a:t>Edward Scissorhands is a modern-day fairytale that reminds the audience that beauty is more than skin deep.</a:t>
            </a:r>
          </a:p>
        </p:txBody>
      </p:sp>
    </p:spTree>
    <p:extLst>
      <p:ext uri="{BB962C8B-B14F-4D97-AF65-F5344CB8AC3E}">
        <p14:creationId xmlns:p14="http://schemas.microsoft.com/office/powerpoint/2010/main" val="13500585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18C3B-794A-D84D-D52A-01D6BC404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chemeClr val="accent1"/>
                </a:solidFill>
                <a:latin typeface="Amasis MT Pro Light" panose="02040304050005020304" pitchFamily="18" charset="0"/>
              </a:rPr>
              <a:t>Task 2 – Decide on your claims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CAA2F-5EEE-50F9-AA92-3F1A243D52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 lnSpcReduction="10000"/>
          </a:bodyPr>
          <a:lstStyle/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AU" sz="2200" i="1" dirty="0">
                <a:solidFill>
                  <a:srgbClr val="7030A0"/>
                </a:solidFill>
              </a:rPr>
              <a:t>Edward Scissorhands is a modern-day fairytale that reminds the audience that beauty is more than skin deep.</a:t>
            </a:r>
          </a:p>
          <a:p>
            <a:pPr marL="533400" indent="-533400">
              <a:spcBef>
                <a:spcPts val="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AU" sz="2000" b="1" dirty="0"/>
              <a:t>The film is shown as a bedtime story that contains magic and monsters, just like a fairytale.</a:t>
            </a:r>
          </a:p>
          <a:p>
            <a:pPr marL="533400" indent="-533400">
              <a:spcBef>
                <a:spcPts val="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AU" sz="2000" dirty="0">
                <a:solidFill>
                  <a:schemeClr val="bg1">
                    <a:lumMod val="65000"/>
                  </a:schemeClr>
                </a:solidFill>
              </a:rPr>
              <a:t>The story is set in a modern suburb with cars and electricity, where appearances are very important.</a:t>
            </a:r>
          </a:p>
          <a:p>
            <a:pPr marL="533400" indent="-533400">
              <a:spcBef>
                <a:spcPts val="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AU" sz="2000" dirty="0">
                <a:solidFill>
                  <a:schemeClr val="bg1">
                    <a:lumMod val="65000"/>
                  </a:schemeClr>
                </a:solidFill>
              </a:rPr>
              <a:t>There is a strong focus on beauty and ugliness throughout the film.</a:t>
            </a:r>
          </a:p>
          <a:p>
            <a:pPr marL="533400" indent="-533400">
              <a:spcBef>
                <a:spcPts val="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AU" sz="2000" b="1" dirty="0"/>
              <a:t>The main character sells skin-care products, and another runs a hair salon.</a:t>
            </a:r>
          </a:p>
          <a:p>
            <a:pPr marL="533400" indent="-533400">
              <a:spcBef>
                <a:spcPts val="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AU" sz="2000" b="1" dirty="0"/>
              <a:t>The main character is scarred and disfigured, but creates beautiful art.</a:t>
            </a:r>
          </a:p>
          <a:p>
            <a:pPr marL="533400" indent="-533400">
              <a:spcBef>
                <a:spcPts val="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AU" sz="2000" dirty="0">
                <a:solidFill>
                  <a:schemeClr val="bg1">
                    <a:lumMod val="65000"/>
                  </a:schemeClr>
                </a:solidFill>
              </a:rPr>
              <a:t>Ultimately, inner qualities like honesty and empathy are shown to be more important that appearances.</a:t>
            </a:r>
          </a:p>
        </p:txBody>
      </p:sp>
    </p:spTree>
    <p:extLst>
      <p:ext uri="{BB962C8B-B14F-4D97-AF65-F5344CB8AC3E}">
        <p14:creationId xmlns:p14="http://schemas.microsoft.com/office/powerpoint/2010/main" val="34466258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18C3B-794A-D84D-D52A-01D6BC404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chemeClr val="accent1"/>
                </a:solidFill>
                <a:latin typeface="Amasis MT Pro Light" panose="02040304050005020304" pitchFamily="18" charset="0"/>
              </a:rPr>
              <a:t>Task 2 – Decide on your claims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CAA2F-5EEE-50F9-AA92-3F1A243D52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AU" sz="2400" dirty="0"/>
              <a:t>We have now decided on our three claims!</a:t>
            </a:r>
          </a:p>
          <a:p>
            <a:pPr marL="985838" indent="-450850">
              <a:spcBef>
                <a:spcPts val="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AU" sz="2400" dirty="0"/>
              <a:t>The film is shown as a bedtime story that contains magic and monsters, just like a fairytale.</a:t>
            </a:r>
          </a:p>
          <a:p>
            <a:pPr marL="985838" indent="-450850">
              <a:spcBef>
                <a:spcPts val="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AU" sz="2400" dirty="0"/>
              <a:t>The main character sells skin-care products, and another runs a hair salon.</a:t>
            </a:r>
          </a:p>
          <a:p>
            <a:pPr marL="985838" indent="-450850">
              <a:spcBef>
                <a:spcPts val="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AU" sz="2400" dirty="0"/>
              <a:t>The main character is scarred and disfigured, but creates beautiful art.</a:t>
            </a:r>
          </a:p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AU" sz="2400" dirty="0"/>
              <a:t>The other ideas can still be used in our essay though, so don’t delete them!</a:t>
            </a:r>
          </a:p>
        </p:txBody>
      </p:sp>
    </p:spTree>
    <p:extLst>
      <p:ext uri="{BB962C8B-B14F-4D97-AF65-F5344CB8AC3E}">
        <p14:creationId xmlns:p14="http://schemas.microsoft.com/office/powerpoint/2010/main" val="21429771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18C3B-794A-D84D-D52A-01D6BC404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chemeClr val="accent1"/>
                </a:solidFill>
                <a:latin typeface="Amasis MT Pro Light" panose="02040304050005020304" pitchFamily="18" charset="0"/>
              </a:rPr>
              <a:t>Task 2 – Decide on your claims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CAA2F-5EEE-50F9-AA92-3F1A243D52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AU" sz="3600" dirty="0">
                <a:solidFill>
                  <a:srgbClr val="7030A0"/>
                </a:solidFill>
              </a:rPr>
              <a:t>Your task: </a:t>
            </a:r>
          </a:p>
          <a:p>
            <a:pPr marL="742950" indent="-742950">
              <a:spcBef>
                <a:spcPts val="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AU" sz="3600" dirty="0"/>
              <a:t>Open the worksheet </a:t>
            </a:r>
          </a:p>
          <a:p>
            <a:pPr marL="742950" indent="-742950">
              <a:spcBef>
                <a:spcPts val="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AU" sz="3600" dirty="0"/>
              <a:t>Brainstorm as many ideas as you can from the novel that relate to your contention.</a:t>
            </a:r>
          </a:p>
          <a:p>
            <a:pPr marL="742950" indent="-742950">
              <a:spcBef>
                <a:spcPts val="0"/>
              </a:spcBef>
              <a:spcAft>
                <a:spcPts val="1800"/>
              </a:spcAft>
              <a:buFont typeface="+mj-lt"/>
              <a:buAutoNum type="arabicPeriod"/>
            </a:pPr>
            <a:r>
              <a:rPr lang="en-AU" sz="3600" dirty="0"/>
              <a:t>Choose the best three, and copy them into the spaces for Claim 1, Claim 2 and Claim 3.</a:t>
            </a:r>
          </a:p>
        </p:txBody>
      </p:sp>
    </p:spTree>
    <p:extLst>
      <p:ext uri="{BB962C8B-B14F-4D97-AF65-F5344CB8AC3E}">
        <p14:creationId xmlns:p14="http://schemas.microsoft.com/office/powerpoint/2010/main" val="35962814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6846ff6-a39a-4f56-aca6-b2ea1af70d2e">
      <Terms xmlns="http://schemas.microsoft.com/office/infopath/2007/PartnerControls"/>
    </lcf76f155ced4ddcb4097134ff3c332f>
    <TaxCatchAll xmlns="a8299878-b215-4b71-83d0-6b3d83d7e5d9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5A3D4F247C9741BCA78F26B98D0AB7" ma:contentTypeVersion="17" ma:contentTypeDescription="Create a new document." ma:contentTypeScope="" ma:versionID="539b02d923bb555703caf23504a7cb02">
  <xsd:schema xmlns:xsd="http://www.w3.org/2001/XMLSchema" xmlns:xs="http://www.w3.org/2001/XMLSchema" xmlns:p="http://schemas.microsoft.com/office/2006/metadata/properties" xmlns:ns2="46846ff6-a39a-4f56-aca6-b2ea1af70d2e" xmlns:ns3="a8299878-b215-4b71-83d0-6b3d83d7e5d9" targetNamespace="http://schemas.microsoft.com/office/2006/metadata/properties" ma:root="true" ma:fieldsID="e414e06b879c708180ee4e9731c4d399" ns2:_="" ns3:_="">
    <xsd:import namespace="46846ff6-a39a-4f56-aca6-b2ea1af70d2e"/>
    <xsd:import namespace="a8299878-b215-4b71-83d0-6b3d83d7e5d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846ff6-a39a-4f56-aca6-b2ea1af70d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94073e9b-c14b-4f43-8554-77a15894e20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299878-b215-4b71-83d0-6b3d83d7e5d9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19187b04-ede7-4ab0-a3a9-aa9f31dff0a7}" ma:internalName="TaxCatchAll" ma:showField="CatchAllData" ma:web="a8299878-b215-4b71-83d0-6b3d83d7e5d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5208371-0401-47BF-895E-F19603028187}">
  <ds:schemaRefs>
    <ds:schemaRef ds:uri="http://schemas.microsoft.com/office/infopath/2007/PartnerControls"/>
    <ds:schemaRef ds:uri="http://purl.org/dc/dcmitype/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purl.org/dc/elements/1.1/"/>
    <ds:schemaRef ds:uri="a8299878-b215-4b71-83d0-6b3d83d7e5d9"/>
    <ds:schemaRef ds:uri="46846ff6-a39a-4f56-aca6-b2ea1af70d2e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22837DDF-3F63-4D9E-B4C2-9EC52D25331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6846ff6-a39a-4f56-aca6-b2ea1af70d2e"/>
    <ds:schemaRef ds:uri="a8299878-b215-4b71-83d0-6b3d83d7e5d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49305EB-CF98-4E31-B8C6-2D51D1F9323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1731</Words>
  <Application>Microsoft Office PowerPoint</Application>
  <PresentationFormat>Widescreen</PresentationFormat>
  <Paragraphs>178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Amasis MT Pro Light</vt:lpstr>
      <vt:lpstr>Aptos</vt:lpstr>
      <vt:lpstr>Aptos Display</vt:lpstr>
      <vt:lpstr>Arial</vt:lpstr>
      <vt:lpstr>Calibri</vt:lpstr>
      <vt:lpstr>Office Theme</vt:lpstr>
      <vt:lpstr>The Bone Sparrow</vt:lpstr>
      <vt:lpstr>Learning outcomes</vt:lpstr>
      <vt:lpstr>Entry slip</vt:lpstr>
      <vt:lpstr>Arguments</vt:lpstr>
      <vt:lpstr>An argument is:</vt:lpstr>
      <vt:lpstr>Arguments</vt:lpstr>
      <vt:lpstr>Arguments</vt:lpstr>
      <vt:lpstr>Arguments</vt:lpstr>
      <vt:lpstr>Arguments</vt:lpstr>
      <vt:lpstr>Arguments</vt:lpstr>
      <vt:lpstr>Apply what you’ve learned</vt:lpstr>
      <vt:lpstr>Task 1 – Develop a contention</vt:lpstr>
      <vt:lpstr>Task 1 – Develop a contention</vt:lpstr>
      <vt:lpstr>Task 1 – Develop a contention</vt:lpstr>
      <vt:lpstr>Task 1 – Develop a contention</vt:lpstr>
      <vt:lpstr>Task 1 – Develop a contention</vt:lpstr>
      <vt:lpstr>Task 1 – Develop a contention</vt:lpstr>
      <vt:lpstr>Task 1 – Develop a contention</vt:lpstr>
      <vt:lpstr>Decide on your claims</vt:lpstr>
      <vt:lpstr>Task 2 – Decide on your claims</vt:lpstr>
      <vt:lpstr>Task 2 – Decide on your claims</vt:lpstr>
      <vt:lpstr>Task 2 – Decide on your claims</vt:lpstr>
      <vt:lpstr>Task 2 – Decide on your claims</vt:lpstr>
      <vt:lpstr>Task 2 – Decide on your claims</vt:lpstr>
      <vt:lpstr>Task 2 – Decide on your claims</vt:lpstr>
      <vt:lpstr>Task 2 – Decide on your claims</vt:lpstr>
      <vt:lpstr>Task 2 – Decide on your claims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</cp:revision>
  <dcterms:created xsi:type="dcterms:W3CDTF">2024-10-16T02:30:45Z</dcterms:created>
  <dcterms:modified xsi:type="dcterms:W3CDTF">2025-10-17T01:46:55Z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0x010100AC5A3D4F247C9741BCA78F26B98D0AB7</vt:lpwstr>
  </property>
  <property fmtid="{D5CDD505-2E9C-101B-9397-08002B2CF9AE}" pid="3" name="MediaServiceImageTags">
    <vt:lpwstr/>
  </property>
</Properties>
</file>