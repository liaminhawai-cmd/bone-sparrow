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5" d="100"/>
          <a:sy n="75" d="100"/>
        </p:scale>
        <p:origin x="284" y="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0C215-3A93-2013-BAC1-3B1A4E165B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4D37BD3-584A-F0D8-AD15-6732F927C9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61E0CDB-5E96-546F-CB98-AF61F12065FE}"/>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5" name="Footer Placeholder 4">
            <a:extLst>
              <a:ext uri="{FF2B5EF4-FFF2-40B4-BE49-F238E27FC236}">
                <a16:creationId xmlns:a16="http://schemas.microsoft.com/office/drawing/2014/main" id="{FB187870-4E33-CB06-DD02-3A0E6ACA896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3F089D3-951F-F8B9-4613-F444953602C6}"/>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1156685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C6214-778F-29A8-A992-537A8523172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3AE7B91-90AC-8BC7-ABD7-165DB89CD2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D5B2988-D47A-A236-788B-FF081AA1839D}"/>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5" name="Footer Placeholder 4">
            <a:extLst>
              <a:ext uri="{FF2B5EF4-FFF2-40B4-BE49-F238E27FC236}">
                <a16:creationId xmlns:a16="http://schemas.microsoft.com/office/drawing/2014/main" id="{36478AF6-7DF5-F862-2FEA-B337F4906AB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D3D3E41-8149-BF6D-B835-A8ED60C92533}"/>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2219609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4844-0BFF-53E7-AB0D-66A3156A3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44B989D4-8DBF-F4E7-D848-8144D22342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B229C6-8196-8E5E-9494-1D401851FD3E}"/>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5" name="Footer Placeholder 4">
            <a:extLst>
              <a:ext uri="{FF2B5EF4-FFF2-40B4-BE49-F238E27FC236}">
                <a16:creationId xmlns:a16="http://schemas.microsoft.com/office/drawing/2014/main" id="{2F5486E4-4DDC-1597-7084-BEC9EB7F83E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5B4B071-731A-9018-F84F-194BE9B5B6DC}"/>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235108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094F5-984D-2965-A720-B58EA0C0257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24DD3ED-4BA9-F917-17DB-5B094BC7F8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4AB181D-4362-221E-68F2-7FF996606B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86749AF-C82E-65F7-D17D-162BF82A08BA}"/>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6" name="Footer Placeholder 5">
            <a:extLst>
              <a:ext uri="{FF2B5EF4-FFF2-40B4-BE49-F238E27FC236}">
                <a16:creationId xmlns:a16="http://schemas.microsoft.com/office/drawing/2014/main" id="{D674C4E6-084E-AB92-3106-0F161DF50C6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9A91453-F682-BE8B-6A94-CBCEC6AFEC64}"/>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353019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09C0-178D-645E-B368-4B89FC47C17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309A4E7-CEB0-A1A0-CE13-0450B00C12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F803AD-D8FA-FC41-95F3-2227AD83CB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3D0561E-4CA9-6C47-956A-42B831179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BABE51-CC99-7F48-F7D7-0C2B8FCE5B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94E2E0BA-C66E-7FC1-F7CF-8A5B55EF80D3}"/>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8" name="Footer Placeholder 7">
            <a:extLst>
              <a:ext uri="{FF2B5EF4-FFF2-40B4-BE49-F238E27FC236}">
                <a16:creationId xmlns:a16="http://schemas.microsoft.com/office/drawing/2014/main" id="{F55CCC88-7A8F-2F1B-7F81-565A88986E4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11F861D6-F200-DF2A-93D5-58375F04CE0A}"/>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4223177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DA944-73D3-F563-1F6F-E864532E7BB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291137E-B1DB-4878-84EE-1CBD756B0221}"/>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4" name="Footer Placeholder 3">
            <a:extLst>
              <a:ext uri="{FF2B5EF4-FFF2-40B4-BE49-F238E27FC236}">
                <a16:creationId xmlns:a16="http://schemas.microsoft.com/office/drawing/2014/main" id="{EABAA1AC-EBF5-5E97-59DC-9DFFB240406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248322E3-9C0B-D34E-4E9F-4ACD6668134D}"/>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3246212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EECF26-AA70-DD20-FE97-32C862204AEF}"/>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3" name="Footer Placeholder 2">
            <a:extLst>
              <a:ext uri="{FF2B5EF4-FFF2-40B4-BE49-F238E27FC236}">
                <a16:creationId xmlns:a16="http://schemas.microsoft.com/office/drawing/2014/main" id="{4E989101-573B-6582-162F-8B68C49C606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C529666-397A-701D-347D-1D8D220BB9C2}"/>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657662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08E4-A536-79C8-E0E4-891EC6D5D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2E319220-E5DA-C6C1-CC68-FA3D601D4A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21656950-628C-FAC3-75A6-76ACA7C9FC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096B6A-0E75-D9BB-6485-CEC531E56833}"/>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6" name="Footer Placeholder 5">
            <a:extLst>
              <a:ext uri="{FF2B5EF4-FFF2-40B4-BE49-F238E27FC236}">
                <a16:creationId xmlns:a16="http://schemas.microsoft.com/office/drawing/2014/main" id="{1D9D6BD3-39BE-67DC-EA49-AE20360BADE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FA35CC9-DC9A-37F2-4045-F8F6AE0B1E60}"/>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633314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768A-1F84-CABB-2FD4-0C0887F655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461764E-9756-2684-3E84-AA5D51BFA9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CAC3A65-BD02-7833-68E4-1CE2E3F68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BF84A3-4C9A-0781-579B-A5C570CB51D2}"/>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6" name="Footer Placeholder 5">
            <a:extLst>
              <a:ext uri="{FF2B5EF4-FFF2-40B4-BE49-F238E27FC236}">
                <a16:creationId xmlns:a16="http://schemas.microsoft.com/office/drawing/2014/main" id="{2FC58C71-F02D-0956-AE8F-C16D1720FF6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74255F3-B21F-00E0-6E2D-50EAFD7B1F07}"/>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3006179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1C101-A386-5B49-B9A3-9BED38A0635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715B6B1-2E50-531D-8BFE-DF39E943D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3CB9750-364E-19AA-6474-03151127454A}"/>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5" name="Footer Placeholder 4">
            <a:extLst>
              <a:ext uri="{FF2B5EF4-FFF2-40B4-BE49-F238E27FC236}">
                <a16:creationId xmlns:a16="http://schemas.microsoft.com/office/drawing/2014/main" id="{E248406A-4E8D-A996-8C03-589638B5A67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E7F55A0-5274-47EB-2964-289F34982368}"/>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236275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BF8C7C-02CD-AB80-4EEE-85E2497119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50C23FD-AC14-1B18-41D4-4FC7B0235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5821C94-78E6-7990-D84E-D48D2DB70D3B}"/>
              </a:ext>
            </a:extLst>
          </p:cNvPr>
          <p:cNvSpPr>
            <a:spLocks noGrp="1"/>
          </p:cNvSpPr>
          <p:nvPr>
            <p:ph type="dt" sz="half" idx="10"/>
          </p:nvPr>
        </p:nvSpPr>
        <p:spPr/>
        <p:txBody>
          <a:bodyPr/>
          <a:lstStyle/>
          <a:p>
            <a:fld id="{75047D99-2579-4439-8AA6-7ECA114F65A4}" type="datetimeFigureOut">
              <a:rPr lang="en-AU" smtClean="0"/>
              <a:t>8/09/2022</a:t>
            </a:fld>
            <a:endParaRPr lang="en-AU"/>
          </a:p>
        </p:txBody>
      </p:sp>
      <p:sp>
        <p:nvSpPr>
          <p:cNvPr id="5" name="Footer Placeholder 4">
            <a:extLst>
              <a:ext uri="{FF2B5EF4-FFF2-40B4-BE49-F238E27FC236}">
                <a16:creationId xmlns:a16="http://schemas.microsoft.com/office/drawing/2014/main" id="{6AF864DF-50D8-A0F2-292F-45210097008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4D45295-313A-D3C3-4553-EC53CB98C14F}"/>
              </a:ext>
            </a:extLst>
          </p:cNvPr>
          <p:cNvSpPr>
            <a:spLocks noGrp="1"/>
          </p:cNvSpPr>
          <p:nvPr>
            <p:ph type="sldNum" sz="quarter" idx="12"/>
          </p:nvPr>
        </p:nvSpPr>
        <p:spPr/>
        <p:txBody>
          <a:bodyPr/>
          <a:lstStyle/>
          <a:p>
            <a:fld id="{637E0776-58AD-4158-B7AE-FCF65193857F}" type="slidenum">
              <a:rPr lang="en-AU" smtClean="0"/>
              <a:t>‹#›</a:t>
            </a:fld>
            <a:endParaRPr lang="en-AU"/>
          </a:p>
        </p:txBody>
      </p:sp>
    </p:spTree>
    <p:extLst>
      <p:ext uri="{BB962C8B-B14F-4D97-AF65-F5344CB8AC3E}">
        <p14:creationId xmlns:p14="http://schemas.microsoft.com/office/powerpoint/2010/main" val="2122234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42D4F0-CBFE-F4EC-BED2-0927C2FC6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C102EFC-1D31-4F55-6220-A05E5DA3D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7801371-E630-881F-D9FA-F822CDA8A5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047D99-2579-4439-8AA6-7ECA114F65A4}" type="datetimeFigureOut">
              <a:rPr lang="en-AU" smtClean="0"/>
              <a:t>8/09/2022</a:t>
            </a:fld>
            <a:endParaRPr lang="en-AU"/>
          </a:p>
        </p:txBody>
      </p:sp>
      <p:sp>
        <p:nvSpPr>
          <p:cNvPr id="5" name="Footer Placeholder 4">
            <a:extLst>
              <a:ext uri="{FF2B5EF4-FFF2-40B4-BE49-F238E27FC236}">
                <a16:creationId xmlns:a16="http://schemas.microsoft.com/office/drawing/2014/main" id="{17619021-E6A7-4D1C-1D37-D613458105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18D03A-CF2C-2086-444C-D3AFD0C89C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7E0776-58AD-4158-B7AE-FCF65193857F}" type="slidenum">
              <a:rPr lang="en-AU" smtClean="0"/>
              <a:t>‹#›</a:t>
            </a:fld>
            <a:endParaRPr lang="en-AU"/>
          </a:p>
        </p:txBody>
      </p:sp>
    </p:spTree>
    <p:extLst>
      <p:ext uri="{BB962C8B-B14F-4D97-AF65-F5344CB8AC3E}">
        <p14:creationId xmlns:p14="http://schemas.microsoft.com/office/powerpoint/2010/main" val="3792717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347E-506C-39F4-D9EF-53FA0A92A0D7}"/>
              </a:ext>
            </a:extLst>
          </p:cNvPr>
          <p:cNvSpPr>
            <a:spLocks noGrp="1"/>
          </p:cNvSpPr>
          <p:nvPr>
            <p:ph type="ctrTitle"/>
          </p:nvPr>
        </p:nvSpPr>
        <p:spPr/>
        <p:txBody>
          <a:bodyPr/>
          <a:lstStyle/>
          <a:p>
            <a:r>
              <a:rPr lang="en-AU" dirty="0"/>
              <a:t>Writing a body paragraph</a:t>
            </a:r>
          </a:p>
        </p:txBody>
      </p:sp>
      <p:sp>
        <p:nvSpPr>
          <p:cNvPr id="3" name="Subtitle 2">
            <a:extLst>
              <a:ext uri="{FF2B5EF4-FFF2-40B4-BE49-F238E27FC236}">
                <a16:creationId xmlns:a16="http://schemas.microsoft.com/office/drawing/2014/main" id="{91FF1F13-7997-F1F1-F092-284438ECDEED}"/>
              </a:ext>
            </a:extLst>
          </p:cNvPr>
          <p:cNvSpPr>
            <a:spLocks noGrp="1"/>
          </p:cNvSpPr>
          <p:nvPr>
            <p:ph type="subTitle" idx="1"/>
          </p:nvPr>
        </p:nvSpPr>
        <p:spPr/>
        <p:txBody>
          <a:bodyPr/>
          <a:lstStyle/>
          <a:p>
            <a:r>
              <a:rPr lang="en-AU" dirty="0"/>
              <a:t>Paragraphs for your supporting arguments! </a:t>
            </a:r>
          </a:p>
        </p:txBody>
      </p:sp>
      <p:pic>
        <p:nvPicPr>
          <p:cNvPr id="5" name="Picture 4">
            <a:extLst>
              <a:ext uri="{FF2B5EF4-FFF2-40B4-BE49-F238E27FC236}">
                <a16:creationId xmlns:a16="http://schemas.microsoft.com/office/drawing/2014/main" id="{4CD5AEA4-92D5-5AF1-2D33-4D31FCAB00F6}"/>
              </a:ext>
            </a:extLst>
          </p:cNvPr>
          <p:cNvPicPr>
            <a:picLocks noChangeAspect="1"/>
          </p:cNvPicPr>
          <p:nvPr/>
        </p:nvPicPr>
        <p:blipFill>
          <a:blip r:embed="rId2"/>
          <a:stretch>
            <a:fillRect/>
          </a:stretch>
        </p:blipFill>
        <p:spPr>
          <a:xfrm>
            <a:off x="10259337" y="3810786"/>
            <a:ext cx="1932663" cy="3029752"/>
          </a:xfrm>
          <a:prstGeom prst="rect">
            <a:avLst/>
          </a:prstGeom>
        </p:spPr>
      </p:pic>
      <p:pic>
        <p:nvPicPr>
          <p:cNvPr id="7" name="Picture 6">
            <a:extLst>
              <a:ext uri="{FF2B5EF4-FFF2-40B4-BE49-F238E27FC236}">
                <a16:creationId xmlns:a16="http://schemas.microsoft.com/office/drawing/2014/main" id="{41DDD8EC-297D-E5CB-00DD-65D9BCA01312}"/>
              </a:ext>
            </a:extLst>
          </p:cNvPr>
          <p:cNvPicPr>
            <a:picLocks noChangeAspect="1"/>
          </p:cNvPicPr>
          <p:nvPr/>
        </p:nvPicPr>
        <p:blipFill>
          <a:blip r:embed="rId2"/>
          <a:stretch>
            <a:fillRect/>
          </a:stretch>
        </p:blipFill>
        <p:spPr>
          <a:xfrm>
            <a:off x="0" y="3850640"/>
            <a:ext cx="1932663" cy="3029752"/>
          </a:xfrm>
          <a:prstGeom prst="rect">
            <a:avLst/>
          </a:prstGeom>
        </p:spPr>
      </p:pic>
    </p:spTree>
    <p:extLst>
      <p:ext uri="{BB962C8B-B14F-4D97-AF65-F5344CB8AC3E}">
        <p14:creationId xmlns:p14="http://schemas.microsoft.com/office/powerpoint/2010/main" val="3502970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Content Placeholder 5">
            <a:extLst>
              <a:ext uri="{FF2B5EF4-FFF2-40B4-BE49-F238E27FC236}">
                <a16:creationId xmlns:a16="http://schemas.microsoft.com/office/drawing/2014/main" id="{C37D9D2F-55FC-35F3-A3BE-534D8A12B491}"/>
              </a:ext>
            </a:extLst>
          </p:cNvPr>
          <p:cNvSpPr>
            <a:spLocks noGrp="1"/>
          </p:cNvSpPr>
          <p:nvPr>
            <p:ph idx="1"/>
          </p:nvPr>
        </p:nvSpPr>
        <p:spPr>
          <a:xfrm>
            <a:off x="838200" y="1825625"/>
            <a:ext cx="3457575" cy="4351338"/>
          </a:xfrm>
        </p:spPr>
        <p:txBody>
          <a:bodyPr/>
          <a:lstStyle/>
          <a:p>
            <a:r>
              <a:rPr lang="en-AU" dirty="0"/>
              <a:t>The middle paragraphs are where you expand on the ideas you introduced in your introduction</a:t>
            </a:r>
          </a:p>
          <a:p>
            <a:endParaRPr lang="en-AU" dirty="0"/>
          </a:p>
          <a:p>
            <a:endParaRPr lang="en-AU" dirty="0"/>
          </a:p>
          <a:p>
            <a:pPr marL="0" indent="0">
              <a:buNone/>
            </a:pPr>
            <a:endParaRPr lang="en-AU" dirty="0"/>
          </a:p>
        </p:txBody>
      </p:sp>
      <p:pic>
        <p:nvPicPr>
          <p:cNvPr id="10" name="Picture 9">
            <a:extLst>
              <a:ext uri="{FF2B5EF4-FFF2-40B4-BE49-F238E27FC236}">
                <a16:creationId xmlns:a16="http://schemas.microsoft.com/office/drawing/2014/main" id="{11DE0771-BABD-937D-05F2-72F48E7A1530}"/>
              </a:ext>
            </a:extLst>
          </p:cNvPr>
          <p:cNvPicPr>
            <a:picLocks noChangeAspect="1"/>
          </p:cNvPicPr>
          <p:nvPr/>
        </p:nvPicPr>
        <p:blipFill>
          <a:blip r:embed="rId2"/>
          <a:stretch>
            <a:fillRect/>
          </a:stretch>
        </p:blipFill>
        <p:spPr>
          <a:xfrm>
            <a:off x="4714113" y="514350"/>
            <a:ext cx="7058025" cy="5829300"/>
          </a:xfrm>
          <a:prstGeom prst="rect">
            <a:avLst/>
          </a:prstGeom>
        </p:spPr>
      </p:pic>
    </p:spTree>
    <p:extLst>
      <p:ext uri="{BB962C8B-B14F-4D97-AF65-F5344CB8AC3E}">
        <p14:creationId xmlns:p14="http://schemas.microsoft.com/office/powerpoint/2010/main" val="2548011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6E92-C5B6-2931-7708-69C9D73F98C8}"/>
              </a:ext>
            </a:extLst>
          </p:cNvPr>
          <p:cNvSpPr>
            <a:spLocks noGrp="1"/>
          </p:cNvSpPr>
          <p:nvPr>
            <p:ph type="title"/>
          </p:nvPr>
        </p:nvSpPr>
        <p:spPr/>
        <p:txBody>
          <a:bodyPr/>
          <a:lstStyle/>
          <a:p>
            <a:r>
              <a:rPr lang="en-AU" dirty="0"/>
              <a:t>Example introduction:</a:t>
            </a:r>
          </a:p>
        </p:txBody>
      </p:sp>
      <p:sp>
        <p:nvSpPr>
          <p:cNvPr id="3" name="Content Placeholder 2">
            <a:extLst>
              <a:ext uri="{FF2B5EF4-FFF2-40B4-BE49-F238E27FC236}">
                <a16:creationId xmlns:a16="http://schemas.microsoft.com/office/drawing/2014/main" id="{D96A0B00-C7B0-8FE5-DEE3-E26D22D1F2D5}"/>
              </a:ext>
            </a:extLst>
          </p:cNvPr>
          <p:cNvSpPr>
            <a:spLocks noGrp="1"/>
          </p:cNvSpPr>
          <p:nvPr>
            <p:ph idx="1"/>
          </p:nvPr>
        </p:nvSpPr>
        <p:spPr/>
        <p:txBody>
          <a:bodyPr/>
          <a:lstStyle/>
          <a:p>
            <a:pPr marL="0" indent="0">
              <a:buNone/>
            </a:pPr>
            <a:r>
              <a:rPr lang="en-AU"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novel </a:t>
            </a:r>
            <a:r>
              <a:rPr lang="en-AU" b="1"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Bone Sparrow </a:t>
            </a:r>
            <a:r>
              <a:rPr lang="en-AU" b="1"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written by Zara Fraillon explores themes of love and hope</a:t>
            </a:r>
            <a:r>
              <a:rPr lang="en-AU" b="1" dirty="0">
                <a:effectLst/>
                <a:latin typeface="Calibri" panose="020F0502020204030204" pitchFamily="34" charset="0"/>
                <a:ea typeface="Calibri" panose="020F0502020204030204" pitchFamily="34" charset="0"/>
                <a:cs typeface="Times New Roman" panose="02020603050405020304" pitchFamily="18" charset="0"/>
              </a:rPr>
              <a:t>. </a:t>
            </a:r>
            <a:r>
              <a:rPr lang="en-AU"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The story suggests that the most important thing in the world is friendship, this is displayed and proven throughout the text. </a:t>
            </a:r>
            <a:r>
              <a:rPr lang="en-AU" b="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Even his relationship with older characters like Nasir and Harvey brought happiness to Subhi’s life. Furthermore, the most crucial friendship of the novel, with Jimmie, made great pain, loss and suffering something Subhi was able to get through because he had people by his side. </a:t>
            </a:r>
            <a:r>
              <a:rPr lang="en-AU" b="1" u="sng" dirty="0">
                <a:effectLst/>
                <a:latin typeface="Calibri" panose="020F0502020204030204" pitchFamily="34" charset="0"/>
                <a:ea typeface="Calibri" panose="020F0502020204030204" pitchFamily="34" charset="0"/>
                <a:cs typeface="Times New Roman" panose="02020603050405020304" pitchFamily="18" charset="0"/>
              </a:rPr>
              <a:t>The Bone Sparrow </a:t>
            </a:r>
            <a:r>
              <a:rPr lang="en-AU" b="1" dirty="0">
                <a:effectLst/>
                <a:latin typeface="Calibri" panose="020F0502020204030204" pitchFamily="34" charset="0"/>
                <a:ea typeface="Calibri" panose="020F0502020204030204" pitchFamily="34" charset="0"/>
                <a:cs typeface="Times New Roman" panose="02020603050405020304" pitchFamily="18" charset="0"/>
              </a:rPr>
              <a:t>teaches that challenges and hardships are saved by friendship. </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Tree>
    <p:extLst>
      <p:ext uri="{BB962C8B-B14F-4D97-AF65-F5344CB8AC3E}">
        <p14:creationId xmlns:p14="http://schemas.microsoft.com/office/powerpoint/2010/main" val="4120808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6E92-C5B6-2931-7708-69C9D73F98C8}"/>
              </a:ext>
            </a:extLst>
          </p:cNvPr>
          <p:cNvSpPr>
            <a:spLocks noGrp="1"/>
          </p:cNvSpPr>
          <p:nvPr>
            <p:ph type="title"/>
          </p:nvPr>
        </p:nvSpPr>
        <p:spPr/>
        <p:txBody>
          <a:bodyPr/>
          <a:lstStyle/>
          <a:p>
            <a:r>
              <a:rPr lang="en-AU" dirty="0"/>
              <a:t>Example introduction:</a:t>
            </a:r>
          </a:p>
        </p:txBody>
      </p:sp>
      <p:sp>
        <p:nvSpPr>
          <p:cNvPr id="3" name="Content Placeholder 2">
            <a:extLst>
              <a:ext uri="{FF2B5EF4-FFF2-40B4-BE49-F238E27FC236}">
                <a16:creationId xmlns:a16="http://schemas.microsoft.com/office/drawing/2014/main" id="{D96A0B00-C7B0-8FE5-DEE3-E26D22D1F2D5}"/>
              </a:ext>
            </a:extLst>
          </p:cNvPr>
          <p:cNvSpPr>
            <a:spLocks noGrp="1"/>
          </p:cNvSpPr>
          <p:nvPr>
            <p:ph idx="1"/>
          </p:nvPr>
        </p:nvSpPr>
        <p:spPr>
          <a:xfrm>
            <a:off x="838200" y="1825624"/>
            <a:ext cx="10515600" cy="5032375"/>
          </a:xfrm>
        </p:spPr>
        <p:txBody>
          <a:bodyPr>
            <a:normAutofit/>
          </a:bodyPr>
          <a:lstStyle/>
          <a:p>
            <a:pPr marL="0" indent="0">
              <a:buNone/>
            </a:pPr>
            <a:r>
              <a:rPr lang="en-AU"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novel </a:t>
            </a:r>
            <a:r>
              <a:rPr lang="en-AU" b="1"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Bone Sparrow </a:t>
            </a:r>
            <a:r>
              <a:rPr lang="en-AU" b="1"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written by Zara Fraillon explores themes of love and hope</a:t>
            </a:r>
            <a:r>
              <a:rPr lang="en-AU" b="1" dirty="0">
                <a:effectLst/>
                <a:latin typeface="Calibri" panose="020F0502020204030204" pitchFamily="34" charset="0"/>
                <a:ea typeface="Calibri" panose="020F0502020204030204" pitchFamily="34" charset="0"/>
                <a:cs typeface="Times New Roman" panose="02020603050405020304" pitchFamily="18" charset="0"/>
              </a:rPr>
              <a:t>. </a:t>
            </a:r>
            <a:r>
              <a:rPr lang="en-AU"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The story suggests that the most important thing in the world is friendship, this is displayed and proven throughout the text. </a:t>
            </a:r>
            <a:r>
              <a:rPr lang="en-AU" b="1" dirty="0">
                <a:solidFill>
                  <a:srgbClr val="7030A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a:t>
            </a:r>
            <a:r>
              <a:rPr lang="en-AU" b="1" dirty="0">
                <a:solidFill>
                  <a:srgbClr val="7030A0"/>
                </a:solidFill>
                <a:effectLst/>
                <a:highlight>
                  <a:srgbClr val="00FF00"/>
                </a:highlight>
                <a:latin typeface="Calibri" panose="020F0502020204030204" pitchFamily="34" charset="0"/>
                <a:ea typeface="Calibri" panose="020F0502020204030204" pitchFamily="34" charset="0"/>
                <a:cs typeface="Times New Roman" panose="02020603050405020304" pitchFamily="18" charset="0"/>
              </a:rPr>
              <a:t>Even his relationship with older characters like Nasir and Harvey brought happiness to Subhi’s life. </a:t>
            </a:r>
            <a:r>
              <a:rPr lang="en-AU" b="1" dirty="0">
                <a:solidFill>
                  <a:srgbClr val="7030A0"/>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rPr>
              <a:t>Furthermore, the most crucial friendship of the novel, with Jimmie, made great pain, loss and suffering something Subhi was able to get through because he had people by his side.</a:t>
            </a:r>
            <a:r>
              <a:rPr lang="en-AU" b="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 </a:t>
            </a:r>
            <a:r>
              <a:rPr lang="en-AU" b="1" u="sng" dirty="0">
                <a:effectLst/>
                <a:latin typeface="Calibri" panose="020F0502020204030204" pitchFamily="34" charset="0"/>
                <a:ea typeface="Calibri" panose="020F0502020204030204" pitchFamily="34" charset="0"/>
                <a:cs typeface="Times New Roman" panose="02020603050405020304" pitchFamily="18" charset="0"/>
              </a:rPr>
              <a:t>The Bone Sparrow </a:t>
            </a:r>
            <a:r>
              <a:rPr lang="en-AU" b="1" dirty="0">
                <a:effectLst/>
                <a:latin typeface="Calibri" panose="020F0502020204030204" pitchFamily="34" charset="0"/>
                <a:ea typeface="Calibri" panose="020F0502020204030204" pitchFamily="34" charset="0"/>
                <a:cs typeface="Times New Roman" panose="02020603050405020304" pitchFamily="18" charset="0"/>
              </a:rPr>
              <a:t>teaches that challenges and hardships are saved by friendship. </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a:p>
            <a:pPr marL="0" indent="0">
              <a:buNone/>
            </a:pPr>
            <a:r>
              <a:rPr lang="en-AU" b="1" dirty="0">
                <a:solidFill>
                  <a:srgbClr val="7030A0"/>
                </a:solidFill>
                <a:highlight>
                  <a:srgbClr val="FFFF00"/>
                </a:highlight>
              </a:rPr>
              <a:t>Idea 1    </a:t>
            </a:r>
            <a:r>
              <a:rPr lang="en-AU" b="1" dirty="0">
                <a:solidFill>
                  <a:srgbClr val="7030A0"/>
                </a:solidFill>
                <a:highlight>
                  <a:srgbClr val="00FF00"/>
                </a:highlight>
              </a:rPr>
              <a:t>Idea 2    </a:t>
            </a:r>
            <a:r>
              <a:rPr lang="en-AU" b="1" dirty="0">
                <a:solidFill>
                  <a:srgbClr val="7030A0"/>
                </a:solidFill>
                <a:highlight>
                  <a:srgbClr val="00FFFF"/>
                </a:highlight>
              </a:rPr>
              <a:t>Idea 3      </a:t>
            </a:r>
            <a:r>
              <a:rPr lang="en-AU" sz="2400" b="1" dirty="0">
                <a:sym typeface="Wingdings" panose="05000000000000000000" pitchFamily="2" charset="2"/>
              </a:rPr>
              <a:t> each idea will be expanded in a paragraph</a:t>
            </a:r>
            <a:endParaRPr lang="en-AU" b="1" dirty="0"/>
          </a:p>
        </p:txBody>
      </p:sp>
    </p:spTree>
    <p:extLst>
      <p:ext uri="{BB962C8B-B14F-4D97-AF65-F5344CB8AC3E}">
        <p14:creationId xmlns:p14="http://schemas.microsoft.com/office/powerpoint/2010/main" val="2900008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5482-236B-0A4D-BB72-F1FDD7B1AE54}"/>
              </a:ext>
            </a:extLst>
          </p:cNvPr>
          <p:cNvSpPr>
            <a:spLocks noGrp="1"/>
          </p:cNvSpPr>
          <p:nvPr>
            <p:ph type="title"/>
          </p:nvPr>
        </p:nvSpPr>
        <p:spPr/>
        <p:txBody>
          <a:bodyPr/>
          <a:lstStyle/>
          <a:p>
            <a:r>
              <a:rPr lang="en-AU" dirty="0"/>
              <a:t>Structure of a body paragraph</a:t>
            </a:r>
          </a:p>
        </p:txBody>
      </p:sp>
      <p:sp>
        <p:nvSpPr>
          <p:cNvPr id="3" name="Content Placeholder 2">
            <a:extLst>
              <a:ext uri="{FF2B5EF4-FFF2-40B4-BE49-F238E27FC236}">
                <a16:creationId xmlns:a16="http://schemas.microsoft.com/office/drawing/2014/main" id="{78BFC4DC-08CC-E375-4365-1ABE824F0B29}"/>
              </a:ext>
            </a:extLst>
          </p:cNvPr>
          <p:cNvSpPr>
            <a:spLocks noGrp="1"/>
          </p:cNvSpPr>
          <p:nvPr>
            <p:ph idx="1"/>
          </p:nvPr>
        </p:nvSpPr>
        <p:spPr>
          <a:xfrm>
            <a:off x="838200" y="1825625"/>
            <a:ext cx="6924472" cy="4351338"/>
          </a:xfrm>
        </p:spPr>
        <p:txBody>
          <a:bodyPr/>
          <a:lstStyle/>
          <a:p>
            <a:r>
              <a:rPr lang="en-AU" dirty="0"/>
              <a:t>Begin with a </a:t>
            </a:r>
            <a:r>
              <a:rPr lang="en-AU" b="1" dirty="0">
                <a:solidFill>
                  <a:srgbClr val="FF0000"/>
                </a:solidFill>
              </a:rPr>
              <a:t>TOPIC SENTENCE</a:t>
            </a:r>
          </a:p>
          <a:p>
            <a:r>
              <a:rPr lang="en-AU" dirty="0"/>
              <a:t>Expand on your topic with further </a:t>
            </a:r>
            <a:r>
              <a:rPr lang="en-AU" b="1" dirty="0">
                <a:solidFill>
                  <a:srgbClr val="00B050"/>
                </a:solidFill>
              </a:rPr>
              <a:t>EXPLANATION</a:t>
            </a:r>
            <a:r>
              <a:rPr lang="en-AU" dirty="0"/>
              <a:t> and </a:t>
            </a:r>
            <a:r>
              <a:rPr lang="en-AU" b="1" dirty="0">
                <a:solidFill>
                  <a:srgbClr val="0070C0"/>
                </a:solidFill>
              </a:rPr>
              <a:t>EVIDENCE</a:t>
            </a:r>
            <a:r>
              <a:rPr lang="en-AU" dirty="0"/>
              <a:t> (quotes) from the novel</a:t>
            </a:r>
          </a:p>
          <a:p>
            <a:r>
              <a:rPr lang="en-AU" dirty="0"/>
              <a:t>Finish by </a:t>
            </a:r>
            <a:r>
              <a:rPr lang="en-AU" b="1" dirty="0">
                <a:solidFill>
                  <a:srgbClr val="7030A0"/>
                </a:solidFill>
              </a:rPr>
              <a:t>LINKING BACK </a:t>
            </a:r>
            <a:r>
              <a:rPr lang="en-AU" dirty="0"/>
              <a:t>to your topic</a:t>
            </a:r>
          </a:p>
        </p:txBody>
      </p:sp>
      <p:pic>
        <p:nvPicPr>
          <p:cNvPr id="5" name="Picture 4">
            <a:extLst>
              <a:ext uri="{FF2B5EF4-FFF2-40B4-BE49-F238E27FC236}">
                <a16:creationId xmlns:a16="http://schemas.microsoft.com/office/drawing/2014/main" id="{C21EB599-F488-7316-AEB3-EDEF8A189F2E}"/>
              </a:ext>
            </a:extLst>
          </p:cNvPr>
          <p:cNvPicPr>
            <a:picLocks noChangeAspect="1"/>
          </p:cNvPicPr>
          <p:nvPr/>
        </p:nvPicPr>
        <p:blipFill>
          <a:blip r:embed="rId2"/>
          <a:stretch>
            <a:fillRect/>
          </a:stretch>
        </p:blipFill>
        <p:spPr>
          <a:xfrm>
            <a:off x="9663011" y="365125"/>
            <a:ext cx="2152650" cy="2171700"/>
          </a:xfrm>
          <a:prstGeom prst="rect">
            <a:avLst/>
          </a:prstGeom>
        </p:spPr>
      </p:pic>
      <p:pic>
        <p:nvPicPr>
          <p:cNvPr id="7" name="Picture 6">
            <a:extLst>
              <a:ext uri="{FF2B5EF4-FFF2-40B4-BE49-F238E27FC236}">
                <a16:creationId xmlns:a16="http://schemas.microsoft.com/office/drawing/2014/main" id="{944DD012-AD3C-1789-4C16-7183BC735990}"/>
              </a:ext>
            </a:extLst>
          </p:cNvPr>
          <p:cNvPicPr>
            <a:picLocks noChangeAspect="1"/>
          </p:cNvPicPr>
          <p:nvPr/>
        </p:nvPicPr>
        <p:blipFill>
          <a:blip r:embed="rId3"/>
          <a:stretch>
            <a:fillRect/>
          </a:stretch>
        </p:blipFill>
        <p:spPr>
          <a:xfrm>
            <a:off x="9469775" y="2815257"/>
            <a:ext cx="2539122" cy="1186037"/>
          </a:xfrm>
          <a:prstGeom prst="rect">
            <a:avLst/>
          </a:prstGeom>
        </p:spPr>
      </p:pic>
    </p:spTree>
    <p:extLst>
      <p:ext uri="{BB962C8B-B14F-4D97-AF65-F5344CB8AC3E}">
        <p14:creationId xmlns:p14="http://schemas.microsoft.com/office/powerpoint/2010/main" val="3303513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6E92-C5B6-2931-7708-69C9D73F98C8}"/>
              </a:ext>
            </a:extLst>
          </p:cNvPr>
          <p:cNvSpPr>
            <a:spLocks noGrp="1"/>
          </p:cNvSpPr>
          <p:nvPr>
            <p:ph type="title"/>
          </p:nvPr>
        </p:nvSpPr>
        <p:spPr/>
        <p:txBody>
          <a:bodyPr/>
          <a:lstStyle/>
          <a:p>
            <a:r>
              <a:rPr lang="en-AU" dirty="0"/>
              <a:t>Example introduction:</a:t>
            </a:r>
          </a:p>
        </p:txBody>
      </p:sp>
      <p:sp>
        <p:nvSpPr>
          <p:cNvPr id="3" name="Content Placeholder 2">
            <a:extLst>
              <a:ext uri="{FF2B5EF4-FFF2-40B4-BE49-F238E27FC236}">
                <a16:creationId xmlns:a16="http://schemas.microsoft.com/office/drawing/2014/main" id="{D96A0B00-C7B0-8FE5-DEE3-E26D22D1F2D5}"/>
              </a:ext>
            </a:extLst>
          </p:cNvPr>
          <p:cNvSpPr>
            <a:spLocks noGrp="1"/>
          </p:cNvSpPr>
          <p:nvPr>
            <p:ph idx="1"/>
          </p:nvPr>
        </p:nvSpPr>
        <p:spPr>
          <a:xfrm>
            <a:off x="838200" y="1825624"/>
            <a:ext cx="10515600" cy="5032375"/>
          </a:xfrm>
        </p:spPr>
        <p:txBody>
          <a:bodyPr>
            <a:normAutofit/>
          </a:bodyPr>
          <a:lstStyle/>
          <a:p>
            <a:pPr marL="0" indent="0">
              <a:buNone/>
            </a:pPr>
            <a:r>
              <a:rPr lang="en-AU"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novel </a:t>
            </a:r>
            <a:r>
              <a:rPr lang="en-AU" b="1"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Bone Sparrow </a:t>
            </a:r>
            <a:r>
              <a:rPr lang="en-AU" b="1"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written by Zara Fraillon explores themes of love and hope</a:t>
            </a:r>
            <a:r>
              <a:rPr lang="en-AU" b="1" dirty="0">
                <a:effectLst/>
                <a:latin typeface="Calibri" panose="020F0502020204030204" pitchFamily="34" charset="0"/>
                <a:ea typeface="Calibri" panose="020F0502020204030204" pitchFamily="34" charset="0"/>
                <a:cs typeface="Times New Roman" panose="02020603050405020304" pitchFamily="18" charset="0"/>
              </a:rPr>
              <a:t>. </a:t>
            </a:r>
            <a:r>
              <a:rPr lang="en-AU"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The story suggests that the most important thing in the world is friendship, this is displayed and proven throughout the text. </a:t>
            </a:r>
            <a:r>
              <a:rPr lang="en-AU" b="1" dirty="0">
                <a:solidFill>
                  <a:srgbClr val="7030A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a:t>
            </a:r>
            <a:r>
              <a:rPr lang="en-AU" b="1" dirty="0">
                <a:solidFill>
                  <a:srgbClr val="7030A0"/>
                </a:solidFill>
                <a:effectLst/>
                <a:highlight>
                  <a:srgbClr val="00FF00"/>
                </a:highlight>
                <a:latin typeface="Calibri" panose="020F0502020204030204" pitchFamily="34" charset="0"/>
                <a:ea typeface="Calibri" panose="020F0502020204030204" pitchFamily="34" charset="0"/>
                <a:cs typeface="Times New Roman" panose="02020603050405020304" pitchFamily="18" charset="0"/>
              </a:rPr>
              <a:t>Even his relationship with older characters like Nasir and Harvey brought happiness to Subhi’s life. </a:t>
            </a:r>
            <a:r>
              <a:rPr lang="en-AU" b="1" dirty="0">
                <a:solidFill>
                  <a:srgbClr val="7030A0"/>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rPr>
              <a:t>Furthermore, the most crucial friendship of the novel, with Jimmie, made great pain, loss and suffering something Subhi was able to get through because he had people by his side.</a:t>
            </a:r>
            <a:r>
              <a:rPr lang="en-AU" b="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 </a:t>
            </a:r>
            <a:r>
              <a:rPr lang="en-AU" b="1" u="sng" dirty="0">
                <a:effectLst/>
                <a:latin typeface="Calibri" panose="020F0502020204030204" pitchFamily="34" charset="0"/>
                <a:ea typeface="Calibri" panose="020F0502020204030204" pitchFamily="34" charset="0"/>
                <a:cs typeface="Times New Roman" panose="02020603050405020304" pitchFamily="18" charset="0"/>
              </a:rPr>
              <a:t>The Bone Sparrow </a:t>
            </a:r>
            <a:r>
              <a:rPr lang="en-AU" b="1" dirty="0">
                <a:effectLst/>
                <a:latin typeface="Calibri" panose="020F0502020204030204" pitchFamily="34" charset="0"/>
                <a:ea typeface="Calibri" panose="020F0502020204030204" pitchFamily="34" charset="0"/>
                <a:cs typeface="Times New Roman" panose="02020603050405020304" pitchFamily="18" charset="0"/>
              </a:rPr>
              <a:t>teaches that challenges and hardships are saved by friendship. </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a:p>
            <a:pPr marL="0" indent="0">
              <a:buNone/>
            </a:pPr>
            <a:r>
              <a:rPr lang="en-AU" b="1" dirty="0">
                <a:solidFill>
                  <a:srgbClr val="7030A0"/>
                </a:solidFill>
                <a:highlight>
                  <a:srgbClr val="FFFF00"/>
                </a:highlight>
              </a:rPr>
              <a:t>Idea 1    </a:t>
            </a:r>
            <a:r>
              <a:rPr lang="en-AU" b="1" dirty="0">
                <a:solidFill>
                  <a:srgbClr val="7030A0"/>
                </a:solidFill>
                <a:highlight>
                  <a:srgbClr val="00FF00"/>
                </a:highlight>
              </a:rPr>
              <a:t>Idea 2    </a:t>
            </a:r>
            <a:r>
              <a:rPr lang="en-AU" b="1" dirty="0">
                <a:solidFill>
                  <a:srgbClr val="7030A0"/>
                </a:solidFill>
                <a:highlight>
                  <a:srgbClr val="00FFFF"/>
                </a:highlight>
              </a:rPr>
              <a:t>Idea 3      </a:t>
            </a:r>
            <a:r>
              <a:rPr lang="en-AU" sz="2400" b="1" dirty="0">
                <a:sym typeface="Wingdings" panose="05000000000000000000" pitchFamily="2" charset="2"/>
              </a:rPr>
              <a:t> each idea will be expanded in a paragraph</a:t>
            </a:r>
            <a:endParaRPr lang="en-AU" b="1" dirty="0"/>
          </a:p>
        </p:txBody>
      </p:sp>
    </p:spTree>
    <p:extLst>
      <p:ext uri="{BB962C8B-B14F-4D97-AF65-F5344CB8AC3E}">
        <p14:creationId xmlns:p14="http://schemas.microsoft.com/office/powerpoint/2010/main" val="1074253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BAD6-D0A1-AE5A-25E3-7B762F90D9CE}"/>
              </a:ext>
            </a:extLst>
          </p:cNvPr>
          <p:cNvSpPr>
            <a:spLocks noGrp="1"/>
          </p:cNvSpPr>
          <p:nvPr>
            <p:ph type="title"/>
          </p:nvPr>
        </p:nvSpPr>
        <p:spPr/>
        <p:txBody>
          <a:bodyPr>
            <a:normAutofit fontScale="90000"/>
          </a:bodyPr>
          <a:lstStyle/>
          <a:p>
            <a:r>
              <a:rPr lang="en-AU" dirty="0"/>
              <a:t>Idea 1: </a:t>
            </a:r>
            <a:r>
              <a:rPr lang="en-AU" sz="4000" b="1" dirty="0">
                <a:solidFill>
                  <a:srgbClr val="7030A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a:t>
            </a:r>
            <a:endParaRPr lang="en-AU" dirty="0"/>
          </a:p>
        </p:txBody>
      </p:sp>
      <p:graphicFrame>
        <p:nvGraphicFramePr>
          <p:cNvPr id="4" name="Table 4">
            <a:extLst>
              <a:ext uri="{FF2B5EF4-FFF2-40B4-BE49-F238E27FC236}">
                <a16:creationId xmlns:a16="http://schemas.microsoft.com/office/drawing/2014/main" id="{A09DFBB1-F17F-2712-BBD2-BC1BDB51BEEE}"/>
              </a:ext>
            </a:extLst>
          </p:cNvPr>
          <p:cNvGraphicFramePr>
            <a:graphicFrameLocks noGrp="1"/>
          </p:cNvGraphicFramePr>
          <p:nvPr>
            <p:ph idx="1"/>
            <p:extLst>
              <p:ext uri="{D42A27DB-BD31-4B8C-83A1-F6EECF244321}">
                <p14:modId xmlns:p14="http://schemas.microsoft.com/office/powerpoint/2010/main" val="283864998"/>
              </p:ext>
            </p:extLst>
          </p:nvPr>
        </p:nvGraphicFramePr>
        <p:xfrm>
          <a:off x="838200" y="1825624"/>
          <a:ext cx="10515600" cy="4185709"/>
        </p:xfrm>
        <a:graphic>
          <a:graphicData uri="http://schemas.openxmlformats.org/drawingml/2006/table">
            <a:tbl>
              <a:tblPr firstRow="1" bandRow="1">
                <a:tableStyleId>{5C22544A-7EE6-4342-B048-85BDC9FD1C3A}</a:tableStyleId>
              </a:tblPr>
              <a:tblGrid>
                <a:gridCol w="2125133">
                  <a:extLst>
                    <a:ext uri="{9D8B030D-6E8A-4147-A177-3AD203B41FA5}">
                      <a16:colId xmlns:a16="http://schemas.microsoft.com/office/drawing/2014/main" val="2848416873"/>
                    </a:ext>
                  </a:extLst>
                </a:gridCol>
                <a:gridCol w="8390467">
                  <a:extLst>
                    <a:ext uri="{9D8B030D-6E8A-4147-A177-3AD203B41FA5}">
                      <a16:colId xmlns:a16="http://schemas.microsoft.com/office/drawing/2014/main" val="1361393399"/>
                    </a:ext>
                  </a:extLst>
                </a:gridCol>
              </a:tblGrid>
              <a:tr h="528109">
                <a:tc>
                  <a:txBody>
                    <a:bodyPr/>
                    <a:lstStyle/>
                    <a:p>
                      <a:pPr algn="ctr"/>
                      <a:r>
                        <a:rPr lang="en-AU" dirty="0"/>
                        <a:t>Part of paragraph</a:t>
                      </a:r>
                    </a:p>
                  </a:txBody>
                  <a:tcPr/>
                </a:tc>
                <a:tc>
                  <a:txBody>
                    <a:bodyPr/>
                    <a:lstStyle/>
                    <a:p>
                      <a:pPr algn="ctr"/>
                      <a:r>
                        <a:rPr lang="en-AU" dirty="0"/>
                        <a:t>Plan</a:t>
                      </a:r>
                    </a:p>
                  </a:txBody>
                  <a:tcPr/>
                </a:tc>
                <a:extLst>
                  <a:ext uri="{0D108BD9-81ED-4DB2-BD59-A6C34878D82A}">
                    <a16:rowId xmlns:a16="http://schemas.microsoft.com/office/drawing/2014/main" val="550221707"/>
                  </a:ext>
                </a:extLst>
              </a:tr>
              <a:tr h="889635">
                <a:tc>
                  <a:txBody>
                    <a:bodyPr/>
                    <a:lstStyle/>
                    <a:p>
                      <a:r>
                        <a:rPr lang="en-AU" sz="2000" b="1" dirty="0">
                          <a:solidFill>
                            <a:srgbClr val="FF0000"/>
                          </a:solidFill>
                        </a:rPr>
                        <a:t>Topic Sentence</a:t>
                      </a:r>
                    </a:p>
                  </a:txBody>
                  <a:tcPr anchor="ctr"/>
                </a:tc>
                <a:tc>
                  <a:txBody>
                    <a:bodyPr/>
                    <a:lstStyle/>
                    <a:p>
                      <a:r>
                        <a:rPr lang="en-AU" dirty="0"/>
                        <a:t>Throughout </a:t>
                      </a:r>
                      <a:r>
                        <a:rPr lang="en-AU" u="sng" dirty="0"/>
                        <a:t>The Bone Sparrow</a:t>
                      </a:r>
                      <a:r>
                        <a:rPr lang="en-AU" u="none" dirty="0"/>
                        <a:t> it is made clear that Subhi looks up to Eli as an older brother figure, and relies on him to cope and survive the detention centre, emphasising the importance of friendship in difficult circumstances. </a:t>
                      </a:r>
                      <a:endParaRPr lang="en-AU" dirty="0"/>
                    </a:p>
                  </a:txBody>
                  <a:tcPr/>
                </a:tc>
                <a:extLst>
                  <a:ext uri="{0D108BD9-81ED-4DB2-BD59-A6C34878D82A}">
                    <a16:rowId xmlns:a16="http://schemas.microsoft.com/office/drawing/2014/main" val="774460477"/>
                  </a:ext>
                </a:extLst>
              </a:tr>
              <a:tr h="889635">
                <a:tc>
                  <a:txBody>
                    <a:bodyPr/>
                    <a:lstStyle/>
                    <a:p>
                      <a:r>
                        <a:rPr lang="en-AU" sz="2000" b="1" dirty="0">
                          <a:solidFill>
                            <a:srgbClr val="00B050"/>
                          </a:solidFill>
                        </a:rPr>
                        <a:t>Further Explanation</a:t>
                      </a:r>
                    </a:p>
                  </a:txBody>
                  <a:tcPr anchor="ctr"/>
                </a:tc>
                <a:tc>
                  <a:txBody>
                    <a:bodyPr/>
                    <a:lstStyle/>
                    <a:p>
                      <a:r>
                        <a:rPr lang="en-AU" dirty="0"/>
                        <a:t>Eli teaches Subhi how to resist the overwhelming dreariness of the detention camp, by running packages, criticising the jackets, and standing up to other detainees who treat Subhi with cruelty.</a:t>
                      </a:r>
                    </a:p>
                  </a:txBody>
                  <a:tcPr/>
                </a:tc>
                <a:extLst>
                  <a:ext uri="{0D108BD9-81ED-4DB2-BD59-A6C34878D82A}">
                    <a16:rowId xmlns:a16="http://schemas.microsoft.com/office/drawing/2014/main" val="2292624859"/>
                  </a:ext>
                </a:extLst>
              </a:tr>
              <a:tr h="889635">
                <a:tc>
                  <a:txBody>
                    <a:bodyPr/>
                    <a:lstStyle/>
                    <a:p>
                      <a:r>
                        <a:rPr lang="en-AU" sz="2000" b="1" dirty="0">
                          <a:solidFill>
                            <a:srgbClr val="0070C0"/>
                          </a:solidFill>
                        </a:rPr>
                        <a:t>Evidence from the novel</a:t>
                      </a:r>
                    </a:p>
                  </a:txBody>
                  <a:tcPr anchor="ctr"/>
                </a:tc>
                <a:tc>
                  <a:txBody>
                    <a:bodyPr/>
                    <a:lstStyle/>
                    <a:p>
                      <a:r>
                        <a:rPr lang="en-AU" dirty="0"/>
                        <a:t>“Because Eli, he made everything OK.” (p. 67)</a:t>
                      </a:r>
                    </a:p>
                    <a:p>
                      <a:r>
                        <a:rPr lang="en-AU" dirty="0"/>
                        <a:t>“Eli calls us partners” (p. 25)</a:t>
                      </a:r>
                    </a:p>
                    <a:p>
                      <a:r>
                        <a:rPr lang="en-AU" dirty="0"/>
                        <a:t>“Eli always tells me ‘never let anyone see your scared’” (p.33)</a:t>
                      </a:r>
                    </a:p>
                  </a:txBody>
                  <a:tcPr/>
                </a:tc>
                <a:extLst>
                  <a:ext uri="{0D108BD9-81ED-4DB2-BD59-A6C34878D82A}">
                    <a16:rowId xmlns:a16="http://schemas.microsoft.com/office/drawing/2014/main" val="220837159"/>
                  </a:ext>
                </a:extLst>
              </a:tr>
              <a:tr h="889635">
                <a:tc>
                  <a:txBody>
                    <a:bodyPr/>
                    <a:lstStyle/>
                    <a:p>
                      <a:r>
                        <a:rPr lang="en-AU" sz="2000" b="1" dirty="0">
                          <a:solidFill>
                            <a:srgbClr val="7030A0"/>
                          </a:solidFill>
                        </a:rPr>
                        <a:t>Link back to the topic</a:t>
                      </a:r>
                    </a:p>
                  </a:txBody>
                  <a:tcPr anchor="ctr"/>
                </a:tc>
                <a:tc>
                  <a:txBody>
                    <a:bodyPr/>
                    <a:lstStyle/>
                    <a:p>
                      <a:r>
                        <a:rPr lang="en-AU" dirty="0"/>
                        <a:t>Eli’s death impacts Subhi greatly, however Subhi remains inspired by Eli’s bravery and is able to recount the events of “the craziness” to Sarah, which likely leads to Subhi, his Maa, and Queeny being moved out of the camp. </a:t>
                      </a:r>
                    </a:p>
                  </a:txBody>
                  <a:tcPr/>
                </a:tc>
                <a:extLst>
                  <a:ext uri="{0D108BD9-81ED-4DB2-BD59-A6C34878D82A}">
                    <a16:rowId xmlns:a16="http://schemas.microsoft.com/office/drawing/2014/main" val="4109133064"/>
                  </a:ext>
                </a:extLst>
              </a:tr>
            </a:tbl>
          </a:graphicData>
        </a:graphic>
      </p:graphicFrame>
    </p:spTree>
    <p:extLst>
      <p:ext uri="{BB962C8B-B14F-4D97-AF65-F5344CB8AC3E}">
        <p14:creationId xmlns:p14="http://schemas.microsoft.com/office/powerpoint/2010/main" val="3054164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BAD6-D0A1-AE5A-25E3-7B762F90D9CE}"/>
              </a:ext>
            </a:extLst>
          </p:cNvPr>
          <p:cNvSpPr>
            <a:spLocks noGrp="1"/>
          </p:cNvSpPr>
          <p:nvPr>
            <p:ph type="title"/>
          </p:nvPr>
        </p:nvSpPr>
        <p:spPr/>
        <p:txBody>
          <a:bodyPr>
            <a:normAutofit fontScale="90000"/>
          </a:bodyPr>
          <a:lstStyle/>
          <a:p>
            <a:r>
              <a:rPr lang="en-AU" dirty="0"/>
              <a:t>Idea 1: </a:t>
            </a:r>
            <a:r>
              <a:rPr lang="en-AU" sz="4000" b="1" dirty="0">
                <a:solidFill>
                  <a:srgbClr val="7030A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a:t>
            </a:r>
            <a:endParaRPr lang="en-AU" dirty="0"/>
          </a:p>
        </p:txBody>
      </p:sp>
      <p:graphicFrame>
        <p:nvGraphicFramePr>
          <p:cNvPr id="4" name="Table 4">
            <a:extLst>
              <a:ext uri="{FF2B5EF4-FFF2-40B4-BE49-F238E27FC236}">
                <a16:creationId xmlns:a16="http://schemas.microsoft.com/office/drawing/2014/main" id="{A09DFBB1-F17F-2712-BBD2-BC1BDB51BEEE}"/>
              </a:ext>
            </a:extLst>
          </p:cNvPr>
          <p:cNvGraphicFramePr>
            <a:graphicFrameLocks noGrp="1"/>
          </p:cNvGraphicFramePr>
          <p:nvPr>
            <p:ph idx="1"/>
            <p:extLst>
              <p:ext uri="{D42A27DB-BD31-4B8C-83A1-F6EECF244321}">
                <p14:modId xmlns:p14="http://schemas.microsoft.com/office/powerpoint/2010/main" val="3592102624"/>
              </p:ext>
            </p:extLst>
          </p:nvPr>
        </p:nvGraphicFramePr>
        <p:xfrm>
          <a:off x="838200" y="1825624"/>
          <a:ext cx="10515600" cy="4185709"/>
        </p:xfrm>
        <a:graphic>
          <a:graphicData uri="http://schemas.openxmlformats.org/drawingml/2006/table">
            <a:tbl>
              <a:tblPr firstRow="1" bandRow="1">
                <a:tableStyleId>{5C22544A-7EE6-4342-B048-85BDC9FD1C3A}</a:tableStyleId>
              </a:tblPr>
              <a:tblGrid>
                <a:gridCol w="2125133">
                  <a:extLst>
                    <a:ext uri="{9D8B030D-6E8A-4147-A177-3AD203B41FA5}">
                      <a16:colId xmlns:a16="http://schemas.microsoft.com/office/drawing/2014/main" val="2848416873"/>
                    </a:ext>
                  </a:extLst>
                </a:gridCol>
                <a:gridCol w="8390467">
                  <a:extLst>
                    <a:ext uri="{9D8B030D-6E8A-4147-A177-3AD203B41FA5}">
                      <a16:colId xmlns:a16="http://schemas.microsoft.com/office/drawing/2014/main" val="1361393399"/>
                    </a:ext>
                  </a:extLst>
                </a:gridCol>
              </a:tblGrid>
              <a:tr h="528109">
                <a:tc>
                  <a:txBody>
                    <a:bodyPr/>
                    <a:lstStyle/>
                    <a:p>
                      <a:pPr algn="ctr"/>
                      <a:r>
                        <a:rPr lang="en-AU" dirty="0"/>
                        <a:t>Part of paragraph</a:t>
                      </a:r>
                    </a:p>
                  </a:txBody>
                  <a:tcPr/>
                </a:tc>
                <a:tc>
                  <a:txBody>
                    <a:bodyPr/>
                    <a:lstStyle/>
                    <a:p>
                      <a:pPr algn="ctr"/>
                      <a:r>
                        <a:rPr lang="en-AU" dirty="0"/>
                        <a:t>Plan</a:t>
                      </a:r>
                    </a:p>
                  </a:txBody>
                  <a:tcPr/>
                </a:tc>
                <a:extLst>
                  <a:ext uri="{0D108BD9-81ED-4DB2-BD59-A6C34878D82A}">
                    <a16:rowId xmlns:a16="http://schemas.microsoft.com/office/drawing/2014/main" val="550221707"/>
                  </a:ext>
                </a:extLst>
              </a:tr>
              <a:tr h="889635">
                <a:tc>
                  <a:txBody>
                    <a:bodyPr/>
                    <a:lstStyle/>
                    <a:p>
                      <a:r>
                        <a:rPr lang="en-AU" sz="2000" b="1" dirty="0">
                          <a:solidFill>
                            <a:srgbClr val="FF0000"/>
                          </a:solidFill>
                        </a:rPr>
                        <a:t>Topic Sentence</a:t>
                      </a:r>
                    </a:p>
                  </a:txBody>
                  <a:tcPr anchor="ctr"/>
                </a:tc>
                <a:tc>
                  <a:txBody>
                    <a:bodyPr/>
                    <a:lstStyle/>
                    <a:p>
                      <a:r>
                        <a:rPr lang="en-AU" dirty="0"/>
                        <a:t>Throughout </a:t>
                      </a:r>
                      <a:r>
                        <a:rPr lang="en-AU" u="sng" dirty="0"/>
                        <a:t>The Bone Sparrow</a:t>
                      </a:r>
                      <a:r>
                        <a:rPr lang="en-AU" u="none" dirty="0"/>
                        <a:t> it is made clear that Subhi looks up to Eli as an older brother figure, and relies on him to cope and survive the detention centre, emphasising the importance of friendship in difficult circumstances. </a:t>
                      </a:r>
                      <a:endParaRPr lang="en-AU" dirty="0"/>
                    </a:p>
                  </a:txBody>
                  <a:tcPr/>
                </a:tc>
                <a:extLst>
                  <a:ext uri="{0D108BD9-81ED-4DB2-BD59-A6C34878D82A}">
                    <a16:rowId xmlns:a16="http://schemas.microsoft.com/office/drawing/2014/main" val="774460477"/>
                  </a:ext>
                </a:extLst>
              </a:tr>
              <a:tr h="889635">
                <a:tc>
                  <a:txBody>
                    <a:bodyPr/>
                    <a:lstStyle/>
                    <a:p>
                      <a:r>
                        <a:rPr lang="en-AU" sz="2000" b="1" dirty="0">
                          <a:solidFill>
                            <a:srgbClr val="00B050"/>
                          </a:solidFill>
                        </a:rPr>
                        <a:t>Further Explanation</a:t>
                      </a:r>
                    </a:p>
                  </a:txBody>
                  <a:tcPr anchor="ctr"/>
                </a:tc>
                <a:tc>
                  <a:txBody>
                    <a:bodyPr/>
                    <a:lstStyle/>
                    <a:p>
                      <a:r>
                        <a:rPr lang="en-AU" dirty="0"/>
                        <a:t>Eli teaches Subhi how to resist the overwhelming dreariness of the detention camp, by running packages, criticising the jackets, and standing up to other detainees who treat Subhi with cruelty.</a:t>
                      </a:r>
                    </a:p>
                  </a:txBody>
                  <a:tcPr/>
                </a:tc>
                <a:extLst>
                  <a:ext uri="{0D108BD9-81ED-4DB2-BD59-A6C34878D82A}">
                    <a16:rowId xmlns:a16="http://schemas.microsoft.com/office/drawing/2014/main" val="2292624859"/>
                  </a:ext>
                </a:extLst>
              </a:tr>
              <a:tr h="889635">
                <a:tc>
                  <a:txBody>
                    <a:bodyPr/>
                    <a:lstStyle/>
                    <a:p>
                      <a:r>
                        <a:rPr lang="en-AU" sz="2000" b="1" dirty="0">
                          <a:solidFill>
                            <a:srgbClr val="0070C0"/>
                          </a:solidFill>
                        </a:rPr>
                        <a:t>Evidence from the novel</a:t>
                      </a:r>
                    </a:p>
                  </a:txBody>
                  <a:tcPr anchor="ctr"/>
                </a:tc>
                <a:tc>
                  <a:txBody>
                    <a:bodyPr/>
                    <a:lstStyle/>
                    <a:p>
                      <a:r>
                        <a:rPr lang="en-AU" dirty="0"/>
                        <a:t>“Because Eli, he made everything OK.” (p. 67)</a:t>
                      </a:r>
                    </a:p>
                    <a:p>
                      <a:r>
                        <a:rPr lang="en-AU" dirty="0"/>
                        <a:t>“Eli calls us partners” (p. 25)</a:t>
                      </a:r>
                    </a:p>
                    <a:p>
                      <a:r>
                        <a:rPr lang="en-AU" dirty="0"/>
                        <a:t>“Eli always tells me ‘never let anyone see your scared’” (p.33)</a:t>
                      </a:r>
                    </a:p>
                  </a:txBody>
                  <a:tcPr/>
                </a:tc>
                <a:extLst>
                  <a:ext uri="{0D108BD9-81ED-4DB2-BD59-A6C34878D82A}">
                    <a16:rowId xmlns:a16="http://schemas.microsoft.com/office/drawing/2014/main" val="220837159"/>
                  </a:ext>
                </a:extLst>
              </a:tr>
              <a:tr h="889635">
                <a:tc>
                  <a:txBody>
                    <a:bodyPr/>
                    <a:lstStyle/>
                    <a:p>
                      <a:r>
                        <a:rPr lang="en-AU" sz="2000" b="1" dirty="0">
                          <a:solidFill>
                            <a:srgbClr val="7030A0"/>
                          </a:solidFill>
                        </a:rPr>
                        <a:t>Link back to the topic</a:t>
                      </a:r>
                    </a:p>
                  </a:txBody>
                  <a:tcPr anchor="ctr"/>
                </a:tc>
                <a:tc>
                  <a:txBody>
                    <a:bodyPr/>
                    <a:lstStyle/>
                    <a:p>
                      <a:r>
                        <a:rPr lang="en-AU" dirty="0"/>
                        <a:t>Eli’s death impacts Subhi greatly, however Subhi remains inspired by Eli’s bravery and is able to recount the events of “the craziness” to Sarah, which likely leads to Subhi, his Maa, and Queeny being moved out of the camp.</a:t>
                      </a:r>
                    </a:p>
                  </a:txBody>
                  <a:tcPr/>
                </a:tc>
                <a:extLst>
                  <a:ext uri="{0D108BD9-81ED-4DB2-BD59-A6C34878D82A}">
                    <a16:rowId xmlns:a16="http://schemas.microsoft.com/office/drawing/2014/main" val="4109133064"/>
                  </a:ext>
                </a:extLst>
              </a:tr>
            </a:tbl>
          </a:graphicData>
        </a:graphic>
      </p:graphicFrame>
      <p:sp>
        <p:nvSpPr>
          <p:cNvPr id="3" name="TextBox 2">
            <a:extLst>
              <a:ext uri="{FF2B5EF4-FFF2-40B4-BE49-F238E27FC236}">
                <a16:creationId xmlns:a16="http://schemas.microsoft.com/office/drawing/2014/main" id="{C8852CE6-0DB3-34E5-055D-A8C08C28F890}"/>
              </a:ext>
            </a:extLst>
          </p:cNvPr>
          <p:cNvSpPr txBox="1"/>
          <p:nvPr/>
        </p:nvSpPr>
        <p:spPr>
          <a:xfrm>
            <a:off x="601133" y="6027003"/>
            <a:ext cx="11133667" cy="830997"/>
          </a:xfrm>
          <a:prstGeom prst="rect">
            <a:avLst/>
          </a:prstGeom>
          <a:noFill/>
        </p:spPr>
        <p:txBody>
          <a:bodyPr wrap="square" rtlCol="0">
            <a:spAutoFit/>
          </a:bodyPr>
          <a:lstStyle/>
          <a:p>
            <a:r>
              <a:rPr lang="en-AU" sz="2400" b="1" i="1" dirty="0"/>
              <a:t>Now it needs to be put all together – The challenge is making sure your quotes flow smoothly in your sentences!</a:t>
            </a:r>
          </a:p>
        </p:txBody>
      </p:sp>
    </p:spTree>
    <p:extLst>
      <p:ext uri="{BB962C8B-B14F-4D97-AF65-F5344CB8AC3E}">
        <p14:creationId xmlns:p14="http://schemas.microsoft.com/office/powerpoint/2010/main" val="3187923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3656D7-DA5A-70F4-A0CB-CBC3E3953FC5}"/>
              </a:ext>
            </a:extLst>
          </p:cNvPr>
          <p:cNvSpPr>
            <a:spLocks noGrp="1"/>
          </p:cNvSpPr>
          <p:nvPr>
            <p:ph idx="1"/>
          </p:nvPr>
        </p:nvSpPr>
        <p:spPr>
          <a:xfrm>
            <a:off x="838200" y="1825624"/>
            <a:ext cx="10515600" cy="4803775"/>
          </a:xfrm>
        </p:spPr>
        <p:txBody>
          <a:bodyPr>
            <a:normAutofit fontScale="92500"/>
          </a:bodyPr>
          <a:lstStyle/>
          <a:p>
            <a:pPr marL="0" indent="0">
              <a:buNone/>
            </a:pPr>
            <a:r>
              <a:rPr lang="en-AU" b="1" dirty="0"/>
              <a:t>Throughout </a:t>
            </a:r>
            <a:r>
              <a:rPr lang="en-AU" b="1" u="sng" dirty="0"/>
              <a:t>The Bone Sparrow</a:t>
            </a:r>
            <a:r>
              <a:rPr lang="en-AU" b="1" u="none" dirty="0"/>
              <a:t> it is made clear that Subhi looks up to Eli as an older brother figure, and relies on him to cope and survive the detention centre, emphasising the importance of friendship in difficult circumstances. </a:t>
            </a:r>
            <a:r>
              <a:rPr lang="en-AU" b="1" dirty="0"/>
              <a:t>Eli, who “made everything OK”, teaches Subhi how to resist the overwhelming dreariness of the detention camp. Subhi recounts how Eli referred to them both as “partners” when running packages, criticising the jackets, and standing up to other detainees who treat Subhi with cruelty. Subhi learns from Eli to “never let anyone see your scared”, which proves critical when Subhi is required to bravely escape the detention centre to save Jimmie’s life. Eli’s death impacts Subhi greatly, however Subhi remains inspired by Eli’s bravery and is able to recount the events of “the craziness” to Sarah, which likely leads to Subhi, his Maa, and Queeny being moved out of the camp. </a:t>
            </a:r>
          </a:p>
          <a:p>
            <a:pPr marL="0" indent="0">
              <a:buNone/>
            </a:pPr>
            <a:endParaRPr lang="en-AU" dirty="0"/>
          </a:p>
          <a:p>
            <a:pPr marL="0" indent="0">
              <a:buNone/>
            </a:pPr>
            <a:endParaRPr lang="en-AU" dirty="0"/>
          </a:p>
          <a:p>
            <a:pPr marL="0" indent="0">
              <a:buNone/>
            </a:pPr>
            <a:endParaRPr lang="en-AU" dirty="0"/>
          </a:p>
        </p:txBody>
      </p:sp>
      <p:sp>
        <p:nvSpPr>
          <p:cNvPr id="4" name="Title 1">
            <a:extLst>
              <a:ext uri="{FF2B5EF4-FFF2-40B4-BE49-F238E27FC236}">
                <a16:creationId xmlns:a16="http://schemas.microsoft.com/office/drawing/2014/main" id="{0AC25F81-94FD-3574-CC68-5100447B008E}"/>
              </a:ext>
            </a:extLst>
          </p:cNvPr>
          <p:cNvSpPr>
            <a:spLocks noGrp="1"/>
          </p:cNvSpPr>
          <p:nvPr>
            <p:ph type="title"/>
          </p:nvPr>
        </p:nvSpPr>
        <p:spPr>
          <a:xfrm>
            <a:off x="838200" y="365125"/>
            <a:ext cx="10515600" cy="1325563"/>
          </a:xfrm>
        </p:spPr>
        <p:txBody>
          <a:bodyPr>
            <a:normAutofit fontScale="90000"/>
          </a:bodyPr>
          <a:lstStyle/>
          <a:p>
            <a:r>
              <a:rPr lang="en-AU" dirty="0"/>
              <a:t>Idea 1: </a:t>
            </a:r>
            <a:r>
              <a:rPr lang="en-AU" sz="4000" b="1" dirty="0">
                <a:solidFill>
                  <a:srgbClr val="7030A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a:t>
            </a:r>
            <a:endParaRPr lang="en-AU" dirty="0"/>
          </a:p>
        </p:txBody>
      </p:sp>
    </p:spTree>
    <p:extLst>
      <p:ext uri="{BB962C8B-B14F-4D97-AF65-F5344CB8AC3E}">
        <p14:creationId xmlns:p14="http://schemas.microsoft.com/office/powerpoint/2010/main" val="3671816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3656D7-DA5A-70F4-A0CB-CBC3E3953FC5}"/>
              </a:ext>
            </a:extLst>
          </p:cNvPr>
          <p:cNvSpPr>
            <a:spLocks noGrp="1"/>
          </p:cNvSpPr>
          <p:nvPr>
            <p:ph idx="1"/>
          </p:nvPr>
        </p:nvSpPr>
        <p:spPr>
          <a:xfrm>
            <a:off x="838200" y="1825624"/>
            <a:ext cx="10515600" cy="4803775"/>
          </a:xfrm>
        </p:spPr>
        <p:txBody>
          <a:bodyPr>
            <a:normAutofit fontScale="92500"/>
          </a:bodyPr>
          <a:lstStyle/>
          <a:p>
            <a:pPr marL="0" indent="0">
              <a:buNone/>
            </a:pPr>
            <a:r>
              <a:rPr lang="en-AU" b="1" dirty="0">
                <a:solidFill>
                  <a:srgbClr val="FF0000"/>
                </a:solidFill>
              </a:rPr>
              <a:t>Throughout </a:t>
            </a:r>
            <a:r>
              <a:rPr lang="en-AU" b="1" u="sng" dirty="0">
                <a:solidFill>
                  <a:srgbClr val="FF0000"/>
                </a:solidFill>
              </a:rPr>
              <a:t>The Bone Sparrow</a:t>
            </a:r>
            <a:r>
              <a:rPr lang="en-AU" b="1" u="none" dirty="0">
                <a:solidFill>
                  <a:srgbClr val="FF0000"/>
                </a:solidFill>
              </a:rPr>
              <a:t> it is made clear that Subhi looks up to Eli as an older brother figure, and relies on him to cope and survive the detention centre, emphasising the importance of friendship in difficult circumstances. </a:t>
            </a:r>
            <a:r>
              <a:rPr lang="en-AU" b="1" dirty="0">
                <a:solidFill>
                  <a:srgbClr val="00B050"/>
                </a:solidFill>
              </a:rPr>
              <a:t>Eli, who </a:t>
            </a:r>
            <a:r>
              <a:rPr lang="en-AU" b="1" dirty="0">
                <a:solidFill>
                  <a:srgbClr val="0070C0"/>
                </a:solidFill>
              </a:rPr>
              <a:t>“made everything OK”, </a:t>
            </a:r>
            <a:r>
              <a:rPr lang="en-AU" b="1" dirty="0">
                <a:solidFill>
                  <a:srgbClr val="00B050"/>
                </a:solidFill>
              </a:rPr>
              <a:t>teaches Subhi how to resist the overwhelming dreariness of the detention camp. Subhi recounts how Eli referred to them both as </a:t>
            </a:r>
            <a:r>
              <a:rPr lang="en-AU" b="1" dirty="0">
                <a:solidFill>
                  <a:srgbClr val="0070C0"/>
                </a:solidFill>
              </a:rPr>
              <a:t>“partners” </a:t>
            </a:r>
            <a:r>
              <a:rPr lang="en-AU" b="1" dirty="0">
                <a:solidFill>
                  <a:srgbClr val="00B050"/>
                </a:solidFill>
              </a:rPr>
              <a:t>when running packages, criticising the jackets, and standing up to other detainees who treat Subhi with cruelty. Subhi learns from Eli to </a:t>
            </a:r>
            <a:r>
              <a:rPr lang="en-AU" b="1" dirty="0">
                <a:solidFill>
                  <a:srgbClr val="0070C0"/>
                </a:solidFill>
              </a:rPr>
              <a:t>“never let anyone see your scared”, </a:t>
            </a:r>
            <a:r>
              <a:rPr lang="en-AU" b="1" dirty="0">
                <a:solidFill>
                  <a:srgbClr val="00B050"/>
                </a:solidFill>
              </a:rPr>
              <a:t>which proves critical when Subhi is required to bravely escape the detention centre to save Jimmie’s life. </a:t>
            </a:r>
            <a:r>
              <a:rPr lang="en-AU" b="1" dirty="0">
                <a:solidFill>
                  <a:srgbClr val="7030A0"/>
                </a:solidFill>
              </a:rPr>
              <a:t>Eli’s death impacts Subhi greatly, however Subhi remains inspired by Eli’s bravery and is able to recount the events of “the craziness” to Sarah, which likely leads to Subhi, his Maa, and Queeny being moved out of the camp. </a:t>
            </a:r>
          </a:p>
          <a:p>
            <a:pPr marL="0" indent="0">
              <a:buNone/>
            </a:pPr>
            <a:endParaRPr lang="en-AU" dirty="0"/>
          </a:p>
          <a:p>
            <a:pPr marL="0" indent="0">
              <a:buNone/>
            </a:pPr>
            <a:endParaRPr lang="en-AU" dirty="0"/>
          </a:p>
          <a:p>
            <a:pPr marL="0" indent="0">
              <a:buNone/>
            </a:pPr>
            <a:endParaRPr lang="en-AU" dirty="0"/>
          </a:p>
        </p:txBody>
      </p:sp>
      <p:sp>
        <p:nvSpPr>
          <p:cNvPr id="4" name="Title 1">
            <a:extLst>
              <a:ext uri="{FF2B5EF4-FFF2-40B4-BE49-F238E27FC236}">
                <a16:creationId xmlns:a16="http://schemas.microsoft.com/office/drawing/2014/main" id="{0AC25F81-94FD-3574-CC68-5100447B008E}"/>
              </a:ext>
            </a:extLst>
          </p:cNvPr>
          <p:cNvSpPr>
            <a:spLocks noGrp="1"/>
          </p:cNvSpPr>
          <p:nvPr>
            <p:ph type="title"/>
          </p:nvPr>
        </p:nvSpPr>
        <p:spPr>
          <a:xfrm>
            <a:off x="838200" y="365125"/>
            <a:ext cx="10515600" cy="1325563"/>
          </a:xfrm>
        </p:spPr>
        <p:txBody>
          <a:bodyPr>
            <a:normAutofit fontScale="90000"/>
          </a:bodyPr>
          <a:lstStyle/>
          <a:p>
            <a:r>
              <a:rPr lang="en-AU" dirty="0"/>
              <a:t>Idea 1: </a:t>
            </a:r>
            <a:r>
              <a:rPr lang="en-AU" sz="4000" b="1" dirty="0">
                <a:solidFill>
                  <a:srgbClr val="7030A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Subhi’s friendship with Eli got him through nine years of living in the detention centre. </a:t>
            </a:r>
            <a:endParaRPr lang="en-AU" dirty="0"/>
          </a:p>
        </p:txBody>
      </p:sp>
      <p:sp>
        <p:nvSpPr>
          <p:cNvPr id="2" name="TextBox 1">
            <a:extLst>
              <a:ext uri="{FF2B5EF4-FFF2-40B4-BE49-F238E27FC236}">
                <a16:creationId xmlns:a16="http://schemas.microsoft.com/office/drawing/2014/main" id="{C54E5AB0-4648-896D-FDA2-0A53023880F8}"/>
              </a:ext>
            </a:extLst>
          </p:cNvPr>
          <p:cNvSpPr txBox="1"/>
          <p:nvPr/>
        </p:nvSpPr>
        <p:spPr>
          <a:xfrm>
            <a:off x="8517467" y="6395003"/>
            <a:ext cx="3674533" cy="369332"/>
          </a:xfrm>
          <a:prstGeom prst="rect">
            <a:avLst/>
          </a:prstGeom>
          <a:noFill/>
        </p:spPr>
        <p:txBody>
          <a:bodyPr wrap="square" rtlCol="0">
            <a:spAutoFit/>
          </a:bodyPr>
          <a:lstStyle/>
          <a:p>
            <a:r>
              <a:rPr lang="en-AU" b="1" dirty="0">
                <a:highlight>
                  <a:srgbClr val="00FF00"/>
                </a:highlight>
              </a:rPr>
              <a:t>This is a finished body paragraph!</a:t>
            </a:r>
          </a:p>
        </p:txBody>
      </p:sp>
    </p:spTree>
    <p:extLst>
      <p:ext uri="{BB962C8B-B14F-4D97-AF65-F5344CB8AC3E}">
        <p14:creationId xmlns:p14="http://schemas.microsoft.com/office/powerpoint/2010/main" val="79734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906A1F8F-E843-4B30-AE8E-896C2D50772F}"/>
</file>

<file path=customXml/itemProps2.xml><?xml version="1.0" encoding="utf-8"?>
<ds:datastoreItem xmlns:ds="http://schemas.openxmlformats.org/officeDocument/2006/customXml" ds:itemID="{F1B9675F-8373-4EE4-869D-58CE045EFC3F}"/>
</file>

<file path=customXml/itemProps3.xml><?xml version="1.0" encoding="utf-8"?>
<ds:datastoreItem xmlns:ds="http://schemas.openxmlformats.org/officeDocument/2006/customXml" ds:itemID="{E7CD7717-C8E7-41FA-B299-77B90F683CE4}"/>
</file>

<file path=docProps/app.xml><?xml version="1.0" encoding="utf-8"?>
<Properties xmlns="http://schemas.openxmlformats.org/officeDocument/2006/extended-properties" xmlns:vt="http://schemas.openxmlformats.org/officeDocument/2006/docPropsVTypes">
  <TotalTime>68</TotalTime>
  <Words>1262</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Writing a body paragraph</vt:lpstr>
      <vt:lpstr>PowerPoint Presentation</vt:lpstr>
      <vt:lpstr>Example introduction:</vt:lpstr>
      <vt:lpstr>Example introduction:</vt:lpstr>
      <vt:lpstr>Structure of a body paragraph</vt:lpstr>
      <vt:lpstr>Example introduction:</vt:lpstr>
      <vt:lpstr>Idea 1: Subhi’s friendship with Eli got him through nine years of living in the detention centre. </vt:lpstr>
      <vt:lpstr>Idea 1: Subhi’s friendship with Eli got him through nine years of living in the detention centre. </vt:lpstr>
      <vt:lpstr>Idea 1: Subhi’s friendship with Eli got him through nine years of living in the detention centre. </vt:lpstr>
      <vt:lpstr>Idea 1: Subhi’s friendship with Eli got him through nine years of living in the detention centre.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 body paragraph</dc:title>
  <dc:creator/>
  <cp:lastModifiedBy/>
  <cp:revision>3</cp:revision>
  <dcterms:created xsi:type="dcterms:W3CDTF">2022-09-07T22:47:58Z</dcterms:created>
  <dcterms:modified xsi:type="dcterms:W3CDTF">2022-09-07T23:56:41Z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