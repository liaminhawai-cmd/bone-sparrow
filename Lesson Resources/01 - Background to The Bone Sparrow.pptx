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2" r:id="rId7"/>
    <p:sldId id="259" r:id="rId8"/>
    <p:sldId id="260" r:id="rId9"/>
    <p:sldId id="258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3" d="100"/>
          <a:sy n="63" d="100"/>
        </p:scale>
        <p:origin x="76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8F70A-5ED8-43A2-937D-5D9CE3ADA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B22CCE-BF14-46C4-8EC5-AD8C109F33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82FAF-8E77-41C6-AF12-32D561A5E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256D44-9FFC-4301-B296-1576CFBAF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FC90F-DDBD-47B0-BA88-BC52B3CA4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88903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4B031-0017-4FB4-B0D3-4ACAF6892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894740-5000-4ACD-8BDA-DBF19A666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FA03F-1087-4156-8F5B-D50AE0B7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EED1A7-4E2C-42D1-87A0-B29C172F8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4D8DC-9FA1-4B7D-9E65-BA60C5B3F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7161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962E8-7451-4986-BD8A-020A51EA3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E145B-0B97-40BA-AF41-2B8E16797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34B947-2588-4756-8CC4-F95F5D62C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D3E1E-BFE4-4C95-B7C1-797EA6F9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DE12E-0DD9-48C6-9664-013276B5F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4650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C0180-A579-40BE-88DF-BC8C0DC8D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91E58-C3C5-46AA-BBC2-252A0A091F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F45BC0-53B0-4A14-A44F-86B7ADF6A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C4F75A-7586-4EEE-A1B7-526BD1619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85B00E-D5EE-4A85-85B2-C7A9B19A8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9C7B9E-6B2F-4532-9BBF-1022FFCC1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2790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62E11-A850-444A-8B32-9C42A7178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C73093-8DBE-42EE-88ED-A9224C72AA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67B64-F695-450F-9E4E-792368CBB2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9232C2-8C76-4727-AEEC-91660C912C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01F420-0173-4592-BA0B-8E5C131FF2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C61B58-E2C6-4DA0-9CAD-092C79534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E78CFD-C2F5-4006-86E0-E0EBEA46A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4A061C-3BAE-4A69-8EE6-DD8163161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25673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AD293-5C49-468A-80E5-40C7387A7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FFED9D-FD16-444C-9A8B-59C312C76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AF16C4-993E-46D7-96DF-F7552F3D3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39707D-9C42-4AC6-B4F9-EEC665C2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199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80CBDF-23E1-478E-80D5-ECA7F5587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3ACF0F-2FD9-4BCE-A464-66761D136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5FCAF1-7B7A-4550-99F2-855C15E19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90731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FB58A-C726-4D19-9465-3F2BCCB46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24FBC-9CB6-4A41-8A92-D3EE07305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47220F-211E-43A5-91F3-0F591A28C3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B2F192-FDB7-40F3-9499-EA870EF91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E54607-0064-4456-9B75-9548B249B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C05FED-FBA9-47D7-92B7-78B2999E9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3515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2D2EF-AFA5-4846-951C-6AA3326EC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EDE48B-ABFF-4110-9902-C77E3987A7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375330-1707-4FEE-B7B7-2DA6CE079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D3689E-679A-40BA-8987-70DEC2991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DAFB69-C6D6-48B8-A7B9-D6B91D179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A9063-A86F-4A65-BB3D-FB15D6AF9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2460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DC4E7B-8775-4DAE-8B8D-8461A3457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471AD5-721F-4DC5-88E1-735ED6E9ED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428AA-97D8-4E9B-9284-559BFD951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2BA43-8833-48C9-8732-3E8FC7608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9F7E9-CA46-4CDE-9145-CF983B389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37060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0606CB-704C-4829-8DB0-1B178E41A9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D19546-EAE6-4C76-9E9C-A8EB706A6E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6A9CBC-78AB-454F-8A27-A8CB56B35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B4E2DF-C913-4CF6-A4EE-F282556DE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503424-9425-44EC-8B43-CACEA84CF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8971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E5F13D-9E26-4226-91AF-90668EB9C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1ADC30-61B8-48BB-ACA4-F7AB7341E3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588AE-9067-4495-A752-9B5180956B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84F31A-B2D8-4045-9922-ECCA4F41ABB2}" type="datetimeFigureOut">
              <a:rPr lang="en-AU" smtClean="0"/>
              <a:t>16/07/2026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0C9D81-4918-4E4B-B9B2-7C692C5A36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396E3B-4E1B-4501-9062-5A4E3EEE4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35482A-9C75-4D3C-A743-75F1B738202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798435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mnesty.org.au/who-are-the-rohingya-refugees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k_7l5MMIRs?feature=oembed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2BCBF-23A8-4478-B9C2-375F6AA6B4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r>
              <a:rPr lang="en-AU" sz="6600" dirty="0">
                <a:latin typeface="Arial Rounded MT Bold" panose="020F0704030504030204" pitchFamily="34" charset="0"/>
              </a:rPr>
              <a:t>The Bone Sparrow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85C5E-FF32-4EA6-9E38-C7705D7F56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95944"/>
            <a:ext cx="9144000" cy="1389749"/>
          </a:xfrm>
        </p:spPr>
        <p:txBody>
          <a:bodyPr>
            <a:normAutofit/>
          </a:bodyPr>
          <a:lstStyle/>
          <a:p>
            <a:r>
              <a:rPr lang="en-AU" sz="3200" dirty="0">
                <a:latin typeface="Arial Rounded MT Bold" panose="020F0704030504030204" pitchFamily="34" charset="0"/>
              </a:rPr>
              <a:t>By Zana </a:t>
            </a:r>
            <a:r>
              <a:rPr lang="en-AU" sz="3200" dirty="0" err="1">
                <a:latin typeface="Arial Rounded MT Bold" panose="020F0704030504030204" pitchFamily="34" charset="0"/>
              </a:rPr>
              <a:t>Fraillon</a:t>
            </a:r>
            <a:endParaRPr lang="en-AU" sz="3200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3298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F00EE-7F42-440B-B42C-40804AB9C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344920" cy="1325563"/>
          </a:xfrm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AU" dirty="0">
                <a:latin typeface="Arial Rounded MT Bold" panose="020F0704030504030204" pitchFamily="34" charset="0"/>
              </a:rPr>
              <a:t>Cover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F36BF-925F-47A2-8B71-DCD7F3EA6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44920" cy="4351338"/>
          </a:xfrm>
        </p:spPr>
        <p:txBody>
          <a:bodyPr/>
          <a:lstStyle/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Look closely at the cover of the book. </a:t>
            </a: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With the person next to you, come up with a list of 5 things you notice about the cover. This list can include the background, colours, text, or anything else. </a:t>
            </a:r>
          </a:p>
          <a:p>
            <a:endParaRPr lang="en-AU" dirty="0"/>
          </a:p>
        </p:txBody>
      </p:sp>
      <p:pic>
        <p:nvPicPr>
          <p:cNvPr id="1026" name="Picture 2" descr="Image result for the bone sparrow">
            <a:extLst>
              <a:ext uri="{FF2B5EF4-FFF2-40B4-BE49-F238E27FC236}">
                <a16:creationId xmlns:a16="http://schemas.microsoft.com/office/drawing/2014/main" id="{07508B8B-FB35-4607-B41D-20F4814636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0960" y="294005"/>
            <a:ext cx="3906520" cy="6090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6556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F00EE-7F42-440B-B42C-40804AB9C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344920" cy="1325563"/>
          </a:xfrm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AU" dirty="0">
                <a:latin typeface="Arial Rounded MT Bold" panose="020F0704030504030204" pitchFamily="34" charset="0"/>
              </a:rPr>
              <a:t>Cover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F36BF-925F-47A2-8B71-DCD7F3EA6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344920" cy="4351338"/>
          </a:xfrm>
        </p:spPr>
        <p:txBody>
          <a:bodyPr/>
          <a:lstStyle/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This is a different cover for the same book. </a:t>
            </a: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What are the differences between this cover and the one you have? </a:t>
            </a: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What are the similarities? </a:t>
            </a: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Does it change what you expect the book to be about? </a:t>
            </a:r>
          </a:p>
          <a:p>
            <a:endParaRPr lang="en-AU" dirty="0"/>
          </a:p>
        </p:txBody>
      </p:sp>
      <p:pic>
        <p:nvPicPr>
          <p:cNvPr id="3074" name="Picture 2" descr="Image result for the bone sparrow">
            <a:extLst>
              <a:ext uri="{FF2B5EF4-FFF2-40B4-BE49-F238E27FC236}">
                <a16:creationId xmlns:a16="http://schemas.microsoft.com/office/drawing/2014/main" id="{1D99903B-9378-4973-9ABF-6EB74AA03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1228" y="407814"/>
            <a:ext cx="3935412" cy="604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9679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38100-56C8-460A-9500-8AB65642BBF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AU" dirty="0">
                <a:latin typeface="Arial Rounded MT Bold" panose="020F0704030504030204" pitchFamily="34" charset="0"/>
              </a:rPr>
              <a:t>Asylum Seekers and Refugees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4D7F5-CC3C-4997-A067-9AC64A6A8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What does the word ‘</a:t>
            </a:r>
            <a:r>
              <a:rPr lang="en-AU" b="1" dirty="0">
                <a:latin typeface="Arial" panose="020B0604020202020204" pitchFamily="34" charset="0"/>
                <a:cs typeface="Arial" panose="020B0604020202020204" pitchFamily="34" charset="0"/>
              </a:rPr>
              <a:t>asylum</a:t>
            </a:r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’ mean to you?</a:t>
            </a: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What do you think of when you hear the term ‘</a:t>
            </a:r>
            <a:r>
              <a:rPr lang="en-AU" b="1" dirty="0">
                <a:latin typeface="Arial" panose="020B0604020202020204" pitchFamily="34" charset="0"/>
                <a:cs typeface="Arial" panose="020B0604020202020204" pitchFamily="34" charset="0"/>
              </a:rPr>
              <a:t>asylum</a:t>
            </a:r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b="1" dirty="0">
                <a:latin typeface="Arial" panose="020B0604020202020204" pitchFamily="34" charset="0"/>
                <a:cs typeface="Arial" panose="020B0604020202020204" pitchFamily="34" charset="0"/>
              </a:rPr>
              <a:t>seeker</a:t>
            </a:r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’? </a:t>
            </a: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What does the word ‘</a:t>
            </a:r>
            <a:r>
              <a:rPr lang="en-AU" b="1" dirty="0">
                <a:latin typeface="Arial" panose="020B0604020202020204" pitchFamily="34" charset="0"/>
                <a:cs typeface="Arial" panose="020B0604020202020204" pitchFamily="34" charset="0"/>
              </a:rPr>
              <a:t>refugee</a:t>
            </a:r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’ mean?</a:t>
            </a:r>
          </a:p>
          <a:p>
            <a:endParaRPr lang="en-A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Take a minute to write down what you think, then discuss what you wrote with the person next to you </a:t>
            </a:r>
          </a:p>
        </p:txBody>
      </p:sp>
    </p:spTree>
    <p:extLst>
      <p:ext uri="{BB962C8B-B14F-4D97-AF65-F5344CB8AC3E}">
        <p14:creationId xmlns:p14="http://schemas.microsoft.com/office/powerpoint/2010/main" val="1152357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F4914-2F0A-474D-9070-45145B928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b="1" dirty="0">
                <a:latin typeface="Arial" panose="020B0604020202020204" pitchFamily="34" charset="0"/>
                <a:cs typeface="Arial" panose="020B0604020202020204" pitchFamily="34" charset="0"/>
              </a:rPr>
              <a:t>Asylum</a:t>
            </a:r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 is the protection granted by a state to someone who has left their home country as a political refugee.</a:t>
            </a:r>
          </a:p>
          <a:p>
            <a:endParaRPr lang="en-A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An </a:t>
            </a:r>
            <a:r>
              <a:rPr lang="en-AU" b="1" dirty="0">
                <a:latin typeface="Arial" panose="020B0604020202020204" pitchFamily="34" charset="0"/>
                <a:cs typeface="Arial" panose="020B0604020202020204" pitchFamily="34" charset="0"/>
              </a:rPr>
              <a:t>asylum</a:t>
            </a:r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AU" b="1" dirty="0">
                <a:latin typeface="Arial" panose="020B0604020202020204" pitchFamily="34" charset="0"/>
                <a:cs typeface="Arial" panose="020B0604020202020204" pitchFamily="34" charset="0"/>
              </a:rPr>
              <a:t>seeker</a:t>
            </a:r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 is someone who has left their home country as a political refugee and is seeking asylum in another.</a:t>
            </a:r>
          </a:p>
          <a:p>
            <a:pPr marL="0" indent="0">
              <a:buNone/>
            </a:pPr>
            <a:endParaRPr lang="en-A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AU" b="1" dirty="0">
                <a:latin typeface="Arial" panose="020B0604020202020204" pitchFamily="34" charset="0"/>
                <a:cs typeface="Arial" panose="020B0604020202020204" pitchFamily="34" charset="0"/>
              </a:rPr>
              <a:t>refugee</a:t>
            </a:r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 is someone who has been forced to leave their home country to escape war, persecution, or natural disaster. 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DFA0CCA-5E80-4F3D-96F6-D2D6D74C2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AU" dirty="0">
                <a:latin typeface="Arial Rounded MT Bold" panose="020F0704030504030204" pitchFamily="34" charset="0"/>
              </a:rPr>
              <a:t>Asylum Seekers and Refugees</a:t>
            </a:r>
          </a:p>
        </p:txBody>
      </p:sp>
    </p:spTree>
    <p:extLst>
      <p:ext uri="{BB962C8B-B14F-4D97-AF65-F5344CB8AC3E}">
        <p14:creationId xmlns:p14="http://schemas.microsoft.com/office/powerpoint/2010/main" val="1657919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25CDE-1592-4A5E-B5F0-970D9F0C310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AU" dirty="0">
                <a:latin typeface="Arial Rounded MT Bold" panose="020F0704030504030204" pitchFamily="34" charset="0"/>
              </a:rPr>
              <a:t>Where is Burma? </a:t>
            </a:r>
          </a:p>
        </p:txBody>
      </p:sp>
      <p:pic>
        <p:nvPicPr>
          <p:cNvPr id="2050" name="Picture 2" descr="Image result for burma on a map">
            <a:extLst>
              <a:ext uri="{FF2B5EF4-FFF2-40B4-BE49-F238E27FC236}">
                <a16:creationId xmlns:a16="http://schemas.microsoft.com/office/drawing/2014/main" id="{61657FBA-103D-47EF-A0E8-5B18AFD50E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7827" y="1892301"/>
            <a:ext cx="7712352" cy="4600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Image result for burma on a map">
            <a:extLst>
              <a:ext uri="{FF2B5EF4-FFF2-40B4-BE49-F238E27FC236}">
                <a16:creationId xmlns:a16="http://schemas.microsoft.com/office/drawing/2014/main" id="{C8FE5DDD-9C4A-4A9F-A3A7-CA7149124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2395" y="1892301"/>
            <a:ext cx="3111778" cy="460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8602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35A43-5DE1-4E6A-8800-448013A6FC7F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AU" dirty="0">
                <a:latin typeface="Arial Rounded MT Bold" panose="020F0704030504030204" pitchFamily="34" charset="0"/>
              </a:rPr>
              <a:t>Burma</a:t>
            </a:r>
          </a:p>
        </p:txBody>
      </p:sp>
      <p:pic>
        <p:nvPicPr>
          <p:cNvPr id="4098" name="Picture 2" descr="Image result for burma">
            <a:extLst>
              <a:ext uri="{FF2B5EF4-FFF2-40B4-BE49-F238E27FC236}">
                <a16:creationId xmlns:a16="http://schemas.microsoft.com/office/drawing/2014/main" id="{89CB9FA6-2777-4672-863A-D34B5C8EA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" y="1805940"/>
            <a:ext cx="5476240" cy="41071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Image result for burma people">
            <a:extLst>
              <a:ext uri="{FF2B5EF4-FFF2-40B4-BE49-F238E27FC236}">
                <a16:creationId xmlns:a16="http://schemas.microsoft.com/office/drawing/2014/main" id="{2DFF57FB-B11C-4E4B-BF8D-D4A3174BD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7122" y="2262187"/>
            <a:ext cx="5679440" cy="3194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4065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D60A8-706F-441F-BB58-66A0125FB7D4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AU" dirty="0">
                <a:latin typeface="Arial Rounded MT Bold" panose="020F0704030504030204" pitchFamily="34" charset="0"/>
              </a:rPr>
              <a:t>Rohingya Refugees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65E48-0E03-4682-9913-BC27753A52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  <a:hlinkClick r:id="rId2"/>
              </a:rPr>
              <a:t>https://www.amnesty.org.au/who-are-the-rohingya-refugees/</a:t>
            </a:r>
            <a:endParaRPr lang="en-A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A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Since 2017, more than 740,000 people from Myanmar have fled to Bangladesh and elsewhere because of extreme violence on the country’s western Bay of Bengal coast. </a:t>
            </a:r>
          </a:p>
          <a:p>
            <a:r>
              <a:rPr lang="en-AU" dirty="0">
                <a:latin typeface="Arial" panose="020B0604020202020204" pitchFamily="34" charset="0"/>
                <a:cs typeface="Arial" panose="020B0604020202020204" pitchFamily="34" charset="0"/>
              </a:rPr>
              <a:t>Most of the refugees identify as Rohingya, a Muslim minority ethnic group in predominantly Myanmar, which is predominantly Buddhist.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332571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Media 3" title="Rohingya Refugee Crisis">
            <a:hlinkClick r:id="" action="ppaction://media"/>
            <a:extLst>
              <a:ext uri="{FF2B5EF4-FFF2-40B4-BE49-F238E27FC236}">
                <a16:creationId xmlns:a16="http://schemas.microsoft.com/office/drawing/2014/main" id="{F1D292B3-0BE6-412F-A0D2-B480B3BC5192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838200" y="1894523"/>
            <a:ext cx="8174848" cy="4598352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7C80009-5C17-46CD-B823-36BA5344A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D4C7199-5C3D-42B9-8772-A36253746F28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>
                <a:latin typeface="Arial Rounded MT Bold" panose="020F0704030504030204" pitchFamily="34" charset="0"/>
              </a:rPr>
              <a:t>Rohingya Refugees </a:t>
            </a:r>
            <a:endParaRPr lang="en-AU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5201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07EE4-00C4-4418-AA7E-FA8B7A3C3AC2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1">
              <a:lumMod val="40000"/>
              <a:lumOff val="60000"/>
            </a:schemeClr>
          </a:solidFill>
        </p:spPr>
        <p:txBody>
          <a:bodyPr/>
          <a:lstStyle/>
          <a:p>
            <a:r>
              <a:rPr lang="en-AU" dirty="0">
                <a:latin typeface="Arial Rounded MT Bold" panose="020F0704030504030204" pitchFamily="34" charset="0"/>
              </a:rPr>
              <a:t>After Reading Chapter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A1FB2A-C213-4514-A313-D9E25DE091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do we know about </a:t>
            </a:r>
            <a:r>
              <a:rPr lang="en-AU" dirty="0" err="1"/>
              <a:t>Subhi’s</a:t>
            </a:r>
            <a:r>
              <a:rPr lang="en-AU" dirty="0"/>
              <a:t> family? </a:t>
            </a:r>
          </a:p>
        </p:txBody>
      </p:sp>
    </p:spTree>
    <p:extLst>
      <p:ext uri="{BB962C8B-B14F-4D97-AF65-F5344CB8AC3E}">
        <p14:creationId xmlns:p14="http://schemas.microsoft.com/office/powerpoint/2010/main" val="1792567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5A3D4F247C9741BCA78F26B98D0AB7" ma:contentTypeVersion="17" ma:contentTypeDescription="Create a new document." ma:contentTypeScope="" ma:versionID="9f09437d8d02a1e3f0770c32ba2175b3">
  <xsd:schema xmlns:xsd="http://www.w3.org/2001/XMLSchema" xmlns:xs="http://www.w3.org/2001/XMLSchema" xmlns:p="http://schemas.microsoft.com/office/2006/metadata/properties" xmlns:ns2="46846ff6-a39a-4f56-aca6-b2ea1af70d2e" xmlns:ns3="a8299878-b215-4b71-83d0-6b3d83d7e5d9" targetNamespace="http://schemas.microsoft.com/office/2006/metadata/properties" ma:root="true" ma:fieldsID="555cb06902e6186cbfcc866e1dbcbb82" ns2:_="" ns3:_="">
    <xsd:import namespace="46846ff6-a39a-4f56-aca6-b2ea1af70d2e"/>
    <xsd:import namespace="a8299878-b215-4b71-83d0-6b3d83d7e5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46ff6-a39a-4f56-aca6-b2ea1af70d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94073e9b-c14b-4f43-8554-77a15894e2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299878-b215-4b71-83d0-6b3d83d7e5d9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19187b04-ede7-4ab0-a3a9-aa9f31dff0a7}" ma:internalName="TaxCatchAll" ma:showField="CatchAllData" ma:web="a8299878-b215-4b71-83d0-6b3d83d7e5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46ff6-a39a-4f56-aca6-b2ea1af70d2e">
      <Terms xmlns="http://schemas.microsoft.com/office/infopath/2007/PartnerControls"/>
    </lcf76f155ced4ddcb4097134ff3c332f>
    <TaxCatchAll xmlns="a8299878-b215-4b71-83d0-6b3d83d7e5d9" xsi:nil="true"/>
  </documentManagement>
</p:properties>
</file>

<file path=customXml/itemProps1.xml><?xml version="1.0" encoding="utf-8"?>
<ds:datastoreItem xmlns:ds="http://schemas.openxmlformats.org/officeDocument/2006/customXml" ds:itemID="{0BF11B41-12C8-43C1-A50C-F469177B036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9DA5A15-6666-4078-A295-994528DFA5F0}"/>
</file>

<file path=customXml/itemProps3.xml><?xml version="1.0" encoding="utf-8"?>
<ds:datastoreItem xmlns:ds="http://schemas.openxmlformats.org/officeDocument/2006/customXml" ds:itemID="{A589D5F1-56A6-49C2-B4C9-7642FFA2A803}">
  <ds:schemaRefs>
    <ds:schemaRef ds:uri="http://schemas.microsoft.com/office/2006/metadata/properties"/>
    <ds:schemaRef ds:uri="http://schemas.microsoft.com/office/infopath/2007/PartnerControls"/>
    <ds:schemaRef ds:uri="46846ff6-a39a-4f56-aca6-b2ea1af70d2e"/>
    <ds:schemaRef ds:uri="a8299878-b215-4b71-83d0-6b3d83d7e5d9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307</Words>
  <Application>Microsoft Office PowerPoint</Application>
  <PresentationFormat>Widescreen</PresentationFormat>
  <Paragraphs>32</Paragraphs>
  <Slides>10</Slides>
  <Notes>0</Notes>
  <HiddenSlides>0</HiddenSlides>
  <MMClips>1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The Bone Sparrow</vt:lpstr>
      <vt:lpstr>Cover Analysis</vt:lpstr>
      <vt:lpstr>Cover Analysis</vt:lpstr>
      <vt:lpstr>Asylum Seekers and Refugees</vt:lpstr>
      <vt:lpstr>Asylum Seekers and Refugees</vt:lpstr>
      <vt:lpstr>Where is Burma? </vt:lpstr>
      <vt:lpstr>Burma</vt:lpstr>
      <vt:lpstr>Rohingya Refugees </vt:lpstr>
      <vt:lpstr>PowerPoint Presentation</vt:lpstr>
      <vt:lpstr>After Reading Chapter 1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Bone Sparrow</dc:title>
  <dc:creator>SPENCE, Elizabeth</dc:creator>
  <cp:lastModifiedBy>SPENCE, Elizabeth</cp:lastModifiedBy>
  <cp:revision>3</cp:revision>
  <dcterms:created xsi:type="dcterms:W3CDTF">2019-07-13T08:48:50Z</dcterms:created>
  <dcterms:modified xsi:type="dcterms:W3CDTF">2026-07-16T14:00:30Z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0x010100AC5A3D4F247C9741BCA78F26B98D0AB7</vt:lpwstr>
  </property>
  <property fmtid="{D5CDD505-2E9C-101B-9397-08002B2CF9AE}" pid="3" name="MediaServiceImageTags">
    <vt:lpwstr/>
  </property>
</Properties>
</file>