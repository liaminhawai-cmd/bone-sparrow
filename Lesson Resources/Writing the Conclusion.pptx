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diagrams/data1.xml" ContentType="application/vnd.openxmlformats-officedocument.drawingml.diagramData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diagrams/colors1.xml" ContentType="application/vnd.openxmlformats-officedocument.drawingml.diagramColors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drawing1.xml" ContentType="application/vnd.ms-office.drawingml.diagramDrawing+xml"/>
  <Override PartName="/ppt/authors.xml" ContentType="application/vnd.ms-powerpoint.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docMetadata/LabelInfo.xml" ContentType="application/vnd.ms-office.classificationlabels+xml"/>
  <Override PartName="/docProps/core.xml" ContentType="application/vnd.openxmlformats-package.core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22" r:id="rId1"/>
  </p:sldMasterIdLst>
  <p:notesMasterIdLst>
    <p:notesMasterId r:id="rId20"/>
  </p:notesMasterIdLst>
  <p:sldIdLst>
    <p:sldId id="278" r:id="rId2"/>
    <p:sldId id="279" r:id="rId3"/>
    <p:sldId id="280" r:id="rId4"/>
    <p:sldId id="281" r:id="rId5"/>
    <p:sldId id="282" r:id="rId6"/>
    <p:sldId id="283" r:id="rId7"/>
    <p:sldId id="284" r:id="rId8"/>
    <p:sldId id="285" r:id="rId9"/>
    <p:sldId id="286" r:id="rId10"/>
    <p:sldId id="287" r:id="rId11"/>
    <p:sldId id="288" r:id="rId12"/>
    <p:sldId id="289" r:id="rId13"/>
    <p:sldId id="290" r:id="rId14"/>
    <p:sldId id="293" r:id="rId15"/>
    <p:sldId id="294" r:id="rId16"/>
    <p:sldId id="291" r:id="rId17"/>
    <p:sldId id="292" r:id="rId18"/>
    <p:sldId id="295" r:id="rId19"/>
  </p:sldIdLst>
  <p:sldSz cx="12192000" cy="6858000"/>
  <p:notesSz cx="13716000" cy="2438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userDrawn="1">
          <p15:clr>
            <a:srgbClr val="A4A3A4"/>
          </p15:clr>
        </p15:guide>
        <p15:guide id="2" pos="456" userDrawn="1">
          <p15:clr>
            <a:srgbClr val="A4A3A4"/>
          </p15:clr>
        </p15:guide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pos="2136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8" orient="horz" pos="1152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0" orient="horz" pos="1512" userDrawn="1">
          <p15:clr>
            <a:srgbClr val="A4A3A4"/>
          </p15:clr>
        </p15:guide>
        <p15:guide id="11" pos="7680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3" pos="1008" userDrawn="1">
          <p15:clr>
            <a:srgbClr val="A4A3A4"/>
          </p15:clr>
        </p15:guide>
        <p15:guide id="14" pos="1584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4" orient="horz" pos="960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09" autoAdjust="0"/>
  </p:normalViewPr>
  <p:slideViewPr>
    <p:cSldViewPr snapToGrid="0" snapToObjects="1">
      <p:cViewPr varScale="1">
        <p:scale>
          <a:sx n="96" d="100"/>
          <a:sy n="96" d="100"/>
        </p:scale>
        <p:origin x="101" y="120"/>
      </p:cViewPr>
      <p:guideLst>
        <p:guide/>
        <p:guide pos="456"/>
        <p:guide orient="horz" pos="2616"/>
        <p:guide orient="horz" pos="3264"/>
        <p:guide pos="6912"/>
        <p:guide orient="horz" pos="2136"/>
        <p:guide orient="horz" pos="4008"/>
        <p:guide orient="horz" pos="1152"/>
        <p:guide orient="horz" pos="2352"/>
        <p:guide orient="horz" pos="1512"/>
        <p:guide pos="7680"/>
        <p:guide pos="6696"/>
        <p:guide pos="1008"/>
        <p:guide pos="1584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orient="horz" pos="960"/>
        <p:guide pos="5256"/>
        <p:guide pos="726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ustomXml" Target="../customXml/item1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28" Type="http://schemas.openxmlformats.org/officeDocument/2006/relationships/customXml" Target="../customXml/item3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Relationship Id="rId27" Type="http://schemas.openxmlformats.org/officeDocument/2006/relationships/customXml" Target="../customXml/item2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4" Type="http://schemas.openxmlformats.org/officeDocument/2006/relationships/image" Target="../media/image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BD853B5-5D37-44C4-8382-CEC730E7A609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34B83FE8-9EA8-4315-B92D-765D00D413D9}">
      <dgm:prSet/>
      <dgm:spPr/>
      <dgm:t>
        <a:bodyPr/>
        <a:lstStyle/>
        <a:p>
          <a:r>
            <a:rPr lang="en-AU"/>
            <a:t>Find the prompt, and consider the key words again</a:t>
          </a:r>
          <a:endParaRPr lang="en-US"/>
        </a:p>
      </dgm:t>
    </dgm:pt>
    <dgm:pt modelId="{78F1FF41-A77A-4DE3-AEAB-A8C28F8C8025}" type="parTrans" cxnId="{02A48A14-2C24-4277-A754-6F20DF6675F4}">
      <dgm:prSet/>
      <dgm:spPr/>
      <dgm:t>
        <a:bodyPr/>
        <a:lstStyle/>
        <a:p>
          <a:endParaRPr lang="en-US"/>
        </a:p>
      </dgm:t>
    </dgm:pt>
    <dgm:pt modelId="{C5C3648F-6F08-450B-BE24-61DE618BE90D}" type="sibTrans" cxnId="{02A48A14-2C24-4277-A754-6F20DF6675F4}">
      <dgm:prSet/>
      <dgm:spPr/>
      <dgm:t>
        <a:bodyPr/>
        <a:lstStyle/>
        <a:p>
          <a:endParaRPr lang="en-US"/>
        </a:p>
      </dgm:t>
    </dgm:pt>
    <dgm:pt modelId="{0EEF4FD3-B567-4419-85E6-E82B04C19958}">
      <dgm:prSet/>
      <dgm:spPr/>
      <dgm:t>
        <a:bodyPr/>
        <a:lstStyle/>
        <a:p>
          <a:r>
            <a:rPr lang="en-AU"/>
            <a:t>Using new phrases, restate what this means and make it clear if you agree or not.</a:t>
          </a:r>
          <a:endParaRPr lang="en-US"/>
        </a:p>
      </dgm:t>
    </dgm:pt>
    <dgm:pt modelId="{E2EFA5CE-FFCA-4AF6-80CC-0C7A6652C2E7}" type="parTrans" cxnId="{AC1FB7F5-C4AD-489D-A5E2-B6B428754003}">
      <dgm:prSet/>
      <dgm:spPr/>
      <dgm:t>
        <a:bodyPr/>
        <a:lstStyle/>
        <a:p>
          <a:endParaRPr lang="en-US"/>
        </a:p>
      </dgm:t>
    </dgm:pt>
    <dgm:pt modelId="{8B54D922-1A33-4F04-AF03-9D2BA19DAD4F}" type="sibTrans" cxnId="{AC1FB7F5-C4AD-489D-A5E2-B6B428754003}">
      <dgm:prSet/>
      <dgm:spPr/>
      <dgm:t>
        <a:bodyPr/>
        <a:lstStyle/>
        <a:p>
          <a:endParaRPr lang="en-US"/>
        </a:p>
      </dgm:t>
    </dgm:pt>
    <dgm:pt modelId="{E580D215-CAD4-4449-BADB-D1FE6CB352AC}" type="pres">
      <dgm:prSet presAssocID="{FBD853B5-5D37-44C4-8382-CEC730E7A609}" presName="root" presStyleCnt="0">
        <dgm:presLayoutVars>
          <dgm:dir/>
          <dgm:resizeHandles val="exact"/>
        </dgm:presLayoutVars>
      </dgm:prSet>
      <dgm:spPr/>
    </dgm:pt>
    <dgm:pt modelId="{7BEDF2B5-211F-4398-8FA5-C6733B541637}" type="pres">
      <dgm:prSet presAssocID="{34B83FE8-9EA8-4315-B92D-765D00D413D9}" presName="compNode" presStyleCnt="0"/>
      <dgm:spPr/>
    </dgm:pt>
    <dgm:pt modelId="{B728D2A6-69C7-411C-BCFD-02A379EF9D7B}" type="pres">
      <dgm:prSet presAssocID="{34B83FE8-9EA8-4315-B92D-765D00D413D9}" presName="bgRect" presStyleLbl="bgShp" presStyleIdx="0" presStyleCnt="2"/>
      <dgm:spPr/>
    </dgm:pt>
    <dgm:pt modelId="{CF2C8DB0-49BB-40E5-A3D8-0E05B7DB9B55}" type="pres">
      <dgm:prSet presAssocID="{34B83FE8-9EA8-4315-B92D-765D00D413D9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encil"/>
        </a:ext>
      </dgm:extLst>
    </dgm:pt>
    <dgm:pt modelId="{ADCB7180-8891-43B9-8E1D-19073B418562}" type="pres">
      <dgm:prSet presAssocID="{34B83FE8-9EA8-4315-B92D-765D00D413D9}" presName="spaceRect" presStyleCnt="0"/>
      <dgm:spPr/>
    </dgm:pt>
    <dgm:pt modelId="{47575BD6-3BCB-43EF-B3B4-5AEE751F7D1A}" type="pres">
      <dgm:prSet presAssocID="{34B83FE8-9EA8-4315-B92D-765D00D413D9}" presName="parTx" presStyleLbl="revTx" presStyleIdx="0" presStyleCnt="2">
        <dgm:presLayoutVars>
          <dgm:chMax val="0"/>
          <dgm:chPref val="0"/>
        </dgm:presLayoutVars>
      </dgm:prSet>
      <dgm:spPr/>
    </dgm:pt>
    <dgm:pt modelId="{1AEC16B9-B61D-40D1-B8F9-EB7057176988}" type="pres">
      <dgm:prSet presAssocID="{C5C3648F-6F08-450B-BE24-61DE618BE90D}" presName="sibTrans" presStyleCnt="0"/>
      <dgm:spPr/>
    </dgm:pt>
    <dgm:pt modelId="{6ECB1FBE-7282-4525-8A7A-193572EE9D7A}" type="pres">
      <dgm:prSet presAssocID="{0EEF4FD3-B567-4419-85E6-E82B04C19958}" presName="compNode" presStyleCnt="0"/>
      <dgm:spPr/>
    </dgm:pt>
    <dgm:pt modelId="{DF53A5F0-5DA9-4304-8724-7200A8748C6A}" type="pres">
      <dgm:prSet presAssocID="{0EEF4FD3-B567-4419-85E6-E82B04C19958}" presName="bgRect" presStyleLbl="bgShp" presStyleIdx="1" presStyleCnt="2"/>
      <dgm:spPr/>
    </dgm:pt>
    <dgm:pt modelId="{EE76CC89-6AAC-4C8C-B8EF-83CB5F4F0952}" type="pres">
      <dgm:prSet presAssocID="{0EEF4FD3-B567-4419-85E6-E82B04C19958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ubtitles"/>
        </a:ext>
      </dgm:extLst>
    </dgm:pt>
    <dgm:pt modelId="{91EBAE07-E7FD-4D47-BFD0-19124B6E31BB}" type="pres">
      <dgm:prSet presAssocID="{0EEF4FD3-B567-4419-85E6-E82B04C19958}" presName="spaceRect" presStyleCnt="0"/>
      <dgm:spPr/>
    </dgm:pt>
    <dgm:pt modelId="{380F3240-EE81-4FDC-B923-D1D23B817359}" type="pres">
      <dgm:prSet presAssocID="{0EEF4FD3-B567-4419-85E6-E82B04C19958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02A48A14-2C24-4277-A754-6F20DF6675F4}" srcId="{FBD853B5-5D37-44C4-8382-CEC730E7A609}" destId="{34B83FE8-9EA8-4315-B92D-765D00D413D9}" srcOrd="0" destOrd="0" parTransId="{78F1FF41-A77A-4DE3-AEAB-A8C28F8C8025}" sibTransId="{C5C3648F-6F08-450B-BE24-61DE618BE90D}"/>
    <dgm:cxn modelId="{53F01120-49E5-4574-A9E8-675555707DEF}" type="presOf" srcId="{FBD853B5-5D37-44C4-8382-CEC730E7A609}" destId="{E580D215-CAD4-4449-BADB-D1FE6CB352AC}" srcOrd="0" destOrd="0" presId="urn:microsoft.com/office/officeart/2018/2/layout/IconVerticalSolidList"/>
    <dgm:cxn modelId="{8359E062-B58F-488F-ADB6-2BF6AA8FE852}" type="presOf" srcId="{0EEF4FD3-B567-4419-85E6-E82B04C19958}" destId="{380F3240-EE81-4FDC-B923-D1D23B817359}" srcOrd="0" destOrd="0" presId="urn:microsoft.com/office/officeart/2018/2/layout/IconVerticalSolidList"/>
    <dgm:cxn modelId="{B40CA5AF-9BFE-46A4-888C-7DF26BA524A2}" type="presOf" srcId="{34B83FE8-9EA8-4315-B92D-765D00D413D9}" destId="{47575BD6-3BCB-43EF-B3B4-5AEE751F7D1A}" srcOrd="0" destOrd="0" presId="urn:microsoft.com/office/officeart/2018/2/layout/IconVerticalSolidList"/>
    <dgm:cxn modelId="{AC1FB7F5-C4AD-489D-A5E2-B6B428754003}" srcId="{FBD853B5-5D37-44C4-8382-CEC730E7A609}" destId="{0EEF4FD3-B567-4419-85E6-E82B04C19958}" srcOrd="1" destOrd="0" parTransId="{E2EFA5CE-FFCA-4AF6-80CC-0C7A6652C2E7}" sibTransId="{8B54D922-1A33-4F04-AF03-9D2BA19DAD4F}"/>
    <dgm:cxn modelId="{B554C278-F5F9-4612-81BB-ACFC9D06D7F6}" type="presParOf" srcId="{E580D215-CAD4-4449-BADB-D1FE6CB352AC}" destId="{7BEDF2B5-211F-4398-8FA5-C6733B541637}" srcOrd="0" destOrd="0" presId="urn:microsoft.com/office/officeart/2018/2/layout/IconVerticalSolidList"/>
    <dgm:cxn modelId="{74F27387-ACA0-4816-BC41-6C2E89D013CB}" type="presParOf" srcId="{7BEDF2B5-211F-4398-8FA5-C6733B541637}" destId="{B728D2A6-69C7-411C-BCFD-02A379EF9D7B}" srcOrd="0" destOrd="0" presId="urn:microsoft.com/office/officeart/2018/2/layout/IconVerticalSolidList"/>
    <dgm:cxn modelId="{989398E7-A912-4D56-8F7C-CB78A9B10267}" type="presParOf" srcId="{7BEDF2B5-211F-4398-8FA5-C6733B541637}" destId="{CF2C8DB0-49BB-40E5-A3D8-0E05B7DB9B55}" srcOrd="1" destOrd="0" presId="urn:microsoft.com/office/officeart/2018/2/layout/IconVerticalSolidList"/>
    <dgm:cxn modelId="{6DC94927-124F-4ED0-8DFF-0CAB8295488A}" type="presParOf" srcId="{7BEDF2B5-211F-4398-8FA5-C6733B541637}" destId="{ADCB7180-8891-43B9-8E1D-19073B418562}" srcOrd="2" destOrd="0" presId="urn:microsoft.com/office/officeart/2018/2/layout/IconVerticalSolidList"/>
    <dgm:cxn modelId="{E946320E-A9C6-43CF-BBED-7524EE97D2EC}" type="presParOf" srcId="{7BEDF2B5-211F-4398-8FA5-C6733B541637}" destId="{47575BD6-3BCB-43EF-B3B4-5AEE751F7D1A}" srcOrd="3" destOrd="0" presId="urn:microsoft.com/office/officeart/2018/2/layout/IconVerticalSolidList"/>
    <dgm:cxn modelId="{3B24CDAF-7922-4500-830E-49209CEEE56C}" type="presParOf" srcId="{E580D215-CAD4-4449-BADB-D1FE6CB352AC}" destId="{1AEC16B9-B61D-40D1-B8F9-EB7057176988}" srcOrd="1" destOrd="0" presId="urn:microsoft.com/office/officeart/2018/2/layout/IconVerticalSolidList"/>
    <dgm:cxn modelId="{2B4B1AD4-E2A1-45D4-897C-0E3B10582122}" type="presParOf" srcId="{E580D215-CAD4-4449-BADB-D1FE6CB352AC}" destId="{6ECB1FBE-7282-4525-8A7A-193572EE9D7A}" srcOrd="2" destOrd="0" presId="urn:microsoft.com/office/officeart/2018/2/layout/IconVerticalSolidList"/>
    <dgm:cxn modelId="{025DD119-5439-4CFE-9074-590B675E94F7}" type="presParOf" srcId="{6ECB1FBE-7282-4525-8A7A-193572EE9D7A}" destId="{DF53A5F0-5DA9-4304-8724-7200A8748C6A}" srcOrd="0" destOrd="0" presId="urn:microsoft.com/office/officeart/2018/2/layout/IconVerticalSolidList"/>
    <dgm:cxn modelId="{D6053D8B-346D-4303-852B-A8ED96DC3A7A}" type="presParOf" srcId="{6ECB1FBE-7282-4525-8A7A-193572EE9D7A}" destId="{EE76CC89-6AAC-4C8C-B8EF-83CB5F4F0952}" srcOrd="1" destOrd="0" presId="urn:microsoft.com/office/officeart/2018/2/layout/IconVerticalSolidList"/>
    <dgm:cxn modelId="{0DFCC9D2-5469-4E34-AE41-DBA1D9CCCCD0}" type="presParOf" srcId="{6ECB1FBE-7282-4525-8A7A-193572EE9D7A}" destId="{91EBAE07-E7FD-4D47-BFD0-19124B6E31BB}" srcOrd="2" destOrd="0" presId="urn:microsoft.com/office/officeart/2018/2/layout/IconVerticalSolidList"/>
    <dgm:cxn modelId="{C7434FD0-99B9-4091-90BA-9C2D50497A94}" type="presParOf" srcId="{6ECB1FBE-7282-4525-8A7A-193572EE9D7A}" destId="{380F3240-EE81-4FDC-B923-D1D23B81735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28D2A6-69C7-411C-BCFD-02A379EF9D7B}">
      <dsp:nvSpPr>
        <dsp:cNvPr id="0" name=""/>
        <dsp:cNvSpPr/>
      </dsp:nvSpPr>
      <dsp:spPr>
        <a:xfrm>
          <a:off x="0" y="836374"/>
          <a:ext cx="6289466" cy="1544076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F2C8DB0-49BB-40E5-A3D8-0E05B7DB9B55}">
      <dsp:nvSpPr>
        <dsp:cNvPr id="0" name=""/>
        <dsp:cNvSpPr/>
      </dsp:nvSpPr>
      <dsp:spPr>
        <a:xfrm>
          <a:off x="467083" y="1183792"/>
          <a:ext cx="849242" cy="84924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575BD6-3BCB-43EF-B3B4-5AEE751F7D1A}">
      <dsp:nvSpPr>
        <dsp:cNvPr id="0" name=""/>
        <dsp:cNvSpPr/>
      </dsp:nvSpPr>
      <dsp:spPr>
        <a:xfrm>
          <a:off x="1783408" y="836374"/>
          <a:ext cx="4506057" cy="15440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415" tIns="163415" rIns="163415" bIns="163415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U" sz="1800" kern="1200"/>
            <a:t>Find the prompt, and consider the key words again</a:t>
          </a:r>
          <a:endParaRPr lang="en-US" sz="1800" kern="1200"/>
        </a:p>
      </dsp:txBody>
      <dsp:txXfrm>
        <a:off x="1783408" y="836374"/>
        <a:ext cx="4506057" cy="1544076"/>
      </dsp:txXfrm>
    </dsp:sp>
    <dsp:sp modelId="{DF53A5F0-5DA9-4304-8724-7200A8748C6A}">
      <dsp:nvSpPr>
        <dsp:cNvPr id="0" name=""/>
        <dsp:cNvSpPr/>
      </dsp:nvSpPr>
      <dsp:spPr>
        <a:xfrm>
          <a:off x="0" y="2766470"/>
          <a:ext cx="6289466" cy="1544076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E76CC89-6AAC-4C8C-B8EF-83CB5F4F0952}">
      <dsp:nvSpPr>
        <dsp:cNvPr id="0" name=""/>
        <dsp:cNvSpPr/>
      </dsp:nvSpPr>
      <dsp:spPr>
        <a:xfrm>
          <a:off x="467083" y="3113887"/>
          <a:ext cx="849242" cy="84924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0F3240-EE81-4FDC-B923-D1D23B817359}">
      <dsp:nvSpPr>
        <dsp:cNvPr id="0" name=""/>
        <dsp:cNvSpPr/>
      </dsp:nvSpPr>
      <dsp:spPr>
        <a:xfrm>
          <a:off x="1783408" y="2766470"/>
          <a:ext cx="4506057" cy="15440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415" tIns="163415" rIns="163415" bIns="163415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U" sz="1800" kern="1200"/>
            <a:t>Using new phrases, restate what this means and make it clear if you agree or not.</a:t>
          </a:r>
          <a:endParaRPr lang="en-US" sz="1800" kern="1200"/>
        </a:p>
      </dsp:txBody>
      <dsp:txXfrm>
        <a:off x="1783408" y="2766470"/>
        <a:ext cx="4506057" cy="154407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B0DB3-A8FF-4ABB-9E2E-D960422260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3025308"/>
          </a:xfrm>
        </p:spPr>
        <p:txBody>
          <a:bodyPr anchor="b"/>
          <a:lstStyle>
            <a:lvl1pPr algn="ctr"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EE0618-75D7-410F-859C-CDF53BC53E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86729"/>
            <a:ext cx="9144000" cy="1135529"/>
          </a:xfrm>
        </p:spPr>
        <p:txBody>
          <a:bodyPr>
            <a:normAutofit/>
          </a:bodyPr>
          <a:lstStyle>
            <a:lvl1pPr marL="0" indent="0" algn="ctr">
              <a:lnSpc>
                <a:spcPct val="12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37F11-76DB-4DD9-9747-3F38D05BA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9F581-81B0-44B3-ABA5-A25CA4BAE4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0D591-ADCF-4300-8282-72AE357F3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677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75558-A264-444E-829B-51AAE6B4B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8D9373-37D1-4135-8D34-755E139F79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E4A6B-1966-4E57-9FB8-8B111E97B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11/5/2025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FC3DD-F2BE-41FF-895B-00129AAB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1F830C-8424-4FAF-A011-605AE1D14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786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A1BE8-ECC1-4027-B16E-C7BECCA9D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46C7E1-471A-46AA-8068-98E68C0C2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7C9F8F-EC48-4D16-B4C6-023A7B607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FA5B3-F726-417B-932A-B93E0C8F5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7D21F1-1A24-43EA-AB09-3024C491E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759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16569-B648-4D50-BEB8-E8DAE24D6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831B3-A1FD-470C-BEEE-4CFB441502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924493"/>
            <a:ext cx="5181600" cy="42524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F34A17-C244-438C-9AE3-FB9B3CE3BD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924493"/>
            <a:ext cx="5181600" cy="42524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CFA3AA-3FC1-4B98-8F99-1726F1AC0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E10883-BACC-41A1-9067-ECFDB937D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7660A2-13C9-4432-A6EB-A4FF3D78F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9738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7C843-C993-4E9C-80DD-3620816E5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A8E3-B066-4511-9C6E-A3435B64DD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734325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86B63-4102-4802-94D7-F138F80F3E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58237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924765-08A7-4A60-86DC-DC420F60BB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734325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AA2795-EFB6-4000-8F25-FBB62646C0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58237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942CFB-FE12-494A-9C41-3CB90F07B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3A07E3-59E1-4EBD-9687-4B6ABE96A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F7BB23-7539-4674-8B66-ACEFF9468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086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841DB-C73C-4968-B434-A6AA14DAF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8152BF-92C7-4BF5-A9DB-16A0BF0F5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289DB7-F492-4037-A439-D70F7E556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FA96F1-8B8A-4E83-B3C2-E10DE522A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896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031033-9688-463F-9614-47F2F5BC6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5B8DB2-C14B-45AC-ACAF-8702DF59C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01DA57-8D4E-4075-9460-4F03DF8AA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09898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CBE2C-9DAA-489D-AC88-15CBBA8A9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124BE-E494-445A-A4FB-A2A8F28F0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2446DE-9A32-4774-9F7C-86678CA90E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00115D-61B3-46D0-B4D3-30C374B52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3C2AFC-D0F8-469F-B1E0-123C2E066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B9BCDA-9EF7-4531-8021-AF7B30751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663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AE558-F89F-4688-94E5-77F37D49F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CD35AF-8CA2-49BB-BAE9-F29A0186EC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5CAA98-55BD-4118-A8AF-D603060784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BFF4C5-82A8-4AD8-B7E2-2882F6576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60B401-B64F-417B-8AD6-581A22E5E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24BD4C-7149-44BF-8150-F72CAA95A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136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E5C77-55F8-4677-A96C-E6D3F5545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A064EF-ADDA-4943-8F87-A7469D7997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B0D493-D1E7-4358-95E9-B5B80A49E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E98326-3276-4B9E-960F-10C6677BF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4C3AC2-288D-4FEE-BF80-0EAEDDFAB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148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333C6A-5417-40BD-BF7A-9405832237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3BCB45-B343-46F6-9718-AA0D68CED1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BDA2A4-FD34-4E17-908F-4367B1E64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B87AE3-776D-451D-AA52-C06B74724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A0C4D5-BE1E-4D6A-9196-E0F9E42B2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436E0F2-A64B-471E-93C0-8DFE08CC57C8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C1E3AB1-2A8C-4607-9FAE-D8BDB280FE1A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6D66059-832F-40B6-A35F-F56C8F38A1E7}"/>
              </a:ext>
            </a:extLst>
          </p:cNvPr>
          <p:cNvCxnSpPr>
            <a:cxnSpLocks/>
          </p:cNvCxnSpPr>
          <p:nvPr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515E2ED-7EA9-448D-83FA-54C3DF9723BD}"/>
              </a:ext>
            </a:extLst>
          </p:cNvPr>
          <p:cNvCxnSpPr>
            <a:cxnSpLocks/>
          </p:cNvCxnSpPr>
          <p:nvPr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0595356-EABD-4767-AC9D-EA21FF115EC0}"/>
              </a:ext>
            </a:extLst>
          </p:cNvPr>
          <p:cNvCxnSpPr>
            <a:cxnSpLocks/>
          </p:cNvCxnSpPr>
          <p:nvPr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8CD9F06-9628-469C-B788-A894E3E08281}"/>
              </a:ext>
            </a:extLst>
          </p:cNvPr>
          <p:cNvCxnSpPr>
            <a:cxnSpLocks/>
          </p:cNvCxnSpPr>
          <p:nvPr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550A431-0B61-421B-B4B7-24C0CFF0F938}"/>
              </a:ext>
            </a:extLst>
          </p:cNvPr>
          <p:cNvCxnSpPr>
            <a:cxnSpLocks/>
          </p:cNvCxnSpPr>
          <p:nvPr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5B94C5-D205-4339-B029-5D0FD2E5F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533401"/>
            <a:ext cx="9906000" cy="1382156"/>
          </a:xfrm>
          <a:prstGeom prst="rect">
            <a:avLst/>
          </a:prstGeom>
        </p:spPr>
        <p:txBody>
          <a:bodyPr lIns="109728" tIns="109728" rIns="109728" bIns="91440"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96DC5C-BD34-4CE4-8AA7-A6A4B9516F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000" y="2009554"/>
            <a:ext cx="9906000" cy="4024424"/>
          </a:xfrm>
          <a:prstGeom prst="rect">
            <a:avLst/>
          </a:prstGeom>
        </p:spPr>
        <p:txBody>
          <a:bodyPr lIns="109728" tIns="109728" rIns="109728" b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F192A7-D622-449D-9FC2-48FDE4D690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337102" y="6398878"/>
            <a:ext cx="4193908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100" spc="60">
                <a:solidFill>
                  <a:schemeClr val="tx2"/>
                </a:solidFill>
                <a:latin typeface="+mn-lt"/>
              </a:defRPr>
            </a:lvl1pPr>
          </a:lstStyle>
          <a:p>
            <a:fld id="{11EAACC7-3B3F-47D1-959A-EF58926E955E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5B93C-2BE9-4847-BFE5-D3CBCC6E9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4429" y="6398878"/>
            <a:ext cx="4497315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200" b="1" spc="60" baseline="0">
                <a:solidFill>
                  <a:schemeClr val="tx2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F70A99-395E-4F22-8AAB-6C7EE743D7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02477" y="6398878"/>
            <a:ext cx="470887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100">
                <a:solidFill>
                  <a:schemeClr val="tx2"/>
                </a:solidFill>
                <a:latin typeface="+mn-lt"/>
              </a:defRPr>
            </a:lvl1pPr>
          </a:lstStyle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9977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9" r:id="rId1"/>
    <p:sldLayoutId id="2147483820" r:id="rId2"/>
    <p:sldLayoutId id="2147483821" r:id="rId3"/>
    <p:sldLayoutId id="2147483811" r:id="rId4"/>
    <p:sldLayoutId id="2147483812" r:id="rId5"/>
    <p:sldLayoutId id="2147483817" r:id="rId6"/>
    <p:sldLayoutId id="2147483813" r:id="rId7"/>
    <p:sldLayoutId id="2147483814" r:id="rId8"/>
    <p:sldLayoutId id="2147483815" r:id="rId9"/>
    <p:sldLayoutId id="2147483816" r:id="rId10"/>
    <p:sldLayoutId id="2147483818" r:id="rId11"/>
  </p:sldLayoutIdLst>
  <p:txStyles>
    <p:titleStyle>
      <a:lvl1pPr algn="l" defTabSz="914400" rtl="0" eaLnBrk="1" latinLnBrk="0" hangingPunct="1">
        <a:lnSpc>
          <a:spcPct val="105000"/>
        </a:lnSpc>
        <a:spcBef>
          <a:spcPct val="0"/>
        </a:spcBef>
        <a:buNone/>
        <a:defRPr sz="4400" b="1" i="0" kern="1200" cap="none" spc="14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400" kern="1200" spc="1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2000" kern="1200" spc="1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800" kern="1200" spc="1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 spc="1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 spc="1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052B717E-679E-41A4-B95A-8F7DFAD3FA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23">
            <a:extLst>
              <a:ext uri="{FF2B5EF4-FFF2-40B4-BE49-F238E27FC236}">
                <a16:creationId xmlns:a16="http://schemas.microsoft.com/office/drawing/2014/main" id="{0B0EB278-F8C7-43AD-BCE2-A2F4D98C4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-1"/>
            <a:ext cx="7960944" cy="6859759"/>
          </a:xfrm>
          <a:custGeom>
            <a:avLst/>
            <a:gdLst>
              <a:gd name="connsiteX0" fmla="*/ 0 w 5803153"/>
              <a:gd name="connsiteY0" fmla="*/ 0 h 6857998"/>
              <a:gd name="connsiteX1" fmla="*/ 5803153 w 5803153"/>
              <a:gd name="connsiteY1" fmla="*/ 0 h 6857998"/>
              <a:gd name="connsiteX2" fmla="*/ 5803153 w 5803153"/>
              <a:gd name="connsiteY2" fmla="*/ 6857998 h 6857998"/>
              <a:gd name="connsiteX3" fmla="*/ 0 w 5803153"/>
              <a:gd name="connsiteY3" fmla="*/ 6857998 h 6857998"/>
              <a:gd name="connsiteX4" fmla="*/ 0 w 5803153"/>
              <a:gd name="connsiteY4" fmla="*/ 0 h 6857998"/>
              <a:gd name="connsiteX0" fmla="*/ 1016000 w 5803153"/>
              <a:gd name="connsiteY0" fmla="*/ 0 h 6857998"/>
              <a:gd name="connsiteX1" fmla="*/ 5803153 w 5803153"/>
              <a:gd name="connsiteY1" fmla="*/ 0 h 6857998"/>
              <a:gd name="connsiteX2" fmla="*/ 5803153 w 5803153"/>
              <a:gd name="connsiteY2" fmla="*/ 6857998 h 6857998"/>
              <a:gd name="connsiteX3" fmla="*/ 0 w 5803153"/>
              <a:gd name="connsiteY3" fmla="*/ 6857998 h 6857998"/>
              <a:gd name="connsiteX4" fmla="*/ 1016000 w 5803153"/>
              <a:gd name="connsiteY4" fmla="*/ 0 h 6857998"/>
              <a:gd name="connsiteX0" fmla="*/ 1338729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338729 w 6125882"/>
              <a:gd name="connsiteY4" fmla="*/ 0 h 6857998"/>
              <a:gd name="connsiteX0" fmla="*/ 1697317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697317 w 6125882"/>
              <a:gd name="connsiteY4" fmla="*/ 0 h 6857998"/>
              <a:gd name="connsiteX0" fmla="*/ 2702091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2702091 w 6125882"/>
              <a:gd name="connsiteY4" fmla="*/ 0 h 6857998"/>
              <a:gd name="connsiteX0" fmla="*/ 3837993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3837993 w 6125882"/>
              <a:gd name="connsiteY4" fmla="*/ 0 h 6857998"/>
              <a:gd name="connsiteX0" fmla="*/ 3244301 w 6125882"/>
              <a:gd name="connsiteY0" fmla="*/ 0 h 6868949"/>
              <a:gd name="connsiteX1" fmla="*/ 6125882 w 6125882"/>
              <a:gd name="connsiteY1" fmla="*/ 10951 h 6868949"/>
              <a:gd name="connsiteX2" fmla="*/ 6125882 w 6125882"/>
              <a:gd name="connsiteY2" fmla="*/ 6868949 h 6868949"/>
              <a:gd name="connsiteX3" fmla="*/ 0 w 6125882"/>
              <a:gd name="connsiteY3" fmla="*/ 6856996 h 6868949"/>
              <a:gd name="connsiteX4" fmla="*/ 3244301 w 6125882"/>
              <a:gd name="connsiteY4" fmla="*/ 0 h 6868949"/>
              <a:gd name="connsiteX0" fmla="*/ 3010169 w 6125882"/>
              <a:gd name="connsiteY0" fmla="*/ 0 h 6868949"/>
              <a:gd name="connsiteX1" fmla="*/ 6125882 w 6125882"/>
              <a:gd name="connsiteY1" fmla="*/ 10951 h 6868949"/>
              <a:gd name="connsiteX2" fmla="*/ 6125882 w 6125882"/>
              <a:gd name="connsiteY2" fmla="*/ 6868949 h 6868949"/>
              <a:gd name="connsiteX3" fmla="*/ 0 w 6125882"/>
              <a:gd name="connsiteY3" fmla="*/ 6856996 h 6868949"/>
              <a:gd name="connsiteX4" fmla="*/ 3010169 w 6125882"/>
              <a:gd name="connsiteY4" fmla="*/ 0 h 6868949"/>
              <a:gd name="connsiteX0" fmla="*/ 2951635 w 6067348"/>
              <a:gd name="connsiteY0" fmla="*/ 0 h 6868949"/>
              <a:gd name="connsiteX1" fmla="*/ 6067348 w 6067348"/>
              <a:gd name="connsiteY1" fmla="*/ 10951 h 6868949"/>
              <a:gd name="connsiteX2" fmla="*/ 6067348 w 6067348"/>
              <a:gd name="connsiteY2" fmla="*/ 6868949 h 6868949"/>
              <a:gd name="connsiteX3" fmla="*/ 0 w 6067348"/>
              <a:gd name="connsiteY3" fmla="*/ 6867946 h 6868949"/>
              <a:gd name="connsiteX4" fmla="*/ 2951635 w 6067348"/>
              <a:gd name="connsiteY4" fmla="*/ 0 h 6868949"/>
              <a:gd name="connsiteX0" fmla="*/ 2762929 w 6067348"/>
              <a:gd name="connsiteY0" fmla="*/ 0 h 6859759"/>
              <a:gd name="connsiteX1" fmla="*/ 6067348 w 6067348"/>
              <a:gd name="connsiteY1" fmla="*/ 1761 h 6859759"/>
              <a:gd name="connsiteX2" fmla="*/ 6067348 w 6067348"/>
              <a:gd name="connsiteY2" fmla="*/ 6859759 h 6859759"/>
              <a:gd name="connsiteX3" fmla="*/ 0 w 6067348"/>
              <a:gd name="connsiteY3" fmla="*/ 6858756 h 6859759"/>
              <a:gd name="connsiteX4" fmla="*/ 2762929 w 6067348"/>
              <a:gd name="connsiteY4" fmla="*/ 0 h 6859759"/>
              <a:gd name="connsiteX0" fmla="*/ 2675315 w 6067348"/>
              <a:gd name="connsiteY0" fmla="*/ 0 h 6859759"/>
              <a:gd name="connsiteX1" fmla="*/ 6067348 w 6067348"/>
              <a:gd name="connsiteY1" fmla="*/ 1761 h 6859759"/>
              <a:gd name="connsiteX2" fmla="*/ 6067348 w 6067348"/>
              <a:gd name="connsiteY2" fmla="*/ 6859759 h 6859759"/>
              <a:gd name="connsiteX3" fmla="*/ 0 w 6067348"/>
              <a:gd name="connsiteY3" fmla="*/ 6858756 h 6859759"/>
              <a:gd name="connsiteX4" fmla="*/ 2675315 w 6067348"/>
              <a:gd name="connsiteY4" fmla="*/ 0 h 6859759"/>
              <a:gd name="connsiteX0" fmla="*/ 2446171 w 5838204"/>
              <a:gd name="connsiteY0" fmla="*/ 0 h 6859759"/>
              <a:gd name="connsiteX1" fmla="*/ 5838204 w 5838204"/>
              <a:gd name="connsiteY1" fmla="*/ 1761 h 6859759"/>
              <a:gd name="connsiteX2" fmla="*/ 5838204 w 5838204"/>
              <a:gd name="connsiteY2" fmla="*/ 6859759 h 6859759"/>
              <a:gd name="connsiteX3" fmla="*/ 0 w 5838204"/>
              <a:gd name="connsiteY3" fmla="*/ 6858756 h 6859759"/>
              <a:gd name="connsiteX4" fmla="*/ 2446171 w 5838204"/>
              <a:gd name="connsiteY4" fmla="*/ 0 h 6859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38204" h="6859759">
                <a:moveTo>
                  <a:pt x="2446171" y="0"/>
                </a:moveTo>
                <a:lnTo>
                  <a:pt x="5838204" y="1761"/>
                </a:lnTo>
                <a:lnTo>
                  <a:pt x="5838204" y="6859759"/>
                </a:lnTo>
                <a:lnTo>
                  <a:pt x="0" y="6858756"/>
                </a:lnTo>
                <a:lnTo>
                  <a:pt x="2446171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6860D9-9D47-C0BB-B2B4-4B6F2B36CF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0350" y="541964"/>
            <a:ext cx="4768938" cy="3818667"/>
          </a:xfrm>
        </p:spPr>
        <p:txBody>
          <a:bodyPr>
            <a:normAutofit/>
          </a:bodyPr>
          <a:lstStyle/>
          <a:p>
            <a:pPr algn="l"/>
            <a:r>
              <a:rPr lang="en-US" sz="5400" dirty="0"/>
              <a:t>Writing the Conclusion</a:t>
            </a:r>
            <a:br>
              <a:rPr lang="en-US" sz="5400" dirty="0"/>
            </a:br>
            <a:endParaRPr lang="en-US" sz="5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C1060B-300F-3CE3-E5AA-D8E29791C9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350" y="4700659"/>
            <a:ext cx="3834392" cy="1604222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Text response </a:t>
            </a:r>
            <a:br>
              <a:rPr lang="en-US" dirty="0"/>
            </a:br>
            <a:r>
              <a:rPr lang="en-US" i="1" dirty="0"/>
              <a:t>The Bone Sparrow</a:t>
            </a:r>
            <a:endParaRPr lang="en-US" dirty="0"/>
          </a:p>
          <a:p>
            <a:pPr algn="l"/>
            <a:endParaRPr lang="en-US" dirty="0"/>
          </a:p>
        </p:txBody>
      </p:sp>
      <p:cxnSp>
        <p:nvCxnSpPr>
          <p:cNvPr id="1035" name="Straight Connector 1034">
            <a:extLst>
              <a:ext uri="{FF2B5EF4-FFF2-40B4-BE49-F238E27FC236}">
                <a16:creationId xmlns:a16="http://schemas.microsoft.com/office/drawing/2014/main" id="{50A7A0AD-25ED-4137-AA04-A0E36CAA8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21187" y="10631"/>
            <a:ext cx="876073" cy="68580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7" name="Straight Connector 1036">
            <a:extLst>
              <a:ext uri="{FF2B5EF4-FFF2-40B4-BE49-F238E27FC236}">
                <a16:creationId xmlns:a16="http://schemas.microsoft.com/office/drawing/2014/main" id="{B186F20B-6445-4368-B022-F9EABF15A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9307961" y="640726"/>
            <a:ext cx="2884039" cy="6217274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9" name="Straight Connector 1038">
            <a:extLst>
              <a:ext uri="{FF2B5EF4-FFF2-40B4-BE49-F238E27FC236}">
                <a16:creationId xmlns:a16="http://schemas.microsoft.com/office/drawing/2014/main" id="{99F97BBF-9EBF-4BEE-B39C-E6C666941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434086" y="0"/>
            <a:ext cx="2757914" cy="142520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The Bone Sparrow">
            <a:extLst>
              <a:ext uri="{FF2B5EF4-FFF2-40B4-BE49-F238E27FC236}">
                <a16:creationId xmlns:a16="http://schemas.microsoft.com/office/drawing/2014/main" id="{E528D62B-F64E-23C0-0094-DAFF9A8033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429" b="97429" l="10000" r="90000">
                        <a14:foregroundMark x1="26286" y1="18143" x2="26286" y2="18143"/>
                        <a14:foregroundMark x1="24429" y1="9143" x2="24286" y2="68429"/>
                        <a14:foregroundMark x1="24286" y1="68429" x2="29857" y2="89857"/>
                        <a14:foregroundMark x1="29857" y1="89857" x2="49714" y2="94429"/>
                        <a14:foregroundMark x1="49714" y1="94429" x2="71857" y2="92857"/>
                        <a14:foregroundMark x1="71857" y1="92857" x2="78571" y2="7429"/>
                        <a14:foregroundMark x1="78571" y1="7429" x2="31143" y2="2857"/>
                        <a14:foregroundMark x1="31143" y1="2857" x2="23429" y2="9143"/>
                        <a14:foregroundMark x1="23429" y1="9143" x2="22429" y2="12571"/>
                        <a14:foregroundMark x1="23714" y1="3000" x2="63571" y2="2571"/>
                        <a14:foregroundMark x1="63571" y1="2571" x2="71429" y2="2571"/>
                        <a14:foregroundMark x1="25714" y1="92714" x2="62714" y2="95571"/>
                        <a14:foregroundMark x1="62714" y1="95571" x2="74429" y2="93286"/>
                        <a14:foregroundMark x1="74429" y1="93286" x2="75143" y2="92143"/>
                        <a14:foregroundMark x1="29571" y1="97714" x2="46429" y2="98143"/>
                        <a14:foregroundMark x1="46429" y1="98143" x2="76286" y2="97143"/>
                        <a14:foregroundMark x1="76286" y1="97143" x2="78000" y2="9742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6000" y="651981"/>
            <a:ext cx="5562600" cy="5562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15684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05284-5E3B-6F14-D554-2B7AF03A5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Learning outcomes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1FBFFD-B23D-5279-2E4A-88A04361D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AU" dirty="0"/>
              <a:t>Learning intention:</a:t>
            </a:r>
            <a:br>
              <a:rPr lang="en-AU" dirty="0"/>
            </a:b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AFB63E-4BAA-E1B2-C17D-0D20DFF2BE2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buSzPct val="100000"/>
            </a:pPr>
            <a:r>
              <a:rPr lang="en-AU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To be able to write a better conclusion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70CF23-3B51-0DCF-CA45-80F5209B3C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 lnSpcReduction="10000"/>
          </a:bodyPr>
          <a:lstStyle/>
          <a:p>
            <a:r>
              <a:rPr lang="en-AU" dirty="0"/>
              <a:t>By the end of the lesson, you will have: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149286-584D-E252-AFC1-FAB2A5E36C3C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>
              <a:buSzPct val="100000"/>
            </a:pPr>
            <a:r>
              <a:rPr lang="en-AU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Written at least three sentences for your conclusion</a:t>
            </a:r>
          </a:p>
          <a:p>
            <a:pPr>
              <a:buSzPct val="100000"/>
            </a:pPr>
            <a:r>
              <a:rPr lang="en-AU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Put them all together and typed up your conclusion</a:t>
            </a:r>
          </a:p>
        </p:txBody>
      </p:sp>
    </p:spTree>
    <p:extLst>
      <p:ext uri="{BB962C8B-B14F-4D97-AF65-F5344CB8AC3E}">
        <p14:creationId xmlns:p14="http://schemas.microsoft.com/office/powerpoint/2010/main" val="26058342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6309531-94CD-4CF6-AACE-80EC085E0F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06A9FF-F4BA-6307-B43F-E230B24FF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6159" y="685800"/>
            <a:ext cx="6238688" cy="1382233"/>
          </a:xfrm>
        </p:spPr>
        <p:txBody>
          <a:bodyPr>
            <a:normAutofit/>
          </a:bodyPr>
          <a:lstStyle/>
          <a:p>
            <a:r>
              <a:rPr lang="en-AU" dirty="0"/>
              <a:t>Conclusions</a:t>
            </a:r>
          </a:p>
        </p:txBody>
      </p:sp>
      <p:pic>
        <p:nvPicPr>
          <p:cNvPr id="5" name="Picture 4" descr="Different coloured question marks">
            <a:extLst>
              <a:ext uri="{FF2B5EF4-FFF2-40B4-BE49-F238E27FC236}">
                <a16:creationId xmlns:a16="http://schemas.microsoft.com/office/drawing/2014/main" id="{E8C40546-E317-BDE9-63B5-B8435C347E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7988" r="31375" b="1"/>
          <a:stretch/>
        </p:blipFill>
        <p:spPr>
          <a:xfrm>
            <a:off x="20" y="-7444"/>
            <a:ext cx="4966427" cy="6874330"/>
          </a:xfrm>
          <a:custGeom>
            <a:avLst/>
            <a:gdLst/>
            <a:ahLst/>
            <a:cxnLst/>
            <a:rect l="l" t="t" r="r" b="b"/>
            <a:pathLst>
              <a:path w="4966447" h="6874330">
                <a:moveTo>
                  <a:pt x="0" y="0"/>
                </a:moveTo>
                <a:lnTo>
                  <a:pt x="4966447" y="0"/>
                </a:lnTo>
                <a:lnTo>
                  <a:pt x="3355712" y="6874330"/>
                </a:lnTo>
                <a:lnTo>
                  <a:pt x="0" y="6874330"/>
                </a:lnTo>
                <a:close/>
              </a:path>
            </a:pathLst>
          </a:cu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5448C1-3557-8F3F-D317-6554675B1B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6158" y="2301949"/>
            <a:ext cx="6238687" cy="4022650"/>
          </a:xfrm>
        </p:spPr>
        <p:txBody>
          <a:bodyPr>
            <a:norm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lang="en-AU" sz="28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What is the purpose of a conclusion in an essay?</a:t>
            </a:r>
          </a:p>
          <a:p>
            <a:pPr marL="41910" indent="0">
              <a:spcAft>
                <a:spcPts val="800"/>
              </a:spcAft>
              <a:buNone/>
            </a:pPr>
            <a:r>
              <a:rPr lang="en-AU" sz="28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You’ve already presented three great arguments, right? And each argument is littered with well-chosen examples and quotes from the text. </a:t>
            </a:r>
          </a:p>
          <a:p>
            <a:pPr marL="41910" indent="0">
              <a:spcAft>
                <a:spcPts val="800"/>
              </a:spcAft>
              <a:buNone/>
            </a:pPr>
            <a:r>
              <a:rPr lang="en-AU" sz="28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So what is there left to do?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75BF611-D2A5-4454-8C47-95B0BC4228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3627455" y="-19394"/>
            <a:ext cx="806149" cy="6877392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74345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B8092E2-D77A-4CE6-BB2D-6269784456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02CD835-4B0F-45D6-9B85-B049A10057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3"/>
            <a:ext cx="12192000" cy="20089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7C72FF-7E5A-D467-C784-137163F01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9553" y="511309"/>
            <a:ext cx="9577116" cy="1221957"/>
          </a:xfrm>
        </p:spPr>
        <p:txBody>
          <a:bodyPr anchor="ctr">
            <a:normAutofit/>
          </a:bodyPr>
          <a:lstStyle/>
          <a:p>
            <a:r>
              <a:rPr lang="en-AU" sz="5400" dirty="0"/>
              <a:t>Purposes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971A1EC-5980-40B2-973F-0D3D6630D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0049A56-C4C2-4C0F-9F4F-D0E34391D9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478117" y="0"/>
            <a:ext cx="340591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02BE56-7EB5-4E62-B6E2-1C49E470A9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0" y="1299548"/>
            <a:ext cx="1769035" cy="69557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C9FF75-B613-C83E-7B17-67482654AC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9553" y="2420471"/>
            <a:ext cx="6555517" cy="3884410"/>
          </a:xfrm>
        </p:spPr>
        <p:txBody>
          <a:bodyPr anchor="ctr">
            <a:normAutofit/>
          </a:bodyPr>
          <a:lstStyle/>
          <a:p>
            <a:pPr marL="1347788" indent="-1347788">
              <a:lnSpc>
                <a:spcPct val="90000"/>
              </a:lnSpc>
              <a:spcAft>
                <a:spcPts val="800"/>
              </a:spcAft>
              <a:buNone/>
            </a:pPr>
            <a:r>
              <a:rPr lang="en-AU" sz="20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Purpose 1:</a:t>
            </a:r>
            <a:r>
              <a:rPr lang="en-AU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	</a:t>
            </a:r>
            <a:r>
              <a:rPr lang="en-AU" sz="20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conclusion should make your overall idea so clear for the reader that you remove any remaining doubts they have on the topic.</a:t>
            </a:r>
          </a:p>
          <a:p>
            <a:pPr marL="1347788" indent="-1347788">
              <a:lnSpc>
                <a:spcPct val="90000"/>
              </a:lnSpc>
              <a:spcAft>
                <a:spcPts val="800"/>
              </a:spcAft>
              <a:buNone/>
            </a:pPr>
            <a:r>
              <a:rPr lang="en-AU" sz="20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Purpose 2:</a:t>
            </a:r>
            <a:r>
              <a:rPr lang="en-AU" sz="20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	To remind the reader how you proved your contention so they don’t forget any of the key arguments you addressed.</a:t>
            </a:r>
          </a:p>
          <a:p>
            <a:pPr marL="1347788" indent="-1347788">
              <a:lnSpc>
                <a:spcPct val="90000"/>
              </a:lnSpc>
              <a:spcAft>
                <a:spcPts val="800"/>
              </a:spcAft>
              <a:buNone/>
            </a:pPr>
            <a:r>
              <a:rPr lang="en-AU" sz="20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Purpose 2: 	</a:t>
            </a:r>
            <a:r>
              <a:rPr lang="en-AU" sz="20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Having proven your contention, you should then be able to answer the question: </a:t>
            </a:r>
            <a:r>
              <a:rPr lang="en-AU" sz="2000" i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so what?</a:t>
            </a:r>
            <a:r>
              <a:rPr lang="en-AU" sz="20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What does this mean for the reader, and us in the world today?</a:t>
            </a:r>
            <a:endParaRPr lang="en-AU" sz="17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5" name="Picture 4" descr="Magnifying glass on clear background">
            <a:extLst>
              <a:ext uri="{FF2B5EF4-FFF2-40B4-BE49-F238E27FC236}">
                <a16:creationId xmlns:a16="http://schemas.microsoft.com/office/drawing/2014/main" id="{D6435669-938C-56D2-BE74-1780FDD6EEA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0502" r="2775"/>
          <a:stretch/>
        </p:blipFill>
        <p:spPr>
          <a:xfrm>
            <a:off x="8076229" y="1995117"/>
            <a:ext cx="4860850" cy="4862884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4595B06-EDA5-4E45-BED4-7891E7E0C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331150" y="1171094"/>
            <a:ext cx="4860850" cy="82402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79C9A5D-F572-476A-99A9-700077150B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8968704" y="0"/>
            <a:ext cx="2147217" cy="1995117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9592DA5-68A4-46A6-90EA-F0304FF8EE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94353" y="-14436"/>
            <a:ext cx="239059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3383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F430E9F-3B61-4A75-9A34-1EF839CC7C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5A93CC3-99AA-471D-9142-5BD2235D6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3"/>
            <a:ext cx="12192000" cy="20089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D5A1EFF-2E6F-4210-A283-AF9BE5B07C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4C9A7BB-4074-4704-B5B6-B526355DFE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478117" y="0"/>
            <a:ext cx="340591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D5622E3-2C65-496F-9C3F-CBEE21924A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0" y="1299548"/>
            <a:ext cx="1769035" cy="69557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4ED111D-3746-4B9C-AEE8-7AB8346701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331150" y="1171094"/>
            <a:ext cx="4860850" cy="82402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5AE1D3C-1EF9-4A89-B613-EE7B789102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8968704" y="0"/>
            <a:ext cx="2147217" cy="1995117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10D6F8E8-08A8-1645-C9DE-433C0D3483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9553" y="497395"/>
            <a:ext cx="10064376" cy="1229756"/>
          </a:xfrm>
        </p:spPr>
        <p:txBody>
          <a:bodyPr>
            <a:normAutofit/>
          </a:bodyPr>
          <a:lstStyle/>
          <a:p>
            <a:r>
              <a:rPr lang="en-AU" dirty="0"/>
              <a:t>Dos and Don’ts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DE80A3F-530A-4181-887F-9AAF6DCBF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94353" y="-14436"/>
            <a:ext cx="239059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6CDDDBC-D9EB-D544-F049-B157176592A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55952977"/>
              </p:ext>
            </p:extLst>
          </p:nvPr>
        </p:nvGraphicFramePr>
        <p:xfrm>
          <a:off x="739848" y="2506295"/>
          <a:ext cx="10712303" cy="3798174"/>
        </p:xfrm>
        <a:graphic>
          <a:graphicData uri="http://schemas.openxmlformats.org/drawingml/2006/table">
            <a:tbl>
              <a:tblPr firstRow="1" firstCol="1" bandRow="1"/>
              <a:tblGrid>
                <a:gridCol w="5476214">
                  <a:extLst>
                    <a:ext uri="{9D8B030D-6E8A-4147-A177-3AD203B41FA5}">
                      <a16:colId xmlns:a16="http://schemas.microsoft.com/office/drawing/2014/main" val="1553709191"/>
                    </a:ext>
                  </a:extLst>
                </a:gridCol>
                <a:gridCol w="5236089">
                  <a:extLst>
                    <a:ext uri="{9D8B030D-6E8A-4147-A177-3AD203B41FA5}">
                      <a16:colId xmlns:a16="http://schemas.microsoft.com/office/drawing/2014/main" val="52972804"/>
                    </a:ext>
                  </a:extLst>
                </a:gridCol>
              </a:tblGrid>
              <a:tr h="515057">
                <a:tc>
                  <a:txBody>
                    <a:bodyPr/>
                    <a:lstStyle/>
                    <a:p>
                      <a:pPr algn="ctr" fontAlgn="t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AU" sz="2500" b="1" i="0" u="none" strike="noStrike" dirty="0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Do</a:t>
                      </a:r>
                      <a:endParaRPr lang="en-AU" sz="4100" b="0" i="0" u="none" strike="noStrike" dirty="0">
                        <a:solidFill>
                          <a:schemeClr val="accent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56649" marR="156649" marT="21757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AU" sz="2500" b="1" i="0" u="none" strike="noStrike" dirty="0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Don’t</a:t>
                      </a:r>
                      <a:endParaRPr lang="en-AU" sz="4100" b="0" i="0" u="none" strike="noStrike" dirty="0">
                        <a:solidFill>
                          <a:schemeClr val="accent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56649" marR="156649" marT="21757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5713502"/>
                  </a:ext>
                </a:extLst>
              </a:tr>
              <a:tr h="2563816">
                <a:tc>
                  <a:txBody>
                    <a:bodyPr/>
                    <a:lstStyle/>
                    <a:p>
                      <a:pPr marL="347472" marR="0" lvl="0" indent="-347472" algn="l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2500" b="0" i="0" u="none" strike="noStrike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Remind the reader of the key arguments</a:t>
                      </a:r>
                      <a:endParaRPr lang="en-AU" sz="25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347472" indent="-347472" algn="l" fontAlgn="t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AU" sz="2500" b="0" i="0" u="none" strike="noStrike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Provide a response to the essay prompt</a:t>
                      </a:r>
                      <a:endParaRPr lang="en-AU" sz="41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347472" indent="-347472" algn="l" fontAlgn="t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AU" sz="2500" b="0" i="0" u="none" strike="noStrike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Emphasise why this is an important idea</a:t>
                      </a:r>
                      <a:endParaRPr lang="en-AU" sz="41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347472" indent="-347472" algn="l" fontAlgn="t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AU" sz="2500" b="0" i="0" u="none" strike="noStrike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Inspire the reader to think deeper about the subject</a:t>
                      </a:r>
                      <a:endParaRPr lang="en-AU" sz="41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56649" marR="156649" marT="21757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7472" marR="0" lvl="0" indent="-347472" algn="l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2500" b="0" i="0" u="none" strike="noStrike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Add any new analysis or ideas</a:t>
                      </a:r>
                      <a:endParaRPr lang="en-AU" sz="25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347472" indent="-347472" algn="l" fontAlgn="t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AU" sz="2500" b="0" i="0" u="none" strike="noStrike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Repeat the same sentences as the introduction or arguments</a:t>
                      </a:r>
                      <a:endParaRPr lang="en-AU" sz="41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347472" indent="-347472" algn="l" fontAlgn="t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AU" sz="2500" b="0" i="0" u="none" strike="noStrike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Use cliches like “In conclusion” or “To summarise”.</a:t>
                      </a:r>
                      <a:endParaRPr lang="en-AU" sz="41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56649" marR="156649" marT="21757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29559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201171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E9A98-65AF-D2CC-3FC3-71174135A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A note on the last point: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F9701-D97E-74EE-E1CF-82716BA829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AU" sz="2000" b="1" dirty="0"/>
              <a:t>Do not start with “In conclusion”, “To summarise” or anything similar.</a:t>
            </a:r>
            <a:r>
              <a:rPr lang="en-AU" sz="2000" dirty="0"/>
              <a:t> </a:t>
            </a:r>
          </a:p>
          <a:p>
            <a:pPr marL="0" indent="0">
              <a:buNone/>
            </a:pPr>
            <a:r>
              <a:rPr lang="en-AU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There are plenty of reasons why you should avoid this:</a:t>
            </a:r>
          </a:p>
          <a:p>
            <a:pPr marL="452438">
              <a:buSzPct val="100000"/>
            </a:pPr>
            <a:r>
              <a:rPr lang="en-AU" sz="2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It’s redundant </a:t>
            </a:r>
            <a:r>
              <a:rPr lang="en-AU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– The reader already knows it’s a conclusion!</a:t>
            </a:r>
          </a:p>
          <a:p>
            <a:pPr marL="452438">
              <a:buSzPct val="100000"/>
            </a:pPr>
            <a:r>
              <a:rPr lang="en-AU" sz="2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It’s a cliché </a:t>
            </a:r>
            <a:r>
              <a:rPr lang="en-AU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– you might have written some great arguments so far, but as soon as your reader sees these overused phrases, they will roll their eyes harder than a teenager.</a:t>
            </a:r>
          </a:p>
          <a:p>
            <a:pPr marL="452438">
              <a:buSzPct val="100000"/>
            </a:pPr>
            <a:r>
              <a:rPr lang="en-AU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It usually means you’re not sure how to start your conclusion. So this will show you some better ways to begin.</a:t>
            </a:r>
          </a:p>
          <a:p>
            <a:pPr marL="0" indent="0">
              <a:buNone/>
            </a:pP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26775073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436E0F2-A64B-471E-93C0-8DFE08CC5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C1E3AB1-2A8C-4607-9FAE-D8BDB280F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6D66059-832F-40B6-A35F-F56C8F38A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515E2ED-7EA9-448D-83FA-54C3DF972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0595356-EABD-4767-AC9D-EA21FF115E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8CD9F06-9628-469C-B788-A894E3E082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550A431-0B61-421B-B4B7-24C0CFF0F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A3B6404-C37D-4FE3-8124-9FC5ECE56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BEADD3-5F21-6FFF-C36F-D567FD508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1406" y="1199288"/>
            <a:ext cx="5450958" cy="3520350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>
              <a:lnSpc>
                <a:spcPct val="90000"/>
              </a:lnSpc>
            </a:pPr>
            <a:r>
              <a:rPr lang="en-US" sz="6600" i="1" cap="all"/>
              <a:t>A step-by-step guide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C87734-0401-C182-44ED-7162DC3837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86564" y="4927600"/>
            <a:ext cx="4495800" cy="1169932"/>
          </a:xfrm>
        </p:spPr>
        <p:txBody>
          <a:bodyPr vert="horz" lIns="91440" tIns="45720" rIns="91440" bIns="45720" rtlCol="0">
            <a:normAutofit/>
          </a:bodyPr>
          <a:lstStyle/>
          <a:p>
            <a:pPr algn="r">
              <a:lnSpc>
                <a:spcPct val="120000"/>
              </a:lnSpc>
            </a:pPr>
            <a:r>
              <a:rPr lang="en-US" sz="1800" b="1" cap="all" spc="300">
                <a:solidFill>
                  <a:schemeClr val="tx2"/>
                </a:solidFill>
              </a:rPr>
              <a:t>Write your conclusion</a:t>
            </a: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ED61EC8C-9F54-4671-8E82-4AE6101D6C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8965"/>
            <a:ext cx="4584879" cy="6863976"/>
          </a:xfrm>
          <a:custGeom>
            <a:avLst/>
            <a:gdLst>
              <a:gd name="connsiteX0" fmla="*/ 0 w 4584879"/>
              <a:gd name="connsiteY0" fmla="*/ 0 h 6863976"/>
              <a:gd name="connsiteX1" fmla="*/ 4584879 w 4584879"/>
              <a:gd name="connsiteY1" fmla="*/ 0 h 6863976"/>
              <a:gd name="connsiteX2" fmla="*/ 2493114 w 4584879"/>
              <a:gd name="connsiteY2" fmla="*/ 6863976 h 6863976"/>
              <a:gd name="connsiteX3" fmla="*/ 0 w 4584879"/>
              <a:gd name="connsiteY3" fmla="*/ 6863976 h 68639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4879" h="6863976">
                <a:moveTo>
                  <a:pt x="0" y="0"/>
                </a:moveTo>
                <a:lnTo>
                  <a:pt x="4584879" y="0"/>
                </a:lnTo>
                <a:lnTo>
                  <a:pt x="2493114" y="6863976"/>
                </a:lnTo>
                <a:lnTo>
                  <a:pt x="0" y="6863976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557940A-71CE-48E1-BD71-2BEF15613C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910013" y="-8965"/>
            <a:ext cx="708298" cy="68699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77C915-01E5-4C85-B3BF-7BF7CC3F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0" y="3401236"/>
            <a:ext cx="4011413" cy="3456764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phic 6" descr="Pencil">
            <a:extLst>
              <a:ext uri="{FF2B5EF4-FFF2-40B4-BE49-F238E27FC236}">
                <a16:creationId xmlns:a16="http://schemas.microsoft.com/office/drawing/2014/main" id="{3F42373C-52C3-32C1-5AEF-DB7DF440D0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3400" y="1046697"/>
            <a:ext cx="4764606" cy="4764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158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6CA7A60-8DF8-4B78-BFE3-B372B90AB9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23">
            <a:extLst>
              <a:ext uri="{FF2B5EF4-FFF2-40B4-BE49-F238E27FC236}">
                <a16:creationId xmlns:a16="http://schemas.microsoft.com/office/drawing/2014/main" id="{FF4BD241-F172-410B-B0DE-9D7344B35B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1" y="0"/>
            <a:ext cx="4850735" cy="6857998"/>
          </a:xfrm>
          <a:custGeom>
            <a:avLst/>
            <a:gdLst>
              <a:gd name="connsiteX0" fmla="*/ 0 w 5803153"/>
              <a:gd name="connsiteY0" fmla="*/ 0 h 6857998"/>
              <a:gd name="connsiteX1" fmla="*/ 5803153 w 5803153"/>
              <a:gd name="connsiteY1" fmla="*/ 0 h 6857998"/>
              <a:gd name="connsiteX2" fmla="*/ 5803153 w 5803153"/>
              <a:gd name="connsiteY2" fmla="*/ 6857998 h 6857998"/>
              <a:gd name="connsiteX3" fmla="*/ 0 w 5803153"/>
              <a:gd name="connsiteY3" fmla="*/ 6857998 h 6857998"/>
              <a:gd name="connsiteX4" fmla="*/ 0 w 5803153"/>
              <a:gd name="connsiteY4" fmla="*/ 0 h 6857998"/>
              <a:gd name="connsiteX0" fmla="*/ 1016000 w 5803153"/>
              <a:gd name="connsiteY0" fmla="*/ 0 h 6857998"/>
              <a:gd name="connsiteX1" fmla="*/ 5803153 w 5803153"/>
              <a:gd name="connsiteY1" fmla="*/ 0 h 6857998"/>
              <a:gd name="connsiteX2" fmla="*/ 5803153 w 5803153"/>
              <a:gd name="connsiteY2" fmla="*/ 6857998 h 6857998"/>
              <a:gd name="connsiteX3" fmla="*/ 0 w 5803153"/>
              <a:gd name="connsiteY3" fmla="*/ 6857998 h 6857998"/>
              <a:gd name="connsiteX4" fmla="*/ 1016000 w 5803153"/>
              <a:gd name="connsiteY4" fmla="*/ 0 h 6857998"/>
              <a:gd name="connsiteX0" fmla="*/ 1338729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338729 w 6125882"/>
              <a:gd name="connsiteY4" fmla="*/ 0 h 6857998"/>
              <a:gd name="connsiteX0" fmla="*/ 1697317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697317 w 6125882"/>
              <a:gd name="connsiteY4" fmla="*/ 0 h 6857998"/>
              <a:gd name="connsiteX0" fmla="*/ 2702091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2702091 w 6125882"/>
              <a:gd name="connsiteY4" fmla="*/ 0 h 6857998"/>
              <a:gd name="connsiteX0" fmla="*/ 2320626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2320626 w 6125882"/>
              <a:gd name="connsiteY4" fmla="*/ 0 h 6857998"/>
              <a:gd name="connsiteX0" fmla="*/ 2034528 w 5839784"/>
              <a:gd name="connsiteY0" fmla="*/ 0 h 6857998"/>
              <a:gd name="connsiteX1" fmla="*/ 5839784 w 5839784"/>
              <a:gd name="connsiteY1" fmla="*/ 0 h 6857998"/>
              <a:gd name="connsiteX2" fmla="*/ 5839784 w 5839784"/>
              <a:gd name="connsiteY2" fmla="*/ 6857998 h 6857998"/>
              <a:gd name="connsiteX3" fmla="*/ 0 w 5839784"/>
              <a:gd name="connsiteY3" fmla="*/ 6856093 h 6857998"/>
              <a:gd name="connsiteX4" fmla="*/ 2034528 w 5839784"/>
              <a:gd name="connsiteY4" fmla="*/ 0 h 6857998"/>
              <a:gd name="connsiteX0" fmla="*/ 2482758 w 5839784"/>
              <a:gd name="connsiteY0" fmla="*/ 10951 h 6857998"/>
              <a:gd name="connsiteX1" fmla="*/ 5839784 w 5839784"/>
              <a:gd name="connsiteY1" fmla="*/ 0 h 6857998"/>
              <a:gd name="connsiteX2" fmla="*/ 5839784 w 5839784"/>
              <a:gd name="connsiteY2" fmla="*/ 6857998 h 6857998"/>
              <a:gd name="connsiteX3" fmla="*/ 0 w 5839784"/>
              <a:gd name="connsiteY3" fmla="*/ 6856093 h 6857998"/>
              <a:gd name="connsiteX4" fmla="*/ 2482758 w 5839784"/>
              <a:gd name="connsiteY4" fmla="*/ 10951 h 6857998"/>
              <a:gd name="connsiteX0" fmla="*/ 2495565 w 5839784"/>
              <a:gd name="connsiteY0" fmla="*/ 0 h 6857998"/>
              <a:gd name="connsiteX1" fmla="*/ 5839784 w 5839784"/>
              <a:gd name="connsiteY1" fmla="*/ 0 h 6857998"/>
              <a:gd name="connsiteX2" fmla="*/ 5839784 w 5839784"/>
              <a:gd name="connsiteY2" fmla="*/ 6857998 h 6857998"/>
              <a:gd name="connsiteX3" fmla="*/ 0 w 5839784"/>
              <a:gd name="connsiteY3" fmla="*/ 6856093 h 6857998"/>
              <a:gd name="connsiteX4" fmla="*/ 2495565 w 5839784"/>
              <a:gd name="connsiteY4" fmla="*/ 0 h 6857998"/>
              <a:gd name="connsiteX0" fmla="*/ 2328480 w 5672699"/>
              <a:gd name="connsiteY0" fmla="*/ 0 h 6857998"/>
              <a:gd name="connsiteX1" fmla="*/ 5672699 w 5672699"/>
              <a:gd name="connsiteY1" fmla="*/ 0 h 6857998"/>
              <a:gd name="connsiteX2" fmla="*/ 5672699 w 5672699"/>
              <a:gd name="connsiteY2" fmla="*/ 6857998 h 6857998"/>
              <a:gd name="connsiteX3" fmla="*/ 0 w 5672699"/>
              <a:gd name="connsiteY3" fmla="*/ 6856093 h 6857998"/>
              <a:gd name="connsiteX4" fmla="*/ 2328480 w 5672699"/>
              <a:gd name="connsiteY4" fmla="*/ 0 h 6857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72699" h="6857998">
                <a:moveTo>
                  <a:pt x="2328480" y="0"/>
                </a:moveTo>
                <a:lnTo>
                  <a:pt x="5672699" y="0"/>
                </a:lnTo>
                <a:lnTo>
                  <a:pt x="5672699" y="6857998"/>
                </a:lnTo>
                <a:lnTo>
                  <a:pt x="0" y="6856093"/>
                </a:lnTo>
                <a:lnTo>
                  <a:pt x="2328480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68BB60-F3EB-0494-E29E-CE0F0393B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749" y="367739"/>
            <a:ext cx="3723307" cy="3569822"/>
          </a:xfrm>
        </p:spPr>
        <p:txBody>
          <a:bodyPr anchor="t">
            <a:normAutofit/>
          </a:bodyPr>
          <a:lstStyle/>
          <a:p>
            <a:r>
              <a:rPr lang="en-AU" dirty="0"/>
              <a:t>Sentence 1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1CEFB97-33B1-4F90-A6B8-EAA26EEA1E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793" y="4305300"/>
            <a:ext cx="4515220" cy="25527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BD85D76-90C5-3B79-88C6-573CCE1ABA5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9656036"/>
              </p:ext>
            </p:extLst>
          </p:nvPr>
        </p:nvGraphicFramePr>
        <p:xfrm>
          <a:off x="5146923" y="832268"/>
          <a:ext cx="6289466" cy="51469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589198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3F010-311C-4FC9-30DD-ABE61D13F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sz="3600" dirty="0"/>
              <a:t>Sentence 1 – respond to the prompt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FCB8F6-DD13-07CB-D978-47ED8B8DAE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AU" sz="2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Step 1</a:t>
            </a:r>
          </a:p>
          <a:p>
            <a:pPr>
              <a:buSzPct val="100000"/>
            </a:pPr>
            <a:r>
              <a:rPr lang="en-AU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When you wrote your introduction, you underlined the key words from the essay prompt.</a:t>
            </a:r>
          </a:p>
          <a:p>
            <a:pPr>
              <a:buSzPct val="100000"/>
            </a:pPr>
            <a:r>
              <a:rPr lang="en-AU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For your first sentence, use some of these words to state your response to the prompt again. </a:t>
            </a:r>
          </a:p>
          <a:p>
            <a:pPr marL="269875" indent="0">
              <a:buNone/>
            </a:pPr>
            <a:r>
              <a:rPr lang="en-AU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For example, consider the prompt.</a:t>
            </a:r>
          </a:p>
          <a:p>
            <a:pPr marL="898525" indent="87313">
              <a:buNone/>
            </a:pPr>
            <a:r>
              <a:rPr lang="en-AU" sz="2000" b="1" i="1" dirty="0">
                <a:solidFill>
                  <a:schemeClr val="accent1"/>
                </a:solidFill>
              </a:rPr>
              <a:t>'But reading is important.' </a:t>
            </a:r>
            <a:r>
              <a:rPr lang="en-AU" sz="2000" i="1" dirty="0">
                <a:solidFill>
                  <a:schemeClr val="accent1"/>
                </a:solidFill>
              </a:rPr>
              <a:t>(p39)</a:t>
            </a:r>
          </a:p>
          <a:p>
            <a:pPr marL="981075" indent="0">
              <a:buNone/>
            </a:pPr>
            <a:r>
              <a:rPr lang="en-AU" sz="2000" i="1" dirty="0">
                <a:solidFill>
                  <a:schemeClr val="accent1"/>
                </a:solidFill>
              </a:rPr>
              <a:t>Discuss how stories and imagination are important for characters in The Bone Sparrow.</a:t>
            </a:r>
          </a:p>
          <a:p>
            <a:pPr marL="182563" indent="0">
              <a:buNone/>
            </a:pPr>
            <a:r>
              <a:rPr lang="en-AU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What are the key words?</a:t>
            </a: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295921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64D06-5376-9404-384B-576A94A35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sz="3600" dirty="0"/>
              <a:t>Sentence 1 – respond to the prompt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8D688-EF87-67D4-81D0-9EBDDF35AC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AU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Step 2:</a:t>
            </a:r>
          </a:p>
          <a:p>
            <a:pPr>
              <a:buSzPct val="100000"/>
            </a:pPr>
            <a:r>
              <a:rPr lang="en-AU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The main idea is that reading and stories help Subhi, Jimmie and other characters understand and cope with their lives.</a:t>
            </a:r>
          </a:p>
          <a:p>
            <a:pPr marL="182563" indent="0">
              <a:buNone/>
            </a:pPr>
            <a:r>
              <a:rPr lang="en-AU" dirty="0">
                <a:solidFill>
                  <a:schemeClr val="tx1">
                    <a:lumMod val="85000"/>
                    <a:lumOff val="15000"/>
                  </a:schemeClr>
                </a:solidFill>
              </a:rPr>
              <a:t>You might rephrase this idea to write:</a:t>
            </a:r>
          </a:p>
          <a:p>
            <a:pPr marL="541338" indent="0">
              <a:buNone/>
            </a:pPr>
            <a:r>
              <a:rPr lang="en-AU" dirty="0">
                <a:solidFill>
                  <a:schemeClr val="accent1"/>
                </a:solidFill>
              </a:rPr>
              <a:t>Throughout </a:t>
            </a:r>
            <a:r>
              <a:rPr lang="en-AU" i="1" dirty="0">
                <a:solidFill>
                  <a:schemeClr val="accent1"/>
                </a:solidFill>
              </a:rPr>
              <a:t>The Bone Sparrow</a:t>
            </a:r>
            <a:r>
              <a:rPr lang="en-AU" dirty="0">
                <a:solidFill>
                  <a:schemeClr val="accent1"/>
                </a:solidFill>
              </a:rPr>
              <a:t>, the ability to read or imagine other worlds gives characters a chance to escape their own, and to experience hope.</a:t>
            </a:r>
          </a:p>
        </p:txBody>
      </p:sp>
    </p:spTree>
    <p:extLst>
      <p:ext uri="{BB962C8B-B14F-4D97-AF65-F5344CB8AC3E}">
        <p14:creationId xmlns:p14="http://schemas.microsoft.com/office/powerpoint/2010/main" val="14931820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E105210-61FE-4E9D-9076-A5618FDA8D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49D9C0-D73D-AE2F-474B-AACF645C7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438" y="533400"/>
            <a:ext cx="8032091" cy="1683487"/>
          </a:xfrm>
        </p:spPr>
        <p:txBody>
          <a:bodyPr>
            <a:normAutofit/>
          </a:bodyPr>
          <a:lstStyle/>
          <a:p>
            <a:r>
              <a:rPr lang="en-AU" sz="3200" dirty="0"/>
              <a:t>Sentence 2 – restate your claims</a:t>
            </a:r>
            <a:endParaRPr lang="en-AU" sz="32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32DE4-DE8D-49D4-F163-3B8BADADC4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735" y="2216886"/>
            <a:ext cx="8032090" cy="3817091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spcAft>
                <a:spcPts val="600"/>
              </a:spcAft>
              <a:buNone/>
              <a:tabLst>
                <a:tab pos="87313" algn="l"/>
              </a:tabLst>
            </a:pPr>
            <a:r>
              <a:rPr lang="en-AU" sz="2000" dirty="0"/>
              <a:t>This is the part of your conclusion where you remind the reader of your main arguments. </a:t>
            </a:r>
          </a:p>
          <a:p>
            <a:pPr marL="541338">
              <a:lnSpc>
                <a:spcPct val="90000"/>
              </a:lnSpc>
              <a:spcAft>
                <a:spcPts val="600"/>
              </a:spcAft>
              <a:buSzPct val="100000"/>
            </a:pPr>
            <a:r>
              <a:rPr lang="en-AU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You </a:t>
            </a:r>
            <a:r>
              <a:rPr lang="en-AU" sz="2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must</a:t>
            </a:r>
            <a:r>
              <a:rPr lang="en-AU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AU" sz="2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do more </a:t>
            </a:r>
            <a:r>
              <a:rPr lang="en-AU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than simply rewrite your three topic sentences.</a:t>
            </a:r>
          </a:p>
          <a:p>
            <a:pPr marL="541338">
              <a:lnSpc>
                <a:spcPct val="90000"/>
              </a:lnSpc>
              <a:spcAft>
                <a:spcPts val="600"/>
              </a:spcAft>
              <a:buSzPct val="100000"/>
            </a:pPr>
            <a:r>
              <a:rPr lang="en-AU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 </a:t>
            </a:r>
            <a:r>
              <a:rPr lang="en-AU" sz="2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basic summary </a:t>
            </a:r>
            <a:r>
              <a:rPr lang="en-AU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will restate the ideas using different words and in a different order.</a:t>
            </a:r>
          </a:p>
          <a:p>
            <a:pPr marL="541338">
              <a:lnSpc>
                <a:spcPct val="90000"/>
              </a:lnSpc>
              <a:spcAft>
                <a:spcPts val="600"/>
              </a:spcAft>
              <a:buSzPct val="100000"/>
            </a:pPr>
            <a:r>
              <a:rPr lang="en-AU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 </a:t>
            </a:r>
            <a:r>
              <a:rPr lang="en-AU" sz="2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strong conclusion </a:t>
            </a:r>
            <a:r>
              <a:rPr lang="en-AU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might also use logic conjunctions to sequence the ideas (although, if, while, since, despite, </a:t>
            </a:r>
            <a:r>
              <a:rPr lang="en-AU" sz="20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etc</a:t>
            </a:r>
            <a:r>
              <a:rPr lang="en-AU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). It might also describe the importance of each idea.</a:t>
            </a:r>
          </a:p>
          <a:p>
            <a:pPr marL="0" indent="0">
              <a:lnSpc>
                <a:spcPct val="90000"/>
              </a:lnSpc>
              <a:buNone/>
            </a:pPr>
            <a:endParaRPr lang="en-AU" sz="19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C1DF613-CD5C-4D37-9F6C-843AFBBBDE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0" y="5197929"/>
            <a:ext cx="2875207" cy="1660072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CB56F5D-A737-4E56-BCDD-0F992B89C8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0" y="6033977"/>
            <a:ext cx="7151914" cy="82402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Pen placed on top of a signature line">
            <a:extLst>
              <a:ext uri="{FF2B5EF4-FFF2-40B4-BE49-F238E27FC236}">
                <a16:creationId xmlns:a16="http://schemas.microsoft.com/office/drawing/2014/main" id="{48AD9430-7A27-CB08-8D54-948298406C2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4370" r="4475" b="-1"/>
          <a:stretch/>
        </p:blipFill>
        <p:spPr>
          <a:xfrm>
            <a:off x="8734346" y="11"/>
            <a:ext cx="4228215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1939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35CDD-1046-5BC3-187C-146FF0A44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Sentence 2 </a:t>
            </a:r>
            <a:r>
              <a:rPr lang="en-AU" sz="4400" b="0" dirty="0"/>
              <a:t>(and maybe 3)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9992F9-8456-0ED8-4E14-18C00EE01A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0" indent="0">
              <a:spcAft>
                <a:spcPts val="1200"/>
              </a:spcAft>
              <a:buNone/>
            </a:pPr>
            <a:r>
              <a:rPr lang="en-AU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Let’s say that your key ideas were:</a:t>
            </a:r>
          </a:p>
          <a:p>
            <a:pPr marL="539750" indent="-269875">
              <a:spcAft>
                <a:spcPts val="1200"/>
              </a:spcAft>
              <a:buSzPct val="100000"/>
            </a:pPr>
            <a:r>
              <a:rPr lang="en-AU" dirty="0">
                <a:solidFill>
                  <a:schemeClr val="accent1"/>
                </a:solidFill>
              </a:rPr>
              <a:t>Some stories allow characters to escape the present</a:t>
            </a:r>
          </a:p>
          <a:p>
            <a:pPr marL="539750" indent="-269875">
              <a:spcAft>
                <a:spcPts val="1200"/>
              </a:spcAft>
              <a:buSzPct val="100000"/>
            </a:pPr>
            <a:r>
              <a:rPr lang="en-AU" dirty="0">
                <a:solidFill>
                  <a:schemeClr val="accent1"/>
                </a:solidFill>
              </a:rPr>
              <a:t>Some stories are a way of understanding the past</a:t>
            </a:r>
          </a:p>
          <a:p>
            <a:pPr marL="539750" indent="-269875">
              <a:spcAft>
                <a:spcPts val="1200"/>
              </a:spcAft>
              <a:buSzPct val="100000"/>
            </a:pPr>
            <a:r>
              <a:rPr lang="en-AU" dirty="0">
                <a:solidFill>
                  <a:schemeClr val="accent1"/>
                </a:solidFill>
              </a:rPr>
              <a:t>Stories can give a sense of hope for the future</a:t>
            </a:r>
          </a:p>
        </p:txBody>
      </p:sp>
    </p:spTree>
    <p:extLst>
      <p:ext uri="{BB962C8B-B14F-4D97-AF65-F5344CB8AC3E}">
        <p14:creationId xmlns:p14="http://schemas.microsoft.com/office/powerpoint/2010/main" val="35197476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A09FC-2433-6055-7687-E76BE9FCD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Sentence 2 </a:t>
            </a:r>
            <a:r>
              <a:rPr lang="en-AU" sz="4400" b="0" dirty="0"/>
              <a:t>(and maybe 3)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700C4E-6443-1FC1-BE09-7F836836F3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0" indent="0">
              <a:buNone/>
            </a:pPr>
            <a:r>
              <a:rPr lang="en-AU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Poor summary</a:t>
            </a:r>
          </a:p>
          <a:p>
            <a:pPr marL="539750" indent="-269875">
              <a:spcAft>
                <a:spcPts val="1200"/>
              </a:spcAft>
              <a:buSzPct val="100000"/>
            </a:pPr>
            <a:r>
              <a:rPr lang="en-AU" dirty="0">
                <a:solidFill>
                  <a:schemeClr val="accent1"/>
                </a:solidFill>
              </a:rPr>
              <a:t>In </a:t>
            </a:r>
            <a:r>
              <a:rPr lang="en-AU" i="1" dirty="0">
                <a:solidFill>
                  <a:schemeClr val="accent1"/>
                </a:solidFill>
              </a:rPr>
              <a:t>The Bone Sparrow</a:t>
            </a:r>
            <a:r>
              <a:rPr lang="en-AU" dirty="0">
                <a:solidFill>
                  <a:schemeClr val="accent1"/>
                </a:solidFill>
              </a:rPr>
              <a:t>, some stories allow characters to escape the present, some stories are a way of understanding the past, and stories can give a sense of hope for the future.</a:t>
            </a:r>
          </a:p>
          <a:p>
            <a:pPr marL="895350" indent="0">
              <a:buNone/>
            </a:pPr>
            <a:endParaRPr lang="en-AU" dirty="0">
              <a:solidFill>
                <a:schemeClr val="accent1"/>
              </a:solidFill>
            </a:endParaRP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727622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A09FC-2433-6055-7687-E76BE9FCD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Sentence 2 </a:t>
            </a:r>
            <a:r>
              <a:rPr lang="en-AU" sz="4400" b="0" dirty="0"/>
              <a:t>(and maybe 3)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700C4E-6443-1FC1-BE09-7F836836F3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0" indent="0">
              <a:buNone/>
            </a:pPr>
            <a:r>
              <a:rPr lang="en-AU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Basic summary</a:t>
            </a:r>
          </a:p>
          <a:p>
            <a:pPr marL="895350" indent="0">
              <a:buNone/>
            </a:pPr>
            <a:r>
              <a:rPr lang="en-AU" dirty="0">
                <a:solidFill>
                  <a:schemeClr val="accent1"/>
                </a:solidFill>
              </a:rPr>
              <a:t>Throughout the novel, </a:t>
            </a:r>
            <a:r>
              <a:rPr lang="en-AU" dirty="0" err="1">
                <a:solidFill>
                  <a:schemeClr val="accent1"/>
                </a:solidFill>
              </a:rPr>
              <a:t>Fraillon</a:t>
            </a:r>
            <a:r>
              <a:rPr lang="en-AU" dirty="0">
                <a:solidFill>
                  <a:schemeClr val="accent1"/>
                </a:solidFill>
              </a:rPr>
              <a:t> presents a series of stories that demonstrate how characters escape from and understand their lives in and around Australia’s detention centres. However, the author conveys a feeling of hope by depicting characters that use their imagination to see a better future.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480717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A09FC-2433-6055-7687-E76BE9FCD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Sentence 2 </a:t>
            </a:r>
            <a:r>
              <a:rPr lang="en-AU" sz="4400" b="0" dirty="0"/>
              <a:t>(and maybe 3)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700C4E-6443-1FC1-BE09-7F836836F3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0" indent="0">
              <a:buNone/>
            </a:pPr>
            <a:r>
              <a:rPr lang="en-AU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Stronger summary</a:t>
            </a:r>
          </a:p>
          <a:p>
            <a:pPr marL="895350" indent="0">
              <a:buNone/>
            </a:pPr>
            <a:r>
              <a:rPr lang="en-AU" dirty="0">
                <a:solidFill>
                  <a:schemeClr val="accent1"/>
                </a:solidFill>
              </a:rPr>
              <a:t>While the stories of Subhi and Jimmie’s mothers help them to better understand the rich histories of their families, their drawings and photographs allow them to feel a sense of hope for the future. Ultimately, all storytelling serves as a way of those living in and around Australia’s detention centres to escape the misery and isolation of their present lives.</a:t>
            </a:r>
          </a:p>
        </p:txBody>
      </p:sp>
    </p:spTree>
    <p:extLst>
      <p:ext uri="{BB962C8B-B14F-4D97-AF65-F5344CB8AC3E}">
        <p14:creationId xmlns:p14="http://schemas.microsoft.com/office/powerpoint/2010/main" val="42736029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5B451-2995-FFAE-59FD-0537DBD55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sz="3600" dirty="0"/>
              <a:t>Last Sentence – look beyond the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1ACA24-C209-1D8E-E73D-F8EF6C5CA9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Aft>
                <a:spcPts val="1200"/>
              </a:spcAft>
              <a:buNone/>
            </a:pPr>
            <a:r>
              <a:rPr lang="en-AU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This is where you look beyond the text. 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AU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This might involve answering a “so what?” question, such as:</a:t>
            </a:r>
          </a:p>
          <a:p>
            <a:pPr marL="722313">
              <a:buSzPct val="100000"/>
            </a:pPr>
            <a:r>
              <a:rPr lang="en-AU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What does this teach us about our world?</a:t>
            </a:r>
          </a:p>
          <a:p>
            <a:pPr marL="722313">
              <a:buSzPct val="100000"/>
            </a:pPr>
            <a:r>
              <a:rPr lang="en-AU" dirty="0">
                <a:solidFill>
                  <a:schemeClr val="tx1">
                    <a:lumMod val="85000"/>
                    <a:lumOff val="15000"/>
                  </a:schemeClr>
                </a:solidFill>
              </a:rPr>
              <a:t>How can we apply this to our own lives?</a:t>
            </a:r>
          </a:p>
          <a:p>
            <a:pPr marL="722313">
              <a:spcAft>
                <a:spcPts val="1200"/>
              </a:spcAft>
              <a:buSzPct val="100000"/>
            </a:pPr>
            <a:r>
              <a:rPr lang="en-AU" dirty="0">
                <a:solidFill>
                  <a:schemeClr val="tx1">
                    <a:lumMod val="85000"/>
                    <a:lumOff val="15000"/>
                  </a:schemeClr>
                </a:solidFill>
              </a:rPr>
              <a:t>How do the ideas relate to other texts?</a:t>
            </a:r>
          </a:p>
          <a:p>
            <a:pPr marL="0" indent="0">
              <a:buNone/>
            </a:pPr>
            <a:r>
              <a:rPr lang="en-AU" dirty="0">
                <a:solidFill>
                  <a:schemeClr val="tx1">
                    <a:lumMod val="85000"/>
                    <a:lumOff val="15000"/>
                  </a:schemeClr>
                </a:solidFill>
              </a:rPr>
              <a:t>Or you might leave the reader with an image or a warning</a:t>
            </a:r>
          </a:p>
          <a:p>
            <a:pPr marL="0" indent="0">
              <a:buNone/>
            </a:pPr>
            <a:endParaRPr lang="en-AU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73361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2171661-0838-4942-A149-8C1B789266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9D2ED5-C308-A0C2-A663-3D85AE7E2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4426" y="533400"/>
            <a:ext cx="4529138" cy="1671639"/>
          </a:xfrm>
        </p:spPr>
        <p:txBody>
          <a:bodyPr>
            <a:normAutofit/>
          </a:bodyPr>
          <a:lstStyle/>
          <a:p>
            <a:r>
              <a:rPr lang="en-AU" dirty="0"/>
              <a:t>Last Sentence(s)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0D6A8F-C306-4169-CD03-0F9868BD0E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2205038"/>
            <a:ext cx="3771252" cy="411956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AU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Let’s say that we wrote our essay exploring the quality of life in the detention centres.</a:t>
            </a:r>
          </a:p>
          <a:p>
            <a:pPr marL="0" indent="0">
              <a:buNone/>
            </a:pPr>
            <a:endParaRPr lang="en-AU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B04A404-AF1E-4EC9-AF7D-46C68BFCEB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430398" y="-1"/>
            <a:ext cx="2559923" cy="6857999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1874503-FE8B-408C-ABAF-2B72BAC296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9741182" y="0"/>
            <a:ext cx="725518" cy="6857999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557ED46-33D1-34CB-2EE5-BC0AF17B04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0882788"/>
              </p:ext>
            </p:extLst>
          </p:nvPr>
        </p:nvGraphicFramePr>
        <p:xfrm>
          <a:off x="5399773" y="712269"/>
          <a:ext cx="6258829" cy="5438274"/>
        </p:xfrm>
        <a:graphic>
          <a:graphicData uri="http://schemas.openxmlformats.org/drawingml/2006/table">
            <a:tbl>
              <a:tblPr firstRow="1" firstCol="1" bandRow="1"/>
              <a:tblGrid>
                <a:gridCol w="1586109">
                  <a:extLst>
                    <a:ext uri="{9D8B030D-6E8A-4147-A177-3AD203B41FA5}">
                      <a16:colId xmlns:a16="http://schemas.microsoft.com/office/drawing/2014/main" val="2414333081"/>
                    </a:ext>
                  </a:extLst>
                </a:gridCol>
                <a:gridCol w="4672720">
                  <a:extLst>
                    <a:ext uri="{9D8B030D-6E8A-4147-A177-3AD203B41FA5}">
                      <a16:colId xmlns:a16="http://schemas.microsoft.com/office/drawing/2014/main" val="2052410160"/>
                    </a:ext>
                  </a:extLst>
                </a:gridCol>
              </a:tblGrid>
              <a:tr h="1444393">
                <a:tc>
                  <a:txBody>
                    <a:bodyPr/>
                    <a:lstStyle/>
                    <a:p>
                      <a:pPr algn="l" fontAlgn="t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AU" sz="1800" b="0" i="0" u="none" strike="noStrike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What does this teach us about our world?</a:t>
                      </a:r>
                      <a:endParaRPr lang="en-AU" sz="2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02075" marR="102075" marT="14177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AU" sz="1600" b="0" i="1" u="none" strike="noStrike" dirty="0">
                          <a:solidFill>
                            <a:schemeClr val="accent1"/>
                          </a:solidFill>
                          <a:effectLst/>
                          <a:latin typeface="Arial" panose="020B0604020202020204" pitchFamily="34" charset="0"/>
                        </a:rPr>
                        <a:t>The Bone Sparrow </a:t>
                      </a:r>
                      <a:r>
                        <a:rPr lang="en-AU" sz="1600" b="0" i="0" u="none" strike="noStrike" dirty="0">
                          <a:solidFill>
                            <a:schemeClr val="accent1"/>
                          </a:solidFill>
                          <a:effectLst/>
                          <a:latin typeface="Arial" panose="020B0604020202020204" pitchFamily="34" charset="0"/>
                        </a:rPr>
                        <a:t>depicts the way that Australia treats those – who no fault of their own – have fled their home countries to escape hunger, poverty and violence.</a:t>
                      </a:r>
                      <a:endParaRPr lang="en-AU" sz="1600" b="0" i="1" u="none" strike="noStrike" dirty="0">
                        <a:solidFill>
                          <a:schemeClr val="accent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02075" marR="102075" marT="14177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7275403"/>
                  </a:ext>
                </a:extLst>
              </a:tr>
              <a:tr h="1444393">
                <a:tc>
                  <a:txBody>
                    <a:bodyPr/>
                    <a:lstStyle/>
                    <a:p>
                      <a:pPr algn="l" fontAlgn="t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AU" sz="1800" b="0" i="0" u="none" strike="noStrike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How can we apply this to our own lives?</a:t>
                      </a:r>
                      <a:endParaRPr lang="en-AU" sz="2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02075" marR="102075" marT="14177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AU" sz="1600" b="0" i="1" u="none" strike="noStrike" dirty="0">
                          <a:solidFill>
                            <a:schemeClr val="accent1"/>
                          </a:solidFill>
                          <a:effectLst/>
                          <a:latin typeface="Arial" panose="020B0604020202020204" pitchFamily="34" charset="0"/>
                        </a:rPr>
                        <a:t>The Bone Sparrow</a:t>
                      </a:r>
                      <a:r>
                        <a:rPr lang="en-AU" sz="1600" b="0" i="0" u="none" strike="noStrike" dirty="0">
                          <a:solidFill>
                            <a:schemeClr val="accent1"/>
                          </a:solidFill>
                          <a:effectLst/>
                          <a:latin typeface="Arial" panose="020B0604020202020204" pitchFamily="34" charset="0"/>
                        </a:rPr>
                        <a:t> reminds that audience that people in detention – including children – are people. It’s up to us to remind the government that we have a responsibility to meet their human rights and treat them with compassion.</a:t>
                      </a:r>
                      <a:endParaRPr lang="en-AU" sz="1600" b="0" i="1" u="none" strike="noStrike" dirty="0">
                        <a:solidFill>
                          <a:schemeClr val="accent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02075" marR="102075" marT="14177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9892348"/>
                  </a:ext>
                </a:extLst>
              </a:tr>
              <a:tr h="1444393">
                <a:tc>
                  <a:txBody>
                    <a:bodyPr/>
                    <a:lstStyle/>
                    <a:p>
                      <a:pPr algn="l" fontAlgn="t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AU" sz="1800" b="0" i="0" u="none" strike="noStrike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How does this relate to other texts?</a:t>
                      </a:r>
                      <a:endParaRPr lang="en-AU" sz="2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02075" marR="102075" marT="14177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AU" sz="1600" b="0" i="0" u="none" strike="noStrike" dirty="0">
                          <a:solidFill>
                            <a:schemeClr val="accent1"/>
                          </a:solidFill>
                          <a:effectLst/>
                          <a:latin typeface="Arial" panose="020B0604020202020204" pitchFamily="34" charset="0"/>
                        </a:rPr>
                        <a:t>Together with </a:t>
                      </a:r>
                      <a:r>
                        <a:rPr lang="en-AU" sz="1600" b="0" i="1" u="none" strike="noStrike" dirty="0">
                          <a:solidFill>
                            <a:schemeClr val="accent1"/>
                          </a:solidFill>
                          <a:effectLst/>
                          <a:latin typeface="Arial" panose="020B0604020202020204" pitchFamily="34" charset="0"/>
                        </a:rPr>
                        <a:t>The Arrival, The Happiest Refugee</a:t>
                      </a:r>
                      <a:r>
                        <a:rPr lang="en-AU" sz="1600" b="0" i="0" u="none" strike="noStrike" dirty="0">
                          <a:solidFill>
                            <a:schemeClr val="accent1"/>
                          </a:solidFill>
                          <a:effectLst/>
                          <a:latin typeface="Arial" panose="020B0604020202020204" pitchFamily="34" charset="0"/>
                        </a:rPr>
                        <a:t> and </a:t>
                      </a:r>
                      <a:r>
                        <a:rPr lang="en-AU" sz="1600" b="0" i="1" u="none" strike="noStrike" dirty="0">
                          <a:solidFill>
                            <a:schemeClr val="accent1"/>
                          </a:solidFill>
                          <a:effectLst/>
                          <a:latin typeface="Arial" panose="020B0604020202020204" pitchFamily="34" charset="0"/>
                        </a:rPr>
                        <a:t>The Boat</a:t>
                      </a:r>
                      <a:r>
                        <a:rPr lang="en-AU" sz="1600" b="0" i="0" u="none" strike="noStrike" dirty="0">
                          <a:solidFill>
                            <a:schemeClr val="accent1"/>
                          </a:solidFill>
                          <a:effectLst/>
                          <a:latin typeface="Arial" panose="020B0604020202020204" pitchFamily="34" charset="0"/>
                        </a:rPr>
                        <a:t>, </a:t>
                      </a:r>
                      <a:r>
                        <a:rPr lang="en-AU" sz="1600" b="0" i="1" u="none" strike="noStrike" dirty="0">
                          <a:solidFill>
                            <a:schemeClr val="accent1"/>
                          </a:solidFill>
                          <a:effectLst/>
                          <a:latin typeface="Arial" panose="020B0604020202020204" pitchFamily="34" charset="0"/>
                        </a:rPr>
                        <a:t>The Bone Sparrow </a:t>
                      </a:r>
                      <a:r>
                        <a:rPr lang="en-AU" sz="1600" b="0" i="0" u="none" strike="noStrike" dirty="0">
                          <a:solidFill>
                            <a:schemeClr val="accent1"/>
                          </a:solidFill>
                          <a:effectLst/>
                          <a:latin typeface="Arial" panose="020B0604020202020204" pitchFamily="34" charset="0"/>
                        </a:rPr>
                        <a:t>adds its voice to those stories that help us to understand the plight of those fleeing their countries to escape human rights abuses, only to be met with more.</a:t>
                      </a:r>
                      <a:endParaRPr lang="en-AU" sz="1600" b="0" i="1" u="none" strike="noStrike" dirty="0">
                        <a:solidFill>
                          <a:schemeClr val="accent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02075" marR="102075" marT="14177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8728180"/>
                  </a:ext>
                </a:extLst>
              </a:tr>
              <a:tr h="1105095">
                <a:tc>
                  <a:txBody>
                    <a:bodyPr/>
                    <a:lstStyle/>
                    <a:p>
                      <a:pPr algn="l" fontAlgn="t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AU" sz="1800" b="0" i="0" u="none" strike="noStrike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Evoke a warning or an image</a:t>
                      </a:r>
                      <a:endParaRPr lang="en-AU" sz="2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02075" marR="102075" marT="14177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endParaRPr lang="en-AU" sz="1600" b="0" i="0" u="none" strike="noStrike" dirty="0">
                        <a:solidFill>
                          <a:schemeClr val="accent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02075" marR="102075" marT="14177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429764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871771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E105210-61FE-4E9D-9076-A5618FDA8D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A14013-F906-D9BF-6A68-B10950CFD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33400"/>
            <a:ext cx="7288730" cy="1683487"/>
          </a:xfrm>
        </p:spPr>
        <p:txBody>
          <a:bodyPr>
            <a:normAutofit/>
          </a:bodyPr>
          <a:lstStyle/>
          <a:p>
            <a:r>
              <a:rPr lang="en-AU" dirty="0"/>
              <a:t>Putting it all together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3DD3F5-65AE-3CB6-4FDE-B9DE566C43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2999" y="2216886"/>
            <a:ext cx="7826339" cy="3817091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AU" dirty="0">
                <a:solidFill>
                  <a:schemeClr val="tx1">
                    <a:lumMod val="85000"/>
                    <a:lumOff val="15000"/>
                  </a:schemeClr>
                </a:solidFill>
              </a:rPr>
              <a:t>Just like in our introductions, type up your sentences to form your conclusion.</a:t>
            </a:r>
          </a:p>
          <a:p>
            <a:pPr marL="534988">
              <a:lnSpc>
                <a:spcPct val="90000"/>
              </a:lnSpc>
              <a:buSzPct val="100000"/>
            </a:pPr>
            <a:r>
              <a:rPr lang="en-AU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Make sure that there are no words or phrases that have been repeated.</a:t>
            </a:r>
          </a:p>
          <a:p>
            <a:pPr marL="534988">
              <a:lnSpc>
                <a:spcPct val="90000"/>
              </a:lnSpc>
              <a:buSzPct val="100000"/>
            </a:pPr>
            <a:r>
              <a:rPr lang="en-AU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Remember to italicise the title Future Girl.</a:t>
            </a:r>
          </a:p>
          <a:p>
            <a:pPr marL="534988">
              <a:lnSpc>
                <a:spcPct val="90000"/>
              </a:lnSpc>
              <a:buSzPct val="100000"/>
            </a:pPr>
            <a:r>
              <a:rPr lang="en-AU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Make sure you have used capital letters for titles, names, and at the beginning of each sentence.</a:t>
            </a:r>
          </a:p>
          <a:p>
            <a:pPr marL="534988">
              <a:lnSpc>
                <a:spcPct val="90000"/>
              </a:lnSpc>
              <a:buSzPct val="100000"/>
            </a:pPr>
            <a:r>
              <a:rPr lang="en-AU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End with a full stop.</a:t>
            </a:r>
            <a:endParaRPr lang="en-AU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C1DF613-CD5C-4D37-9F6C-843AFBBBDE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0" y="5197929"/>
            <a:ext cx="2875207" cy="1660072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CB56F5D-A737-4E56-BCDD-0F992B89C8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0" y="6033977"/>
            <a:ext cx="7151914" cy="82402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White letters illustrated in 3D">
            <a:extLst>
              <a:ext uri="{FF2B5EF4-FFF2-40B4-BE49-F238E27FC236}">
                <a16:creationId xmlns:a16="http://schemas.microsoft.com/office/drawing/2014/main" id="{9AAF4A77-B2E3-C7A3-23E5-54498B61A7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8078" r="18302" b="-1"/>
          <a:stretch/>
        </p:blipFill>
        <p:spPr>
          <a:xfrm>
            <a:off x="9227507" y="-1"/>
            <a:ext cx="4228215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3257830"/>
      </p:ext>
    </p:extLst>
  </p:cSld>
  <p:clrMapOvr>
    <a:masterClrMapping/>
  </p:clrMapOvr>
</p:sld>
</file>

<file path=ppt/theme/theme1.xml><?xml version="1.0" encoding="utf-8"?>
<a:theme xmlns:a="http://schemas.openxmlformats.org/drawingml/2006/main" name="AngleLinesVTI">
  <a:themeElements>
    <a:clrScheme name="Blue">
      <a:dk1>
        <a:srgbClr val="000000"/>
      </a:dk1>
      <a:lt1>
        <a:srgbClr val="FFFFFF"/>
      </a:lt1>
      <a:dk2>
        <a:srgbClr val="153A63"/>
      </a:dk2>
      <a:lt2>
        <a:srgbClr val="DBEFF9"/>
      </a:lt2>
      <a:accent1>
        <a:srgbClr val="0F6FC6"/>
      </a:accent1>
      <a:accent2>
        <a:srgbClr val="009DD9"/>
      </a:accent2>
      <a:accent3>
        <a:srgbClr val="09B8C0"/>
      </a:accent3>
      <a:accent4>
        <a:srgbClr val="0EBC8C"/>
      </a:accent4>
      <a:accent5>
        <a:srgbClr val="71B959"/>
      </a:accent5>
      <a:accent6>
        <a:srgbClr val="96B042"/>
      </a:accent6>
      <a:hlink>
        <a:srgbClr val="C37400"/>
      </a:hlink>
      <a:folHlink>
        <a:srgbClr val="4F9085"/>
      </a:folHlink>
    </a:clrScheme>
    <a:fontScheme name="Walbaum Light Univers Light">
      <a:majorFont>
        <a:latin typeface="Meiryo"/>
        <a:ea typeface=""/>
        <a:cs typeface=""/>
      </a:majorFont>
      <a:minorFont>
        <a:latin typeface="Meiry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ngleLinesVTI" id="{BC1FC193-C72F-4761-9899-1105EDF6BAE8}" vid="{64612625-F022-44B7-B9FA-9D26DEDBDC2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C5A3D4F247C9741BCA78F26B98D0AB7" ma:contentTypeVersion="17" ma:contentTypeDescription="Create a new document." ma:contentTypeScope="" ma:versionID="d478b7e1154088bc65e0d45f8e7f5474">
  <xsd:schema xmlns:xsd="http://www.w3.org/2001/XMLSchema" xmlns:xs="http://www.w3.org/2001/XMLSchema" xmlns:p="http://schemas.microsoft.com/office/2006/metadata/properties" xmlns:ns2="46846ff6-a39a-4f56-aca6-b2ea1af70d2e" xmlns:ns3="a8299878-b215-4b71-83d0-6b3d83d7e5d9" targetNamespace="http://schemas.microsoft.com/office/2006/metadata/properties" ma:root="true" ma:fieldsID="1007a34a083ca396768dbab7932fda31" ns2:_="" ns3:_="">
    <xsd:import namespace="46846ff6-a39a-4f56-aca6-b2ea1af70d2e"/>
    <xsd:import namespace="a8299878-b215-4b71-83d0-6b3d83d7e5d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LengthInSeconds" minOccurs="0"/>
                <xsd:element ref="ns2:MediaServiceObjectDetectorVersion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846ff6-a39a-4f56-aca6-b2ea1af70d2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1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2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94073e9b-c14b-4f43-8554-77a15894e20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299878-b215-4b71-83d0-6b3d83d7e5d9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19187b04-ede7-4ab0-a3a9-aa9f31dff0a7}" ma:internalName="TaxCatchAll" ma:showField="CatchAllData" ma:web="a8299878-b215-4b71-83d0-6b3d83d7e5d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6846ff6-a39a-4f56-aca6-b2ea1af70d2e">
      <Terms xmlns="http://schemas.microsoft.com/office/infopath/2007/PartnerControls"/>
    </lcf76f155ced4ddcb4097134ff3c332f>
    <TaxCatchAll xmlns="a8299878-b215-4b71-83d0-6b3d83d7e5d9" xsi:nil="true"/>
  </documentManagement>
</p:properties>
</file>

<file path=customXml/itemProps1.xml><?xml version="1.0" encoding="utf-8"?>
<ds:datastoreItem xmlns:ds="http://schemas.openxmlformats.org/officeDocument/2006/customXml" ds:itemID="{10C48D3E-256A-4B19-A50C-23E8C28D8198}"/>
</file>

<file path=customXml/itemProps2.xml><?xml version="1.0" encoding="utf-8"?>
<ds:datastoreItem xmlns:ds="http://schemas.openxmlformats.org/officeDocument/2006/customXml" ds:itemID="{4E683506-E0F6-4CED-AB77-91A3BF9897CC}"/>
</file>

<file path=customXml/itemProps3.xml><?xml version="1.0" encoding="utf-8"?>
<ds:datastoreItem xmlns:ds="http://schemas.openxmlformats.org/officeDocument/2006/customXml" ds:itemID="{150BC816-38E8-4990-9BE6-F3EAA1FCAF87}"/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1615</TotalTime>
  <Words>1147</Words>
  <Application>Microsoft Office PowerPoint</Application>
  <PresentationFormat>Widescreen</PresentationFormat>
  <Paragraphs>91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Meiryo</vt:lpstr>
      <vt:lpstr>Arial</vt:lpstr>
      <vt:lpstr>Calibri</vt:lpstr>
      <vt:lpstr>AngleLinesVTI</vt:lpstr>
      <vt:lpstr>Writing the Conclusion </vt:lpstr>
      <vt:lpstr>Learning outcomes</vt:lpstr>
      <vt:lpstr>Conclusions</vt:lpstr>
      <vt:lpstr>Purposes</vt:lpstr>
      <vt:lpstr>Dos and Don’ts</vt:lpstr>
      <vt:lpstr>A note on the last point:</vt:lpstr>
      <vt:lpstr>A step-by-step guide</vt:lpstr>
      <vt:lpstr>Sentence 1</vt:lpstr>
      <vt:lpstr>Sentence 1 – respond to the prompt</vt:lpstr>
      <vt:lpstr>Sentence 1 – respond to the prompt</vt:lpstr>
      <vt:lpstr>Sentence 2 – restate your claims</vt:lpstr>
      <vt:lpstr>Sentence 2 (and maybe 3)</vt:lpstr>
      <vt:lpstr>Sentence 2 (and maybe 3)</vt:lpstr>
      <vt:lpstr>Sentence 2 (and maybe 3)</vt:lpstr>
      <vt:lpstr>Sentence 2 (and maybe 3)</vt:lpstr>
      <vt:lpstr>Last Sentence – look beyond the text</vt:lpstr>
      <vt:lpstr>Last Sentence(s)</vt:lpstr>
      <vt:lpstr>Putting it all together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Writing the Conclusion </dc:title>
  <dc:subject/>
  <dc:creator>Lincoln LE FEVRE</dc:creator>
  <cp:lastModifiedBy>Lincoln LE FEVRE</cp:lastModifiedBy>
  <cp:revision>5</cp:revision>
  <dcterms:created xsi:type="dcterms:W3CDTF">2023-07-10T23:34:14Z</dcterms:created>
  <dcterms:modified xsi:type="dcterms:W3CDTF">2025-11-05T22:37:50Z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0x010100AC5A3D4F247C9741BCA78F26B98D0AB7</vt:lpwstr>
  </property>
</Properties>
</file>