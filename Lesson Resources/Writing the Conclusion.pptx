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authors.xml" ContentType="application/vnd.ms-powerpoint.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2" r:id="rId1"/>
  </p:sldMasterIdLst>
  <p:notesMasterIdLst>
    <p:notesMasterId r:id="rId20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3" r:id="rId15"/>
    <p:sldId id="294" r:id="rId16"/>
    <p:sldId id="291" r:id="rId17"/>
    <p:sldId id="292" r:id="rId18"/>
    <p:sldId id="295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Teacher" initials="T" userId="Teache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96" d="100"/>
          <a:sy n="96" d="100"/>
        </p:scale>
        <p:origin x="101" y="120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D853B5-5D37-44C4-8382-CEC730E7A6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4B83FE8-9EA8-4315-B92D-765D00D413D9}">
      <dgm:prSet/>
      <dgm:spPr/>
      <dgm:t>
        <a:bodyPr/>
        <a:lstStyle/>
        <a:p>
          <a:r>
            <a:rPr lang="en-AU"/>
            <a:t>Find the prompt, and consider the key words again</a:t>
          </a:r>
          <a:endParaRPr lang="en-US"/>
        </a:p>
      </dgm:t>
    </dgm:pt>
    <dgm:pt modelId="{78F1FF41-A77A-4DE3-AEAB-A8C28F8C8025}" type="parTrans" cxnId="{02A48A14-2C24-4277-A754-6F20DF6675F4}">
      <dgm:prSet/>
      <dgm:spPr/>
      <dgm:t>
        <a:bodyPr/>
        <a:lstStyle/>
        <a:p>
          <a:endParaRPr lang="en-US"/>
        </a:p>
      </dgm:t>
    </dgm:pt>
    <dgm:pt modelId="{C5C3648F-6F08-450B-BE24-61DE618BE90D}" type="sibTrans" cxnId="{02A48A14-2C24-4277-A754-6F20DF6675F4}">
      <dgm:prSet/>
      <dgm:spPr/>
      <dgm:t>
        <a:bodyPr/>
        <a:lstStyle/>
        <a:p>
          <a:endParaRPr lang="en-US"/>
        </a:p>
      </dgm:t>
    </dgm:pt>
    <dgm:pt modelId="{0EEF4FD3-B567-4419-85E6-E82B04C19958}">
      <dgm:prSet/>
      <dgm:spPr/>
      <dgm:t>
        <a:bodyPr/>
        <a:lstStyle/>
        <a:p>
          <a:r>
            <a:rPr lang="en-AU"/>
            <a:t>Using new phrases, restate what this means and make it clear if you agree or not.</a:t>
          </a:r>
          <a:endParaRPr lang="en-US"/>
        </a:p>
      </dgm:t>
    </dgm:pt>
    <dgm:pt modelId="{E2EFA5CE-FFCA-4AF6-80CC-0C7A6652C2E7}" type="parTrans" cxnId="{AC1FB7F5-C4AD-489D-A5E2-B6B428754003}">
      <dgm:prSet/>
      <dgm:spPr/>
      <dgm:t>
        <a:bodyPr/>
        <a:lstStyle/>
        <a:p>
          <a:endParaRPr lang="en-US"/>
        </a:p>
      </dgm:t>
    </dgm:pt>
    <dgm:pt modelId="{8B54D922-1A33-4F04-AF03-9D2BA19DAD4F}" type="sibTrans" cxnId="{AC1FB7F5-C4AD-489D-A5E2-B6B428754003}">
      <dgm:prSet/>
      <dgm:spPr/>
      <dgm:t>
        <a:bodyPr/>
        <a:lstStyle/>
        <a:p>
          <a:endParaRPr lang="en-US"/>
        </a:p>
      </dgm:t>
    </dgm:pt>
    <dgm:pt modelId="{E580D215-CAD4-4449-BADB-D1FE6CB352AC}" type="pres">
      <dgm:prSet presAssocID="{FBD853B5-5D37-44C4-8382-CEC730E7A609}" presName="root" presStyleCnt="0">
        <dgm:presLayoutVars>
          <dgm:dir/>
          <dgm:resizeHandles val="exact"/>
        </dgm:presLayoutVars>
      </dgm:prSet>
      <dgm:spPr/>
    </dgm:pt>
    <dgm:pt modelId="{7BEDF2B5-211F-4398-8FA5-C6733B541637}" type="pres">
      <dgm:prSet presAssocID="{34B83FE8-9EA8-4315-B92D-765D00D413D9}" presName="compNode" presStyleCnt="0"/>
      <dgm:spPr/>
    </dgm:pt>
    <dgm:pt modelId="{B728D2A6-69C7-411C-BCFD-02A379EF9D7B}" type="pres">
      <dgm:prSet presAssocID="{34B83FE8-9EA8-4315-B92D-765D00D413D9}" presName="bgRect" presStyleLbl="bgShp" presStyleIdx="0" presStyleCnt="2"/>
      <dgm:spPr/>
    </dgm:pt>
    <dgm:pt modelId="{CF2C8DB0-49BB-40E5-A3D8-0E05B7DB9B55}" type="pres">
      <dgm:prSet presAssocID="{34B83FE8-9EA8-4315-B92D-765D00D413D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ADCB7180-8891-43B9-8E1D-19073B418562}" type="pres">
      <dgm:prSet presAssocID="{34B83FE8-9EA8-4315-B92D-765D00D413D9}" presName="spaceRect" presStyleCnt="0"/>
      <dgm:spPr/>
    </dgm:pt>
    <dgm:pt modelId="{47575BD6-3BCB-43EF-B3B4-5AEE751F7D1A}" type="pres">
      <dgm:prSet presAssocID="{34B83FE8-9EA8-4315-B92D-765D00D413D9}" presName="parTx" presStyleLbl="revTx" presStyleIdx="0" presStyleCnt="2">
        <dgm:presLayoutVars>
          <dgm:chMax val="0"/>
          <dgm:chPref val="0"/>
        </dgm:presLayoutVars>
      </dgm:prSet>
      <dgm:spPr/>
    </dgm:pt>
    <dgm:pt modelId="{1AEC16B9-B61D-40D1-B8F9-EB7057176988}" type="pres">
      <dgm:prSet presAssocID="{C5C3648F-6F08-450B-BE24-61DE618BE90D}" presName="sibTrans" presStyleCnt="0"/>
      <dgm:spPr/>
    </dgm:pt>
    <dgm:pt modelId="{6ECB1FBE-7282-4525-8A7A-193572EE9D7A}" type="pres">
      <dgm:prSet presAssocID="{0EEF4FD3-B567-4419-85E6-E82B04C19958}" presName="compNode" presStyleCnt="0"/>
      <dgm:spPr/>
    </dgm:pt>
    <dgm:pt modelId="{DF53A5F0-5DA9-4304-8724-7200A8748C6A}" type="pres">
      <dgm:prSet presAssocID="{0EEF4FD3-B567-4419-85E6-E82B04C19958}" presName="bgRect" presStyleLbl="bgShp" presStyleIdx="1" presStyleCnt="2"/>
      <dgm:spPr/>
    </dgm:pt>
    <dgm:pt modelId="{EE76CC89-6AAC-4C8C-B8EF-83CB5F4F0952}" type="pres">
      <dgm:prSet presAssocID="{0EEF4FD3-B567-4419-85E6-E82B04C1995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1EBAE07-E7FD-4D47-BFD0-19124B6E31BB}" type="pres">
      <dgm:prSet presAssocID="{0EEF4FD3-B567-4419-85E6-E82B04C19958}" presName="spaceRect" presStyleCnt="0"/>
      <dgm:spPr/>
    </dgm:pt>
    <dgm:pt modelId="{380F3240-EE81-4FDC-B923-D1D23B817359}" type="pres">
      <dgm:prSet presAssocID="{0EEF4FD3-B567-4419-85E6-E82B04C1995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2A48A14-2C24-4277-A754-6F20DF6675F4}" srcId="{FBD853B5-5D37-44C4-8382-CEC730E7A609}" destId="{34B83FE8-9EA8-4315-B92D-765D00D413D9}" srcOrd="0" destOrd="0" parTransId="{78F1FF41-A77A-4DE3-AEAB-A8C28F8C8025}" sibTransId="{C5C3648F-6F08-450B-BE24-61DE618BE90D}"/>
    <dgm:cxn modelId="{53F01120-49E5-4574-A9E8-675555707DEF}" type="presOf" srcId="{FBD853B5-5D37-44C4-8382-CEC730E7A609}" destId="{E580D215-CAD4-4449-BADB-D1FE6CB352AC}" srcOrd="0" destOrd="0" presId="urn:microsoft.com/office/officeart/2018/2/layout/IconVerticalSolidList"/>
    <dgm:cxn modelId="{8359E062-B58F-488F-ADB6-2BF6AA8FE852}" type="presOf" srcId="{0EEF4FD3-B567-4419-85E6-E82B04C19958}" destId="{380F3240-EE81-4FDC-B923-D1D23B817359}" srcOrd="0" destOrd="0" presId="urn:microsoft.com/office/officeart/2018/2/layout/IconVerticalSolidList"/>
    <dgm:cxn modelId="{B40CA5AF-9BFE-46A4-888C-7DF26BA524A2}" type="presOf" srcId="{34B83FE8-9EA8-4315-B92D-765D00D413D9}" destId="{47575BD6-3BCB-43EF-B3B4-5AEE751F7D1A}" srcOrd="0" destOrd="0" presId="urn:microsoft.com/office/officeart/2018/2/layout/IconVerticalSolidList"/>
    <dgm:cxn modelId="{AC1FB7F5-C4AD-489D-A5E2-B6B428754003}" srcId="{FBD853B5-5D37-44C4-8382-CEC730E7A609}" destId="{0EEF4FD3-B567-4419-85E6-E82B04C19958}" srcOrd="1" destOrd="0" parTransId="{E2EFA5CE-FFCA-4AF6-80CC-0C7A6652C2E7}" sibTransId="{8B54D922-1A33-4F04-AF03-9D2BA19DAD4F}"/>
    <dgm:cxn modelId="{B554C278-F5F9-4612-81BB-ACFC9D06D7F6}" type="presParOf" srcId="{E580D215-CAD4-4449-BADB-D1FE6CB352AC}" destId="{7BEDF2B5-211F-4398-8FA5-C6733B541637}" srcOrd="0" destOrd="0" presId="urn:microsoft.com/office/officeart/2018/2/layout/IconVerticalSolidList"/>
    <dgm:cxn modelId="{74F27387-ACA0-4816-BC41-6C2E89D013CB}" type="presParOf" srcId="{7BEDF2B5-211F-4398-8FA5-C6733B541637}" destId="{B728D2A6-69C7-411C-BCFD-02A379EF9D7B}" srcOrd="0" destOrd="0" presId="urn:microsoft.com/office/officeart/2018/2/layout/IconVerticalSolidList"/>
    <dgm:cxn modelId="{989398E7-A912-4D56-8F7C-CB78A9B10267}" type="presParOf" srcId="{7BEDF2B5-211F-4398-8FA5-C6733B541637}" destId="{CF2C8DB0-49BB-40E5-A3D8-0E05B7DB9B55}" srcOrd="1" destOrd="0" presId="urn:microsoft.com/office/officeart/2018/2/layout/IconVerticalSolidList"/>
    <dgm:cxn modelId="{6DC94927-124F-4ED0-8DFF-0CAB8295488A}" type="presParOf" srcId="{7BEDF2B5-211F-4398-8FA5-C6733B541637}" destId="{ADCB7180-8891-43B9-8E1D-19073B418562}" srcOrd="2" destOrd="0" presId="urn:microsoft.com/office/officeart/2018/2/layout/IconVerticalSolidList"/>
    <dgm:cxn modelId="{E946320E-A9C6-43CF-BBED-7524EE97D2EC}" type="presParOf" srcId="{7BEDF2B5-211F-4398-8FA5-C6733B541637}" destId="{47575BD6-3BCB-43EF-B3B4-5AEE751F7D1A}" srcOrd="3" destOrd="0" presId="urn:microsoft.com/office/officeart/2018/2/layout/IconVerticalSolidList"/>
    <dgm:cxn modelId="{3B24CDAF-7922-4500-830E-49209CEEE56C}" type="presParOf" srcId="{E580D215-CAD4-4449-BADB-D1FE6CB352AC}" destId="{1AEC16B9-B61D-40D1-B8F9-EB7057176988}" srcOrd="1" destOrd="0" presId="urn:microsoft.com/office/officeart/2018/2/layout/IconVerticalSolidList"/>
    <dgm:cxn modelId="{2B4B1AD4-E2A1-45D4-897C-0E3B10582122}" type="presParOf" srcId="{E580D215-CAD4-4449-BADB-D1FE6CB352AC}" destId="{6ECB1FBE-7282-4525-8A7A-193572EE9D7A}" srcOrd="2" destOrd="0" presId="urn:microsoft.com/office/officeart/2018/2/layout/IconVerticalSolidList"/>
    <dgm:cxn modelId="{025DD119-5439-4CFE-9074-590B675E94F7}" type="presParOf" srcId="{6ECB1FBE-7282-4525-8A7A-193572EE9D7A}" destId="{DF53A5F0-5DA9-4304-8724-7200A8748C6A}" srcOrd="0" destOrd="0" presId="urn:microsoft.com/office/officeart/2018/2/layout/IconVerticalSolidList"/>
    <dgm:cxn modelId="{D6053D8B-346D-4303-852B-A8ED96DC3A7A}" type="presParOf" srcId="{6ECB1FBE-7282-4525-8A7A-193572EE9D7A}" destId="{EE76CC89-6AAC-4C8C-B8EF-83CB5F4F0952}" srcOrd="1" destOrd="0" presId="urn:microsoft.com/office/officeart/2018/2/layout/IconVerticalSolidList"/>
    <dgm:cxn modelId="{0DFCC9D2-5469-4E34-AE41-DBA1D9CCCCD0}" type="presParOf" srcId="{6ECB1FBE-7282-4525-8A7A-193572EE9D7A}" destId="{91EBAE07-E7FD-4D47-BFD0-19124B6E31BB}" srcOrd="2" destOrd="0" presId="urn:microsoft.com/office/officeart/2018/2/layout/IconVerticalSolidList"/>
    <dgm:cxn modelId="{C7434FD0-99B9-4091-90BA-9C2D50497A94}" type="presParOf" srcId="{6ECB1FBE-7282-4525-8A7A-193572EE9D7A}" destId="{380F3240-EE81-4FDC-B923-D1D23B8173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8D2A6-69C7-411C-BCFD-02A379EF9D7B}">
      <dsp:nvSpPr>
        <dsp:cNvPr id="0" name=""/>
        <dsp:cNvSpPr/>
      </dsp:nvSpPr>
      <dsp:spPr>
        <a:xfrm>
          <a:off x="0" y="836374"/>
          <a:ext cx="6289466" cy="15440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C8DB0-49BB-40E5-A3D8-0E05B7DB9B55}">
      <dsp:nvSpPr>
        <dsp:cNvPr id="0" name=""/>
        <dsp:cNvSpPr/>
      </dsp:nvSpPr>
      <dsp:spPr>
        <a:xfrm>
          <a:off x="467083" y="1183792"/>
          <a:ext cx="849242" cy="849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75BD6-3BCB-43EF-B3B4-5AEE751F7D1A}">
      <dsp:nvSpPr>
        <dsp:cNvPr id="0" name=""/>
        <dsp:cNvSpPr/>
      </dsp:nvSpPr>
      <dsp:spPr>
        <a:xfrm>
          <a:off x="1783408" y="836374"/>
          <a:ext cx="4506057" cy="1544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415" tIns="163415" rIns="163415" bIns="1634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/>
            <a:t>Find the prompt, and consider the key words again</a:t>
          </a:r>
          <a:endParaRPr lang="en-US" sz="1800" kern="1200"/>
        </a:p>
      </dsp:txBody>
      <dsp:txXfrm>
        <a:off x="1783408" y="836374"/>
        <a:ext cx="4506057" cy="1544076"/>
      </dsp:txXfrm>
    </dsp:sp>
    <dsp:sp modelId="{DF53A5F0-5DA9-4304-8724-7200A8748C6A}">
      <dsp:nvSpPr>
        <dsp:cNvPr id="0" name=""/>
        <dsp:cNvSpPr/>
      </dsp:nvSpPr>
      <dsp:spPr>
        <a:xfrm>
          <a:off x="0" y="2766470"/>
          <a:ext cx="6289466" cy="15440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6CC89-6AAC-4C8C-B8EF-83CB5F4F0952}">
      <dsp:nvSpPr>
        <dsp:cNvPr id="0" name=""/>
        <dsp:cNvSpPr/>
      </dsp:nvSpPr>
      <dsp:spPr>
        <a:xfrm>
          <a:off x="467083" y="3113887"/>
          <a:ext cx="849242" cy="849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F3240-EE81-4FDC-B923-D1D23B817359}">
      <dsp:nvSpPr>
        <dsp:cNvPr id="0" name=""/>
        <dsp:cNvSpPr/>
      </dsp:nvSpPr>
      <dsp:spPr>
        <a:xfrm>
          <a:off x="1783408" y="2766470"/>
          <a:ext cx="4506057" cy="1544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415" tIns="163415" rIns="163415" bIns="1634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/>
            <a:t>Using new phrases, restate what this means and make it clear if you agree or not.</a:t>
          </a:r>
          <a:endParaRPr lang="en-US" sz="1800" kern="1200"/>
        </a:p>
      </dsp:txBody>
      <dsp:txXfrm>
        <a:off x="1783408" y="2766470"/>
        <a:ext cx="4506057" cy="15440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7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8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5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7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8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8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6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3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4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 spc="6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6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9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11" r:id="rId4"/>
    <p:sldLayoutId id="2147483812" r:id="rId5"/>
    <p:sldLayoutId id="2147483817" r:id="rId6"/>
    <p:sldLayoutId id="2147483813" r:id="rId7"/>
    <p:sldLayoutId id="2147483814" r:id="rId8"/>
    <p:sldLayoutId id="2147483815" r:id="rId9"/>
    <p:sldLayoutId id="2147483816" r:id="rId10"/>
    <p:sldLayoutId id="2147483818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b="1" i="0" kern="1200" cap="none" spc="14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1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1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350" y="541964"/>
            <a:ext cx="4768938" cy="3818667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Writing the Conclusion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350" y="4700659"/>
            <a:ext cx="3834392" cy="160422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Text response </a:t>
            </a:r>
            <a:br>
              <a:rPr lang="en-US" dirty="0"/>
            </a:br>
            <a:r>
              <a:rPr lang="en-US" i="1" dirty="0"/>
              <a:t>The Bone Sparrow</a:t>
            </a:r>
            <a:endParaRPr lang="en-US" dirty="0"/>
          </a:p>
          <a:p>
            <a:pPr algn="l"/>
            <a:endParaRPr lang="en-US" dirty="0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he Bone Sparrow">
            <a:extLst>
              <a:ext uri="{FF2B5EF4-FFF2-40B4-BE49-F238E27FC236}">
                <a16:creationId xmlns:a16="http://schemas.microsoft.com/office/drawing/2014/main" id="{E528D62B-F64E-23C0-0094-DAFF9A803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29" b="97429" l="10000" r="90000">
                        <a14:foregroundMark x1="26286" y1="18143" x2="26286" y2="18143"/>
                        <a14:foregroundMark x1="24429" y1="9143" x2="24286" y2="68429"/>
                        <a14:foregroundMark x1="24286" y1="68429" x2="29857" y2="89857"/>
                        <a14:foregroundMark x1="29857" y1="89857" x2="49714" y2="94429"/>
                        <a14:foregroundMark x1="49714" y1="94429" x2="71857" y2="92857"/>
                        <a14:foregroundMark x1="71857" y1="92857" x2="78571" y2="7429"/>
                        <a14:foregroundMark x1="78571" y1="7429" x2="31143" y2="2857"/>
                        <a14:foregroundMark x1="31143" y1="2857" x2="23429" y2="9143"/>
                        <a14:foregroundMark x1="23429" y1="9143" x2="22429" y2="12571"/>
                        <a14:foregroundMark x1="23714" y1="3000" x2="63571" y2="2571"/>
                        <a14:foregroundMark x1="63571" y1="2571" x2="71429" y2="2571"/>
                        <a14:foregroundMark x1="25714" y1="92714" x2="62714" y2="95571"/>
                        <a14:foregroundMark x1="62714" y1="95571" x2="74429" y2="93286"/>
                        <a14:foregroundMark x1="74429" y1="93286" x2="75143" y2="92143"/>
                        <a14:foregroundMark x1="29571" y1="97714" x2="46429" y2="98143"/>
                        <a14:foregroundMark x1="46429" y1="98143" x2="76286" y2="97143"/>
                        <a14:foregroundMark x1="76286" y1="97143" x2="78000" y2="97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651981"/>
            <a:ext cx="55626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5284-5E3B-6F14-D554-2B7AF03A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FBFFD-B23D-5279-2E4A-88A04361D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Learning intention:</a:t>
            </a:r>
            <a:br>
              <a:rPr lang="en-AU" dirty="0"/>
            </a:b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FB63E-4BAA-E1B2-C17D-0D20DFF2BE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be able to write a better conclusion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0CF23-3B51-0DCF-CA45-80F5209B3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By the end of the lesson, you will have: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49286-584D-E252-AFC1-FAB2A5E36C3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Written at least three sentences for your conclusion</a:t>
            </a:r>
          </a:p>
          <a:p>
            <a:pPr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Put them all together and typed up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260583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6A9FF-F4BA-6307-B43F-E230B24F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59" y="685800"/>
            <a:ext cx="6238688" cy="1382233"/>
          </a:xfrm>
        </p:spPr>
        <p:txBody>
          <a:bodyPr>
            <a:normAutofit/>
          </a:bodyPr>
          <a:lstStyle/>
          <a:p>
            <a:r>
              <a:rPr lang="en-AU" dirty="0"/>
              <a:t>Conclusions</a:t>
            </a:r>
          </a:p>
        </p:txBody>
      </p:sp>
      <p:pic>
        <p:nvPicPr>
          <p:cNvPr id="5" name="Picture 4" descr="Different coloured question marks">
            <a:extLst>
              <a:ext uri="{FF2B5EF4-FFF2-40B4-BE49-F238E27FC236}">
                <a16:creationId xmlns:a16="http://schemas.microsoft.com/office/drawing/2014/main" id="{E8C40546-E317-BDE9-63B5-B8435C347E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88" r="31375" b="1"/>
          <a:stretch/>
        </p:blipFill>
        <p:spPr>
          <a:xfrm>
            <a:off x="20" y="-7444"/>
            <a:ext cx="4966427" cy="6874330"/>
          </a:xfrm>
          <a:custGeom>
            <a:avLst/>
            <a:gdLst/>
            <a:ahLst/>
            <a:cxnLst/>
            <a:rect l="l" t="t" r="r" b="b"/>
            <a:pathLst>
              <a:path w="4966447" h="6874330">
                <a:moveTo>
                  <a:pt x="0" y="0"/>
                </a:moveTo>
                <a:lnTo>
                  <a:pt x="4966447" y="0"/>
                </a:lnTo>
                <a:lnTo>
                  <a:pt x="3355712" y="6874330"/>
                </a:lnTo>
                <a:lnTo>
                  <a:pt x="0" y="687433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448C1-3557-8F3F-D317-6554675B1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158" y="2301949"/>
            <a:ext cx="6238687" cy="4022650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AU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purpose of a conclusion in an essay?</a:t>
            </a:r>
          </a:p>
          <a:p>
            <a:pPr marL="41910" indent="0">
              <a:spcAft>
                <a:spcPts val="800"/>
              </a:spcAft>
              <a:buNone/>
            </a:pPr>
            <a:r>
              <a:rPr lang="en-AU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You’ve already presented three great arguments, right? And each argument is littered with well-chosen examples and quotes from the text. </a:t>
            </a:r>
          </a:p>
          <a:p>
            <a:pPr marL="41910" indent="0">
              <a:spcAft>
                <a:spcPts val="800"/>
              </a:spcAft>
              <a:buNone/>
            </a:pPr>
            <a:r>
              <a:rPr lang="en-AU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what is there left to do?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434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8092E2-D77A-4CE6-BB2D-626978445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2CD835-4B0F-45D6-9B85-B049A1005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C72FF-7E5A-D467-C784-137163F0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11309"/>
            <a:ext cx="9577116" cy="1221957"/>
          </a:xfrm>
        </p:spPr>
        <p:txBody>
          <a:bodyPr anchor="ctr">
            <a:normAutofit/>
          </a:bodyPr>
          <a:lstStyle/>
          <a:p>
            <a:r>
              <a:rPr lang="en-AU" sz="5400" dirty="0"/>
              <a:t>Purposes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71A1EC-5980-40B2-973F-0D3D6630D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049A56-C4C2-4C0F-9F4F-D0E34391D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02BE56-7EB5-4E62-B6E2-1C49E470A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FF75-B613-C83E-7B17-67482654A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553" y="2420471"/>
            <a:ext cx="6555517" cy="3884410"/>
          </a:xfrm>
        </p:spPr>
        <p:txBody>
          <a:bodyPr anchor="ctr">
            <a:normAutofit/>
          </a:bodyPr>
          <a:lstStyle/>
          <a:p>
            <a:pPr marL="1347788" indent="-1347788">
              <a:lnSpc>
                <a:spcPct val="90000"/>
              </a:lnSpc>
              <a:spcAft>
                <a:spcPts val="800"/>
              </a:spcAft>
              <a:buNone/>
            </a:pPr>
            <a:r>
              <a:rPr lang="en-A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1:</a:t>
            </a:r>
            <a:r>
              <a:rPr lang="en-A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conclusion should make your overall idea so clear for the reader that you remove any remaining doubts they have on the topic.</a:t>
            </a:r>
          </a:p>
          <a:p>
            <a:pPr marL="1347788" indent="-1347788">
              <a:lnSpc>
                <a:spcPct val="90000"/>
              </a:lnSpc>
              <a:spcAft>
                <a:spcPts val="800"/>
              </a:spcAft>
              <a:buNone/>
            </a:pPr>
            <a:r>
              <a:rPr lang="en-A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2: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To remind the reader how you proved your contention so they don’t forget any of the key arguments you addressed.</a:t>
            </a:r>
          </a:p>
          <a:p>
            <a:pPr marL="1347788" indent="-1347788">
              <a:lnSpc>
                <a:spcPct val="90000"/>
              </a:lnSpc>
              <a:spcAft>
                <a:spcPts val="800"/>
              </a:spcAft>
              <a:buNone/>
            </a:pPr>
            <a:r>
              <a:rPr lang="en-A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2: 	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Having proven your contention, you should then be able to answer the question: </a:t>
            </a:r>
            <a:r>
              <a:rPr lang="en-AU" sz="20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what?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What does this mean for the reader, and us in the world today?</a:t>
            </a:r>
            <a:endParaRPr lang="en-AU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Magnifying glass on clear background">
            <a:extLst>
              <a:ext uri="{FF2B5EF4-FFF2-40B4-BE49-F238E27FC236}">
                <a16:creationId xmlns:a16="http://schemas.microsoft.com/office/drawing/2014/main" id="{D6435669-938C-56D2-BE74-1780FDD6EE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02" r="2775"/>
          <a:stretch/>
        </p:blipFill>
        <p:spPr>
          <a:xfrm>
            <a:off x="8076229" y="1995117"/>
            <a:ext cx="4860850" cy="486288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595B06-EDA5-4E45-BED4-7891E7E0C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9C9A5D-F572-476A-99A9-7000771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592DA5-68A4-46A6-90EA-F0304FF8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38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430E9F-3B61-4A75-9A34-1EF839C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A93CC3-99AA-471D-9142-5BD2235D6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5A1EFF-2E6F-4210-A283-AF9BE5B07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C9A7BB-4074-4704-B5B6-B526355DF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5622E3-2C65-496F-9C3F-CBEE21924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ED111D-3746-4B9C-AEE8-7AB834670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AE1D3C-1EF9-4A89-B613-EE7B78910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0D6F8E8-08A8-1645-C9DE-433C0D34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497395"/>
            <a:ext cx="10064376" cy="1229756"/>
          </a:xfrm>
        </p:spPr>
        <p:txBody>
          <a:bodyPr>
            <a:normAutofit/>
          </a:bodyPr>
          <a:lstStyle/>
          <a:p>
            <a:r>
              <a:rPr lang="en-AU" dirty="0"/>
              <a:t>Dos and Don’ts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E80A3F-530A-4181-887F-9AAF6DCBF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CDDDBC-D9EB-D544-F049-B15717659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952977"/>
              </p:ext>
            </p:extLst>
          </p:nvPr>
        </p:nvGraphicFramePr>
        <p:xfrm>
          <a:off x="739848" y="2506295"/>
          <a:ext cx="10712303" cy="3798174"/>
        </p:xfrm>
        <a:graphic>
          <a:graphicData uri="http://schemas.openxmlformats.org/drawingml/2006/table">
            <a:tbl>
              <a:tblPr firstRow="1" firstCol="1" bandRow="1"/>
              <a:tblGrid>
                <a:gridCol w="5476214">
                  <a:extLst>
                    <a:ext uri="{9D8B030D-6E8A-4147-A177-3AD203B41FA5}">
                      <a16:colId xmlns:a16="http://schemas.microsoft.com/office/drawing/2014/main" val="1553709191"/>
                    </a:ext>
                  </a:extLst>
                </a:gridCol>
                <a:gridCol w="5236089">
                  <a:extLst>
                    <a:ext uri="{9D8B030D-6E8A-4147-A177-3AD203B41FA5}">
                      <a16:colId xmlns:a16="http://schemas.microsoft.com/office/drawing/2014/main" val="52972804"/>
                    </a:ext>
                  </a:extLst>
                </a:gridCol>
              </a:tblGrid>
              <a:tr h="515057"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2500" b="1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</a:t>
                      </a:r>
                      <a:endParaRPr lang="en-AU" sz="4100" b="0" i="0" u="none" strike="noStrike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649" marR="156649" marT="2175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2500" b="1" i="0" u="none" strike="noStrike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Don’t</a:t>
                      </a:r>
                      <a:endParaRPr lang="en-AU" sz="4100" b="0" i="0" u="none" strike="noStrike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649" marR="156649" marT="2175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713502"/>
                  </a:ext>
                </a:extLst>
              </a:tr>
              <a:tr h="2563816">
                <a:tc>
                  <a:txBody>
                    <a:bodyPr/>
                    <a:lstStyle/>
                    <a:p>
                      <a:pPr marL="347472" marR="0" lvl="0" indent="-347472" algn="l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25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Remind the reader of the key arguments</a:t>
                      </a:r>
                      <a:endParaRPr lang="en-AU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5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 a response to the essay prompt</a:t>
                      </a:r>
                      <a:endParaRPr lang="en-AU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5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Emphasise why this is an important idea</a:t>
                      </a:r>
                      <a:endParaRPr lang="en-AU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5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Inspire the reader to think deeper about the subject</a:t>
                      </a:r>
                      <a:endParaRPr lang="en-AU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649" marR="156649" marT="2175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7472" marR="0" lvl="0" indent="-347472" algn="l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25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 any new analysis or ideas</a:t>
                      </a:r>
                      <a:endParaRPr lang="en-AU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5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Repeat the same sentences as the introduction or arguments</a:t>
                      </a:r>
                      <a:endParaRPr lang="en-AU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5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 cliches like “In conclusion” or “To summarise”.</a:t>
                      </a:r>
                      <a:endParaRPr lang="en-AU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649" marR="156649" marT="2175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955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117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9A98-65AF-D2CC-3FC3-71174135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note on the last point: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F9701-D97E-74EE-E1CF-82716BA82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000" b="1" dirty="0"/>
              <a:t>Do not start with “In conclusion”, “To summarise” or anything similar.</a:t>
            </a:r>
            <a:r>
              <a:rPr lang="en-AU" sz="2000" dirty="0"/>
              <a:t> </a:t>
            </a:r>
          </a:p>
          <a:p>
            <a:pPr marL="0" indent="0">
              <a:buNone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There are plenty of reasons why you should avoid this:</a:t>
            </a:r>
          </a:p>
          <a:p>
            <a:pPr marL="452438">
              <a:buSzPct val="100000"/>
            </a:pP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It’s redundant 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The reader already knows it’s a conclusion!</a:t>
            </a:r>
          </a:p>
          <a:p>
            <a:pPr marL="452438">
              <a:buSzPct val="100000"/>
            </a:pP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It’s a cliché 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you might have written some great arguments so far, but as soon as your reader sees these overused phrases, they will roll their eyes harder than a teenager.</a:t>
            </a:r>
          </a:p>
          <a:p>
            <a:pPr marL="452438">
              <a:buSzPct val="100000"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usually means you’re not sure how to start your conclusion. So this will show you some better ways to begin.</a:t>
            </a:r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67750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EADD3-5F21-6FFF-C36F-D567FD50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406" y="1199288"/>
            <a:ext cx="5450958" cy="3520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600" i="1" cap="all"/>
              <a:t>A step-by-step guide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7734-0401-C182-44ED-7162DC38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6564" y="4927600"/>
            <a:ext cx="4495800" cy="1169932"/>
          </a:xfr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1800" b="1" cap="all" spc="300">
                <a:solidFill>
                  <a:schemeClr val="tx2"/>
                </a:solidFill>
              </a:rPr>
              <a:t>Write your conclusion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D61EC8C-9F54-4671-8E82-4AE6101D6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965"/>
            <a:ext cx="4584879" cy="6863976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4879" h="6863976">
                <a:moveTo>
                  <a:pt x="0" y="0"/>
                </a:moveTo>
                <a:lnTo>
                  <a:pt x="4584879" y="0"/>
                </a:lnTo>
                <a:lnTo>
                  <a:pt x="2493114" y="6863976"/>
                </a:lnTo>
                <a:lnTo>
                  <a:pt x="0" y="686397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57940A-71CE-48E1-BD71-2BEF1561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10013" y="-8965"/>
            <a:ext cx="708298" cy="68699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77C915-01E5-4C85-B3BF-7BF7CC3F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401236"/>
            <a:ext cx="4011413" cy="345676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Pencil">
            <a:extLst>
              <a:ext uri="{FF2B5EF4-FFF2-40B4-BE49-F238E27FC236}">
                <a16:creationId xmlns:a16="http://schemas.microsoft.com/office/drawing/2014/main" id="{3F42373C-52C3-32C1-5AEF-DB7DF440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1046697"/>
            <a:ext cx="4764606" cy="47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5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CA7A60-8DF8-4B78-BFE3-B372B90AB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3">
            <a:extLst>
              <a:ext uri="{FF2B5EF4-FFF2-40B4-BE49-F238E27FC236}">
                <a16:creationId xmlns:a16="http://schemas.microsoft.com/office/drawing/2014/main" id="{FF4BD241-F172-410B-B0DE-9D7344B3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0"/>
            <a:ext cx="4850735" cy="685799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320626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320626 w 6125882"/>
              <a:gd name="connsiteY4" fmla="*/ 0 h 6857998"/>
              <a:gd name="connsiteX0" fmla="*/ 2034528 w 5839784"/>
              <a:gd name="connsiteY0" fmla="*/ 0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034528 w 5839784"/>
              <a:gd name="connsiteY4" fmla="*/ 0 h 6857998"/>
              <a:gd name="connsiteX0" fmla="*/ 2482758 w 5839784"/>
              <a:gd name="connsiteY0" fmla="*/ 10951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482758 w 5839784"/>
              <a:gd name="connsiteY4" fmla="*/ 10951 h 6857998"/>
              <a:gd name="connsiteX0" fmla="*/ 2495565 w 5839784"/>
              <a:gd name="connsiteY0" fmla="*/ 0 h 6857998"/>
              <a:gd name="connsiteX1" fmla="*/ 5839784 w 5839784"/>
              <a:gd name="connsiteY1" fmla="*/ 0 h 6857998"/>
              <a:gd name="connsiteX2" fmla="*/ 5839784 w 5839784"/>
              <a:gd name="connsiteY2" fmla="*/ 6857998 h 6857998"/>
              <a:gd name="connsiteX3" fmla="*/ 0 w 5839784"/>
              <a:gd name="connsiteY3" fmla="*/ 6856093 h 6857998"/>
              <a:gd name="connsiteX4" fmla="*/ 2495565 w 5839784"/>
              <a:gd name="connsiteY4" fmla="*/ 0 h 6857998"/>
              <a:gd name="connsiteX0" fmla="*/ 2328480 w 5672699"/>
              <a:gd name="connsiteY0" fmla="*/ 0 h 6857998"/>
              <a:gd name="connsiteX1" fmla="*/ 5672699 w 5672699"/>
              <a:gd name="connsiteY1" fmla="*/ 0 h 6857998"/>
              <a:gd name="connsiteX2" fmla="*/ 5672699 w 5672699"/>
              <a:gd name="connsiteY2" fmla="*/ 6857998 h 6857998"/>
              <a:gd name="connsiteX3" fmla="*/ 0 w 5672699"/>
              <a:gd name="connsiteY3" fmla="*/ 6856093 h 6857998"/>
              <a:gd name="connsiteX4" fmla="*/ 2328480 w 5672699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2699" h="6857998">
                <a:moveTo>
                  <a:pt x="2328480" y="0"/>
                </a:moveTo>
                <a:lnTo>
                  <a:pt x="5672699" y="0"/>
                </a:lnTo>
                <a:lnTo>
                  <a:pt x="5672699" y="6857998"/>
                </a:lnTo>
                <a:lnTo>
                  <a:pt x="0" y="6856093"/>
                </a:lnTo>
                <a:lnTo>
                  <a:pt x="232848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8BB60-F3EB-0494-E29E-CE0F0393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49" y="367739"/>
            <a:ext cx="3723307" cy="3569822"/>
          </a:xfrm>
        </p:spPr>
        <p:txBody>
          <a:bodyPr anchor="t">
            <a:normAutofit/>
          </a:bodyPr>
          <a:lstStyle/>
          <a:p>
            <a:r>
              <a:rPr lang="en-AU" dirty="0"/>
              <a:t>Sentence 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CEFB97-33B1-4F90-A6B8-EAA26EEA1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93" y="4305300"/>
            <a:ext cx="4515220" cy="25527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D85D76-90C5-3B79-88C6-573CCE1AB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656036"/>
              </p:ext>
            </p:extLst>
          </p:nvPr>
        </p:nvGraphicFramePr>
        <p:xfrm>
          <a:off x="5146923" y="832268"/>
          <a:ext cx="6289466" cy="5146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8919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F010-311C-4FC9-30DD-ABE61D13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Sentence 1 – respond to the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CB8F6-DD13-07CB-D978-47ED8B8DA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 1</a:t>
            </a:r>
          </a:p>
          <a:p>
            <a:pPr>
              <a:buSzPct val="100000"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When you wrote your introduction, you underlined the key words from the essay prompt.</a:t>
            </a:r>
          </a:p>
          <a:p>
            <a:pPr>
              <a:buSzPct val="100000"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 your first sentence, use some of these words to state your response to the prompt again. </a:t>
            </a:r>
          </a:p>
          <a:p>
            <a:pPr marL="269875" indent="0">
              <a:buNone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 example, consider the prompt.</a:t>
            </a:r>
          </a:p>
          <a:p>
            <a:pPr marL="898525" indent="87313">
              <a:buNone/>
            </a:pPr>
            <a:r>
              <a:rPr lang="en-AU" sz="2000" b="1" i="1" dirty="0">
                <a:solidFill>
                  <a:schemeClr val="accent1"/>
                </a:solidFill>
              </a:rPr>
              <a:t>'But reading is important.' </a:t>
            </a:r>
            <a:r>
              <a:rPr lang="en-AU" sz="2000" i="1" dirty="0">
                <a:solidFill>
                  <a:schemeClr val="accent1"/>
                </a:solidFill>
              </a:rPr>
              <a:t>(p39)</a:t>
            </a:r>
          </a:p>
          <a:p>
            <a:pPr marL="981075" indent="0">
              <a:buNone/>
            </a:pPr>
            <a:r>
              <a:rPr lang="en-AU" sz="2000" i="1" dirty="0">
                <a:solidFill>
                  <a:schemeClr val="accent1"/>
                </a:solidFill>
              </a:rPr>
              <a:t>Discuss how stories and imagination are important for characters in The Bone Sparrow.</a:t>
            </a:r>
          </a:p>
          <a:p>
            <a:pPr marL="182563" indent="0">
              <a:buNone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 are the key words?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959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4D06-5376-9404-384B-576A94A3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Sentence 1 – respond to the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8D688-EF87-67D4-81D0-9EBDDF35A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 2:</a:t>
            </a:r>
          </a:p>
          <a:p>
            <a:pPr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main idea is that reading and stories help Subhi, Jimmie and other characters understand and cope with their lives.</a:t>
            </a:r>
          </a:p>
          <a:p>
            <a:pPr marL="182563" indent="0">
              <a:buNone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 might rephrase this idea to write:</a:t>
            </a:r>
          </a:p>
          <a:p>
            <a:pPr marL="541338" indent="0">
              <a:buNone/>
            </a:pPr>
            <a:r>
              <a:rPr lang="en-AU" dirty="0">
                <a:solidFill>
                  <a:schemeClr val="accent1"/>
                </a:solidFill>
              </a:rPr>
              <a:t>Throughout </a:t>
            </a:r>
            <a:r>
              <a:rPr lang="en-AU" i="1" dirty="0">
                <a:solidFill>
                  <a:schemeClr val="accent1"/>
                </a:solidFill>
              </a:rPr>
              <a:t>The Bone Sparrow</a:t>
            </a:r>
            <a:r>
              <a:rPr lang="en-AU" dirty="0">
                <a:solidFill>
                  <a:schemeClr val="accent1"/>
                </a:solidFill>
              </a:rPr>
              <a:t>, the ability to read or imagine other worlds gives characters a chance to escape their own, and to experience hope.</a:t>
            </a:r>
          </a:p>
        </p:txBody>
      </p:sp>
    </p:spTree>
    <p:extLst>
      <p:ext uri="{BB962C8B-B14F-4D97-AF65-F5344CB8AC3E}">
        <p14:creationId xmlns:p14="http://schemas.microsoft.com/office/powerpoint/2010/main" val="1493182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105210-61FE-4E9D-9076-A5618FDA8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9D9C0-D73D-AE2F-474B-AACF645C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38" y="533400"/>
            <a:ext cx="8032091" cy="1683487"/>
          </a:xfrm>
        </p:spPr>
        <p:txBody>
          <a:bodyPr>
            <a:normAutofit/>
          </a:bodyPr>
          <a:lstStyle/>
          <a:p>
            <a:r>
              <a:rPr lang="en-AU" sz="3200" dirty="0"/>
              <a:t>Sentence 2 – restate your claims</a:t>
            </a:r>
            <a:endParaRPr lang="en-AU" sz="32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2DE4-DE8D-49D4-F163-3B8BADADC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35" y="2216886"/>
            <a:ext cx="8032090" cy="381709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87313" algn="l"/>
              </a:tabLst>
            </a:pPr>
            <a:r>
              <a:rPr lang="en-AU" sz="2000" dirty="0"/>
              <a:t>This is the part of your conclusion where you remind the reader of your main arguments. </a:t>
            </a:r>
          </a:p>
          <a:p>
            <a:pPr marL="541338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 </a:t>
            </a: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must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 more 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 simply rewrite your three topic sentences.</a:t>
            </a:r>
          </a:p>
          <a:p>
            <a:pPr marL="541338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</a:t>
            </a: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basic summary 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will restate the ideas using different words and in a different order.</a:t>
            </a:r>
          </a:p>
          <a:p>
            <a:pPr marL="541338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</a:t>
            </a:r>
            <a:r>
              <a:rPr lang="en-AU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strong conclusion 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might also use logic conjunctions to sequence the ideas (although, if, while, since, despite, </a:t>
            </a:r>
            <a:r>
              <a:rPr lang="en-AU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etc</a:t>
            </a:r>
            <a:r>
              <a:rPr lang="en-A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). It might also describe the importance of each idea.</a:t>
            </a:r>
          </a:p>
          <a:p>
            <a:pPr marL="0" indent="0">
              <a:lnSpc>
                <a:spcPct val="90000"/>
              </a:lnSpc>
              <a:buNone/>
            </a:pPr>
            <a:endParaRPr lang="en-AU" sz="19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1DF613-CD5C-4D37-9F6C-843AFBBB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197929"/>
            <a:ext cx="2875207" cy="166007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B56F5D-A737-4E56-BCDD-0F992B89C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6033977"/>
            <a:ext cx="7151914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48AD9430-7A27-CB08-8D54-948298406C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370" r="4475" b="-1"/>
          <a:stretch/>
        </p:blipFill>
        <p:spPr>
          <a:xfrm>
            <a:off x="8734346" y="11"/>
            <a:ext cx="422821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9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5CDD-1046-5BC3-187C-146FF0A44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Sentence 2 </a:t>
            </a:r>
            <a:r>
              <a:rPr lang="en-AU" sz="4400" b="0" dirty="0"/>
              <a:t>(and maybe 3)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92F9-8456-0ED8-4E14-18C00EE01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Let’s say that your key ideas were:</a:t>
            </a:r>
          </a:p>
          <a:p>
            <a:pPr marL="539750" indent="-269875">
              <a:spcAft>
                <a:spcPts val="1200"/>
              </a:spcAft>
              <a:buSzPct val="100000"/>
            </a:pPr>
            <a:r>
              <a:rPr lang="en-AU" dirty="0">
                <a:solidFill>
                  <a:schemeClr val="accent1"/>
                </a:solidFill>
              </a:rPr>
              <a:t>Some stories allow characters to escape the present</a:t>
            </a:r>
          </a:p>
          <a:p>
            <a:pPr marL="539750" indent="-269875">
              <a:spcAft>
                <a:spcPts val="1200"/>
              </a:spcAft>
              <a:buSzPct val="100000"/>
            </a:pPr>
            <a:r>
              <a:rPr lang="en-AU" dirty="0">
                <a:solidFill>
                  <a:schemeClr val="accent1"/>
                </a:solidFill>
              </a:rPr>
              <a:t>Some stories are a way of understanding the past</a:t>
            </a:r>
          </a:p>
          <a:p>
            <a:pPr marL="539750" indent="-269875">
              <a:spcAft>
                <a:spcPts val="1200"/>
              </a:spcAft>
              <a:buSzPct val="100000"/>
            </a:pPr>
            <a:r>
              <a:rPr lang="en-AU" dirty="0">
                <a:solidFill>
                  <a:schemeClr val="accent1"/>
                </a:solidFill>
              </a:rPr>
              <a:t>Stories can give a sense of hope for the future</a:t>
            </a:r>
          </a:p>
        </p:txBody>
      </p:sp>
    </p:spTree>
    <p:extLst>
      <p:ext uri="{BB962C8B-B14F-4D97-AF65-F5344CB8AC3E}">
        <p14:creationId xmlns:p14="http://schemas.microsoft.com/office/powerpoint/2010/main" val="3519747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09FC-2433-6055-7687-E76BE9FC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Sentence 2 </a:t>
            </a:r>
            <a:r>
              <a:rPr lang="en-AU" sz="4400" b="0" dirty="0"/>
              <a:t>(and maybe 3)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0C4E-6443-1FC1-BE09-7F836836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A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Poor summary</a:t>
            </a:r>
          </a:p>
          <a:p>
            <a:pPr marL="539750" indent="-269875">
              <a:spcAft>
                <a:spcPts val="1200"/>
              </a:spcAft>
              <a:buSzPct val="100000"/>
            </a:pPr>
            <a:r>
              <a:rPr lang="en-AU" dirty="0">
                <a:solidFill>
                  <a:schemeClr val="accent1"/>
                </a:solidFill>
              </a:rPr>
              <a:t>In </a:t>
            </a:r>
            <a:r>
              <a:rPr lang="en-AU" i="1" dirty="0">
                <a:solidFill>
                  <a:schemeClr val="accent1"/>
                </a:solidFill>
              </a:rPr>
              <a:t>The Bone Sparrow</a:t>
            </a:r>
            <a:r>
              <a:rPr lang="en-AU" dirty="0">
                <a:solidFill>
                  <a:schemeClr val="accent1"/>
                </a:solidFill>
              </a:rPr>
              <a:t>, some stories allow characters to escape the present, some stories are a way of understanding the past, and stories can give a sense of hope for the future.</a:t>
            </a:r>
          </a:p>
          <a:p>
            <a:pPr marL="895350" indent="0">
              <a:buNone/>
            </a:pPr>
            <a:endParaRPr lang="en-AU" dirty="0">
              <a:solidFill>
                <a:schemeClr val="accent1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62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09FC-2433-6055-7687-E76BE9FC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Sentence 2 </a:t>
            </a:r>
            <a:r>
              <a:rPr lang="en-AU" sz="4400" b="0" dirty="0"/>
              <a:t>(and maybe 3)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0C4E-6443-1FC1-BE09-7F836836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A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Basic summary</a:t>
            </a:r>
          </a:p>
          <a:p>
            <a:pPr marL="895350" indent="0">
              <a:buNone/>
            </a:pPr>
            <a:r>
              <a:rPr lang="en-AU" dirty="0">
                <a:solidFill>
                  <a:schemeClr val="accent1"/>
                </a:solidFill>
              </a:rPr>
              <a:t>Throughout the novel, </a:t>
            </a:r>
            <a:r>
              <a:rPr lang="en-AU" dirty="0" err="1">
                <a:solidFill>
                  <a:schemeClr val="accent1"/>
                </a:solidFill>
              </a:rPr>
              <a:t>Fraillon</a:t>
            </a:r>
            <a:r>
              <a:rPr lang="en-AU" dirty="0">
                <a:solidFill>
                  <a:schemeClr val="accent1"/>
                </a:solidFill>
              </a:rPr>
              <a:t> presents a series of stories that demonstrate how characters escape from and understand their lives in and around Australia’s detention centres. However, the author conveys a feeling of hope by depicting characters that use their imagination to see a better future.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8071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09FC-2433-6055-7687-E76BE9FC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Sentence 2 </a:t>
            </a:r>
            <a:r>
              <a:rPr lang="en-AU" sz="4400" b="0" dirty="0"/>
              <a:t>(and maybe 3)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0C4E-6443-1FC1-BE09-7F836836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A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Stronger summary</a:t>
            </a:r>
          </a:p>
          <a:p>
            <a:pPr marL="895350" indent="0">
              <a:buNone/>
            </a:pPr>
            <a:r>
              <a:rPr lang="en-AU" dirty="0">
                <a:solidFill>
                  <a:schemeClr val="accent1"/>
                </a:solidFill>
              </a:rPr>
              <a:t>While the stories of Subhi and Jimmie’s mothers help them to better understand the rich histories of their families, their drawings and photographs allow them to feel a sense of hope for the future. Ultimately, all storytelling serves as a way of those living in and around Australia’s detention centres to escape the misery and isolation of their present lives.</a:t>
            </a:r>
          </a:p>
        </p:txBody>
      </p:sp>
    </p:spTree>
    <p:extLst>
      <p:ext uri="{BB962C8B-B14F-4D97-AF65-F5344CB8AC3E}">
        <p14:creationId xmlns:p14="http://schemas.microsoft.com/office/powerpoint/2010/main" val="4273602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B451-2995-FFAE-59FD-0537DBD5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Last Sentence – look beyond the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ACA24-C209-1D8E-E73D-F8EF6C5CA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A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you look beyond the text.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might involve answering a “so what?” question, such as:</a:t>
            </a:r>
          </a:p>
          <a:p>
            <a:pPr marL="722313"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 does this teach us about our world?</a:t>
            </a:r>
          </a:p>
          <a:p>
            <a:pPr marL="722313"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can we apply this to our own lives?</a:t>
            </a:r>
          </a:p>
          <a:p>
            <a:pPr marL="722313">
              <a:spcAft>
                <a:spcPts val="1200"/>
              </a:spcAft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do the ideas relate to other texts?</a:t>
            </a:r>
          </a:p>
          <a:p>
            <a:pPr marL="0" indent="0">
              <a:buNone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 you might leave the reader with an image or a warning</a:t>
            </a:r>
          </a:p>
          <a:p>
            <a:pPr marL="0" indent="0">
              <a:buNone/>
            </a:pPr>
            <a:endParaRPr lang="en-A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336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71661-0838-4942-A149-8C1B78926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D2ED5-C308-A0C2-A663-3D85AE7E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6" y="533400"/>
            <a:ext cx="4529138" cy="1671639"/>
          </a:xfrm>
        </p:spPr>
        <p:txBody>
          <a:bodyPr>
            <a:normAutofit/>
          </a:bodyPr>
          <a:lstStyle/>
          <a:p>
            <a:r>
              <a:rPr lang="en-AU" dirty="0"/>
              <a:t>Last Sentence(s)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D6A8F-C306-4169-CD03-0F9868BD0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205038"/>
            <a:ext cx="3771252" cy="411956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Let’s say that we wrote our essay exploring the quality of life in the detention centres.</a:t>
            </a:r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04A404-AF1E-4EC9-AF7D-46C68BFCE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874503-FE8B-408C-ABAF-2B72BAC2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57ED46-33D1-34CB-2EE5-BC0AF17B0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882788"/>
              </p:ext>
            </p:extLst>
          </p:nvPr>
        </p:nvGraphicFramePr>
        <p:xfrm>
          <a:off x="5399773" y="712269"/>
          <a:ext cx="6258829" cy="5438274"/>
        </p:xfrm>
        <a:graphic>
          <a:graphicData uri="http://schemas.openxmlformats.org/drawingml/2006/table">
            <a:tbl>
              <a:tblPr firstRow="1" firstCol="1" bandRow="1"/>
              <a:tblGrid>
                <a:gridCol w="1586109">
                  <a:extLst>
                    <a:ext uri="{9D8B030D-6E8A-4147-A177-3AD203B41FA5}">
                      <a16:colId xmlns:a16="http://schemas.microsoft.com/office/drawing/2014/main" val="2414333081"/>
                    </a:ext>
                  </a:extLst>
                </a:gridCol>
                <a:gridCol w="4672720">
                  <a:extLst>
                    <a:ext uri="{9D8B030D-6E8A-4147-A177-3AD203B41FA5}">
                      <a16:colId xmlns:a16="http://schemas.microsoft.com/office/drawing/2014/main" val="2052410160"/>
                    </a:ext>
                  </a:extLst>
                </a:gridCol>
              </a:tblGrid>
              <a:tr h="1444393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What does this teach us about our world?</a:t>
                      </a:r>
                      <a:endParaRPr lang="en-A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1600" b="0" i="1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The Bone Sparrow </a:t>
                      </a:r>
                      <a:r>
                        <a:rPr lang="en-AU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depicts the way that Australia treats those – who no fault of their own – have fled their home countries to escape hunger, poverty and violence.</a:t>
                      </a:r>
                      <a:endParaRPr lang="en-AU" sz="1600" b="0" i="1" u="none" strike="noStrike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275403"/>
                  </a:ext>
                </a:extLst>
              </a:tr>
              <a:tr h="1444393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18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How can we apply this to our own lives?</a:t>
                      </a:r>
                      <a:endParaRPr lang="en-AU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1600" b="0" i="1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The Bone Sparrow</a:t>
                      </a:r>
                      <a:r>
                        <a:rPr lang="en-AU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 reminds that audience that people in detention – including children – are people. It’s up to us to remind the government that we have a responsibility to meet their human rights and treat them with compassion.</a:t>
                      </a:r>
                      <a:endParaRPr lang="en-AU" sz="1600" b="0" i="1" u="none" strike="noStrike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892348"/>
                  </a:ext>
                </a:extLst>
              </a:tr>
              <a:tr h="1444393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18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How does this relate to other texts?</a:t>
                      </a:r>
                      <a:endParaRPr lang="en-AU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Together with </a:t>
                      </a:r>
                      <a:r>
                        <a:rPr lang="en-AU" sz="1600" b="0" i="1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The Arrival, The Happiest Refugee</a:t>
                      </a:r>
                      <a:r>
                        <a:rPr lang="en-AU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 and </a:t>
                      </a:r>
                      <a:r>
                        <a:rPr lang="en-AU" sz="1600" b="0" i="1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The Boat</a:t>
                      </a:r>
                      <a:r>
                        <a:rPr lang="en-AU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AU" sz="1600" b="0" i="1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The Bone Sparrow </a:t>
                      </a:r>
                      <a:r>
                        <a:rPr lang="en-AU" sz="16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</a:rPr>
                        <a:t>adds its voice to those stories that help us to understand the plight of those fleeing their countries to escape human rights abuses, only to be met with more.</a:t>
                      </a:r>
                      <a:endParaRPr lang="en-AU" sz="1600" b="0" i="1" u="none" strike="noStrike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728180"/>
                  </a:ext>
                </a:extLst>
              </a:tr>
              <a:tr h="1105095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AU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Evoke a warning or an image</a:t>
                      </a:r>
                      <a:endParaRPr lang="en-A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AU" sz="1600" b="0" i="0" u="none" strike="noStrike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075" marR="102075" marT="141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976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177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105210-61FE-4E9D-9076-A5618FDA8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14013-F906-D9BF-6A68-B10950CF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33400"/>
            <a:ext cx="7288730" cy="1683487"/>
          </a:xfrm>
        </p:spPr>
        <p:txBody>
          <a:bodyPr>
            <a:normAutofit/>
          </a:bodyPr>
          <a:lstStyle/>
          <a:p>
            <a:r>
              <a:rPr lang="en-AU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D3F5-65AE-3CB6-4FDE-B9DE566C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216886"/>
            <a:ext cx="7826339" cy="381709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Just like in our introductions, type up your sentences to form your conclusion.</a:t>
            </a:r>
          </a:p>
          <a:p>
            <a:pPr marL="534988">
              <a:lnSpc>
                <a:spcPct val="90000"/>
              </a:lnSpc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Make sure that there are no words or phrases that have been repeated.</a:t>
            </a:r>
          </a:p>
          <a:p>
            <a:pPr marL="534988">
              <a:lnSpc>
                <a:spcPct val="90000"/>
              </a:lnSpc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Remember to italicise the title Future Girl.</a:t>
            </a:r>
          </a:p>
          <a:p>
            <a:pPr marL="534988">
              <a:lnSpc>
                <a:spcPct val="90000"/>
              </a:lnSpc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Make sure you have used capital letters for titles, names, and at the beginning of each sentence.</a:t>
            </a:r>
          </a:p>
          <a:p>
            <a:pPr marL="534988">
              <a:lnSpc>
                <a:spcPct val="90000"/>
              </a:lnSpc>
              <a:buSzPct val="100000"/>
            </a:pP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End with a full stop.</a:t>
            </a:r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1DF613-CD5C-4D37-9F6C-843AFBBB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197929"/>
            <a:ext cx="2875207" cy="166007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B56F5D-A737-4E56-BCDD-0F992B89C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6033977"/>
            <a:ext cx="7151914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hite letters illustrated in 3D">
            <a:extLst>
              <a:ext uri="{FF2B5EF4-FFF2-40B4-BE49-F238E27FC236}">
                <a16:creationId xmlns:a16="http://schemas.microsoft.com/office/drawing/2014/main" id="{9AAF4A77-B2E3-C7A3-23E5-54498B61A7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078" r="18302" b="-1"/>
          <a:stretch/>
        </p:blipFill>
        <p:spPr>
          <a:xfrm>
            <a:off x="9227507" y="-1"/>
            <a:ext cx="422821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57830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Blue">
      <a:dk1>
        <a:srgbClr val="000000"/>
      </a:dk1>
      <a:lt1>
        <a:srgbClr val="FFFFFF"/>
      </a:lt1>
      <a:dk2>
        <a:srgbClr val="153A63"/>
      </a:dk2>
      <a:lt2>
        <a:srgbClr val="DBEFF9"/>
      </a:lt2>
      <a:accent1>
        <a:srgbClr val="0F6FC6"/>
      </a:accent1>
      <a:accent2>
        <a:srgbClr val="009DD9"/>
      </a:accent2>
      <a:accent3>
        <a:srgbClr val="09B8C0"/>
      </a:accent3>
      <a:accent4>
        <a:srgbClr val="0EBC8C"/>
      </a:accent4>
      <a:accent5>
        <a:srgbClr val="71B959"/>
      </a:accent5>
      <a:accent6>
        <a:srgbClr val="96B042"/>
      </a:accent6>
      <a:hlink>
        <a:srgbClr val="C37400"/>
      </a:hlink>
      <a:folHlink>
        <a:srgbClr val="4F9085"/>
      </a:folHlink>
    </a:clrScheme>
    <a:fontScheme name="Walbaum Light Univers Light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d478b7e1154088bc65e0d45f8e7f5474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1007a34a083ca396768dbab7932fda31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10C48D3E-256A-4B19-A50C-23E8C28D8198}"/>
</file>

<file path=customXml/itemProps2.xml><?xml version="1.0" encoding="utf-8"?>
<ds:datastoreItem xmlns:ds="http://schemas.openxmlformats.org/officeDocument/2006/customXml" ds:itemID="{4E683506-E0F6-4CED-AB77-91A3BF9897CC}"/>
</file>

<file path=customXml/itemProps3.xml><?xml version="1.0" encoding="utf-8"?>
<ds:datastoreItem xmlns:ds="http://schemas.openxmlformats.org/officeDocument/2006/customXml" ds:itemID="{150BC816-38E8-4990-9BE6-F3EAA1FCAF87}"/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1615</TotalTime>
  <Words>1147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Meiryo</vt:lpstr>
      <vt:lpstr>Arial</vt:lpstr>
      <vt:lpstr>Calibri</vt:lpstr>
      <vt:lpstr>AngleLinesVTI</vt:lpstr>
      <vt:lpstr>Writing the Conclusion </vt:lpstr>
      <vt:lpstr>Learning outcomes</vt:lpstr>
      <vt:lpstr>Conclusions</vt:lpstr>
      <vt:lpstr>Purposes</vt:lpstr>
      <vt:lpstr>Dos and Don’ts</vt:lpstr>
      <vt:lpstr>A note on the last point:</vt:lpstr>
      <vt:lpstr>A step-by-step guide</vt:lpstr>
      <vt:lpstr>Sentence 1</vt:lpstr>
      <vt:lpstr>Sentence 1 – respond to the prompt</vt:lpstr>
      <vt:lpstr>Sentence 1 – respond to the prompt</vt:lpstr>
      <vt:lpstr>Sentence 2 – restate your claims</vt:lpstr>
      <vt:lpstr>Sentence 2 (and maybe 3)</vt:lpstr>
      <vt:lpstr>Sentence 2 (and maybe 3)</vt:lpstr>
      <vt:lpstr>Sentence 2 (and maybe 3)</vt:lpstr>
      <vt:lpstr>Sentence 2 (and maybe 3)</vt:lpstr>
      <vt:lpstr>Last Sentence – look beyond the text</vt:lpstr>
      <vt:lpstr>Last Sentence(s)</vt:lpstr>
      <vt:lpstr>Putting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the Conclusion </dc:title>
  <dc:subject/>
  <dc:creator/>
  <cp:lastModifiedBy/>
  <cp:revision>5</cp:revision>
  <dcterms:created xsi:type="dcterms:W3CDTF">2023-07-10T23:34:14Z</dcterms:created>
  <dcterms:modified xsi:type="dcterms:W3CDTF">2025-11-05T22:37:50Z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