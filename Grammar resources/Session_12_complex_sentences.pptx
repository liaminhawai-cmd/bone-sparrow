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581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Concession sentences show the writer has considered the opposition — this actually strengthens an argument. The formula: acknowledge the other side + "although / while / even though" + your own position. The main clause always carries the writer's point.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Find the pivot
Show a concession sentence. Students identify: (a) the concession; (b) the writer's position.
  "Although some argue that social media connects young people, the evidence suggests it more often isolates them."
  Concession: "some argue that social media connects young people"
  Writer's position: "the evidence suggests it more often isolates them"
Choral completion:
  "In a concession sentence, the main clause carries ___." → [the writer's position / argument]
  "Acknowledging the opposition makes an argument ___." → [stronger / more credible]
Turn and talk: "Why does a concession make an argument stronger?"
Expected: it shows the writer has thought about the other side; it pre-empts the reader's objections.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Verb: suggests  |  Who? the evidence
   Text: Although some argue that social media connects young people, the evidence suggests it more often isolates them.   → Opposition → writer's position
2. Verb: is  |  Who? it
   Text: While the ban may seem extreme, it is a necessary response to a serious problem.   → Concession → strong claim
3. Verb: must be balanced  |  Who? those rights
   Text: Even though teenagers have rights, those rights must be balanced against their wellbeing.   → Acknowledge → writer's position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558BE-E666-B78B-023F-55D9B3406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6B7A9-7AC1-62AD-8D35-157FF61B8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67099-C2EA-033C-4E7B-EB0552540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— TEACHER NOTES
1. Verb: suggests  |  Who? the evidence
   Text: Although some argue that social media connects young people, the evidence suggests it more often isolates them.   → Opposition → writer's position
2. Verb: is  |  Who? it
   Text: While the ban may seem extreme, it is a necessary response to a serious problem.   → Concession → strong claim
3. Verb: must be balanced  |  Who? those rights
   Text: Even though teenagers have rights, those rights must be balanced against their wellbeing.   → Acknowledge → writer's position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2E465-9041-821D-784A-19D486ABE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29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1 — Declarative  (complex concession sentence)
2. 2 — Imperative  (verb-first: Consider)
3. 3 — Interrogative  (concession + rhetorical question)
4. 4 — Exclamative
──
Sentence 3 is a great discussion item: it's both a concession ("While the policy has merit") and a rhetorical question.
Ask: "What does the rhetorical question imply?" → [It doesn't go far enough.]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Persuasive writing: argument and interrogative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12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sentences for concession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concession clauses and understand how acknowledging the opposition can strengthen rather than weaken an argument.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05 — Writing a persuasive 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F7730C-EDD6-8625-9C81-A586AA10B685}"/>
              </a:ext>
            </a:extLst>
          </p:cNvPr>
          <p:cNvSpPr txBox="1"/>
          <p:nvPr/>
        </p:nvSpPr>
        <p:spPr>
          <a:xfrm>
            <a:off x="0" y="5372100"/>
            <a:ext cx="9144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Concession sentences show the writer has considered the opposition — this actually strengthens an argument. The formula: acknowledge the other side + "although / while / even though" + your own position. The main clause always carries the writer's point.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A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concession sentence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acknowledges the opposing view — then pushes back.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Conjunctions: 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 ·  while  ·  even though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</a:t>
            </a: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"Although the ban may seem extreme, it is a necessary response."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The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clause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(after the conjunction + opposition) carries YOUR argument.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  Acknowledging the opposition makes you sound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credible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not weaker.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52C4F-A1F8-59B0-C212-F82B93DBCB6E}"/>
              </a:ext>
            </a:extLst>
          </p:cNvPr>
          <p:cNvSpPr txBox="1"/>
          <p:nvPr/>
        </p:nvSpPr>
        <p:spPr>
          <a:xfrm>
            <a:off x="0" y="5372100"/>
            <a:ext cx="9144000" cy="226215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Find the pivot
Show a concession sentence. Students identify: (a) the concession; (b) the writer's position.
  "Although some argue that social media connects young people, the evidence suggests it more often isolates them."
  Concession: "some argue that social media connects young people"
  Writer's position: "the evidence suggests it more often isolates them"
Choral completion:
  "In a concession sentence, the main clause carries ___." → [the writer's position / argument]
  "Acknowledging the opposition makes an argument ___." → [stronger / more credible]
Turn and talk: "Why does a concession make an argument stronger?"
Expected: it shows the writer has thought about the other side; it pre-empts the reader's objections.</a:t>
            </a:r>
          </a:p>
        </p:txBody>
      </p:sp>
      <p:pic>
        <p:nvPicPr>
          <p:cNvPr id="8" name="Picture 7" descr="R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3452" y="207941"/>
            <a:ext cx="726016" cy="7260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clause acknowledges the opposition? Which contains the writer's own argument?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some argue that social media connects young people, the evidence suggests it more often isolates them.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the ban may seem extreme, it is a necessary response to a serious problem.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though teenagers have rights, those rights must be balanced against their wellbeing.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F60C66-41BA-ED93-229B-FAFC5E0F27D3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12" name="Picture 11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13" name="Picture 12" descr="Stop_and_j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1700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</a:t>
            </a:r>
            <a:r>
              <a:rPr lang="en-US" sz="1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some argue that social media connects young people, </a:t>
            </a:r>
            <a:r>
              <a:rPr lang="en-US" sz="1700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</a:t>
            </a:r>
            <a:r>
              <a:rPr lang="en-US" sz="1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</a:t>
            </a:r>
            <a:r>
              <a:rPr lang="en-US" sz="1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it more often isolates them.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Opposition → writer's position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3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the evidence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Conjunction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5D4F87-3202-222C-5AAB-187E65E243C0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suggests  |  Who? the evidence
   Text: Although some argue that social media connects young people, the evidence suggests it more often isolates them.   → Opposition → writer's position
2. Verb: is  |  Who? it
   Text: While the ban may seem extreme, it is a necessary response to a serious problem.   → Concession → strong claim
3. Verb: must be balanced  |  Who? those rights
   Text: Even though teenagers have rights, those rights must be balanced against their wellbeing.   → Acknowledge → writer's position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11" name="Picture 10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12" name="Picture 11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50039-15A5-73BB-0A9C-6FF0DBC39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3DF75E2-0EB3-8A57-72F6-F226BAFCE6E4}"/>
              </a:ext>
            </a:extLst>
          </p:cNvPr>
          <p:cNvSpPr/>
          <p:nvPr/>
        </p:nvSpPr>
        <p:spPr>
          <a:xfrm>
            <a:off x="457200" y="1371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and model</a:t>
            </a:r>
            <a:endParaRPr lang="en-US" sz="2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217338-DEBE-6FC1-E22A-E6CC325096B4}"/>
              </a:ext>
            </a:extLst>
          </p:cNvPr>
          <p:cNvSpPr/>
          <p:nvPr/>
        </p:nvSpPr>
        <p:spPr>
          <a:xfrm>
            <a:off x="457200" y="54864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1700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</a:t>
            </a:r>
            <a:r>
              <a:rPr lang="en-US" sz="1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ban may seem extreme, </a:t>
            </a:r>
            <a:r>
              <a:rPr lang="en-US" sz="17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r>
              <a:rPr lang="en-US" sz="1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7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</a:t>
            </a:r>
            <a:r>
              <a:rPr lang="en-US" sz="17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necessary response to a serious problem.</a:t>
            </a: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Concession → strong claim</a:t>
            </a:r>
            <a:endParaRPr lang="en-US" sz="1700" dirty="0"/>
          </a:p>
          <a:p>
            <a:pPr marL="0" indent="0">
              <a:buNone/>
            </a:pPr>
            <a:endParaRPr lang="en-US" sz="17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FCED20C-BCAC-8360-E4F3-8922921A0862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</a:t>
            </a:r>
            <a:r>
              <a:rPr lang="en-US" sz="11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1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1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Conjunction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AEA8612-1846-739D-EA82-9AF4ADF2F224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0D1813-BB77-4C07-EDCD-9E99595E6135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suggests  |  Who? the evidence
   Text: Although some argue that social media connects young people, the evidence suggests it more often isolates them.   → Opposition → writer's position
2. Verb: is  |  Who? it
   Text: While the ban may seem extreme, it is a necessary response to a serious problem.   → Concession → strong claim
3. Verb: must be balanced  |  Who? those rights
   Text: Even though teenagers have rights, those rights must be balanced against their wellbeing.   → Acknowledge → writer's position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pic>
        <p:nvPicPr>
          <p:cNvPr id="11" name="Picture 10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8754" y="88560"/>
            <a:ext cx="766741" cy="766741"/>
          </a:xfrm>
          <a:prstGeom prst="rect">
            <a:avLst/>
          </a:prstGeom>
        </p:spPr>
      </p:pic>
      <p:pic>
        <p:nvPicPr>
          <p:cNvPr id="12" name="Picture 11" descr="Turn_and_t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41" y="128694"/>
            <a:ext cx="652008" cy="65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4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Declarative   ·   2 = Imperative   ·   3 = Interrogative   ·   4 = Exclamative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the ban has critics, the evidence strongly supports it.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both sides of the argument before you take a position.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 the policy has merit, does it go far enough?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an extraordinary concession for a politician to make!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S12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B297D-1681-3814-D5B9-DB0F8401BA5F}"/>
              </a:ext>
            </a:extLst>
          </p:cNvPr>
          <p:cNvSpPr txBox="1"/>
          <p:nvPr/>
        </p:nvSpPr>
        <p:spPr>
          <a:xfrm>
            <a:off x="0" y="5372100"/>
            <a:ext cx="9144000" cy="16158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1 — Declarative  (complex concession sentence)
2. 2 — Imperative  (verb-first: Consider)
3. 3 — Interrogative  (concession + rhetorical question)
4. 4 — Exclamative
──
Sentence 3 is a great discussion item: it's both a concession ("While the policy has merit") and a rhetorical question.
Ask: "What does the rhetorical question imply?" → [It doesn't go far enough.]</a:t>
            </a:r>
          </a:p>
        </p:txBody>
      </p:sp>
      <p:pic>
        <p:nvPicPr>
          <p:cNvPr id="13" name="Picture 12" descr="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0090" y="102404"/>
            <a:ext cx="733509" cy="733509"/>
          </a:xfrm>
          <a:prstGeom prst="rect">
            <a:avLst/>
          </a:prstGeom>
        </p:spPr>
      </p:pic>
      <p:pic>
        <p:nvPicPr>
          <p:cNvPr id="14" name="Picture 13" descr="Tw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5631" y="102404"/>
            <a:ext cx="733509" cy="7335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4BA3A6AA-65B2-4124-82FE-617EC4F8850C}"/>
</file>

<file path=customXml/itemProps2.xml><?xml version="1.0" encoding="utf-8"?>
<ds:datastoreItem xmlns:ds="http://schemas.openxmlformats.org/officeDocument/2006/customXml" ds:itemID="{7EA004EF-3230-4160-949F-499D4D99E3C4}"/>
</file>

<file path=customXml/itemProps3.xml><?xml version="1.0" encoding="utf-8"?>
<ds:datastoreItem xmlns:ds="http://schemas.openxmlformats.org/officeDocument/2006/customXml" ds:itemID="{95A25DD3-9C22-40C1-9AC0-AC1B07146AE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1878</Words>
  <Application>Microsoft Office PowerPoint</Application>
  <PresentationFormat>On-screen Show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2</cp:revision>
  <dcterms:created xsi:type="dcterms:W3CDTF">2026-08-14T04:38:46Z</dcterms:created>
  <dcterms:modified xsi:type="dcterms:W3CDTF">2026-09-15T01:29:34Z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