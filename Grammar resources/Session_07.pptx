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9944" autoAdjust="0"/>
  </p:normalViewPr>
  <p:slideViewPr>
    <p:cSldViewPr snapToGrid="0" snapToObjects="1">
      <p:cViewPr varScale="1">
        <p:scale>
          <a:sx n="84" d="100"/>
          <a:sy n="84" d="100"/>
        </p:scale>
        <p:origin x="13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652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A fragment is not always wrong — it depends on context. Ingredient lists use fragments deliberately because they are items, not instructions. Method steps must be complete imperative sentences. The skill is knowing when a fragment is a deliberate choice and when it is an error.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Thumbs up / thumbs down
Show a sentence; students vote: thumbs up = complete; thumbs down = fragment.
  "Bake for 20 minutes." → complete (up)
  "3 large eggs." → fragment (down)
  "Running very fast." → fragment — error (down)
  "Mix until smooth." → complete (up)
Choral completion:
  "A fragment is missing a ___." → [subject / verb / both]
  "In most writing, fragments are ___." → [errors]
  "But in an ingredient list, a fragment is ___." → [appropriate / deliberate]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minutes for all students to respond independently.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REVEAL — TEACHER NOTES
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Fragment — appropriate. A list item, not an instruction.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No verb / no subject in this sentence type.</a:t>
            </a:r>
          </a:p>
          <a:p>
            <a:pPr marL="0" indent="0">
              <a:buNone/>
            </a:pPr>
            <a:endParaRPr lang="en-US" sz="1200" i="1" dirty="0">
              <a:solidFill>
                <a:srgbClr val="88888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</a:rPr>
              <a:t>2. 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Complete sentence — an imperative clause.</a:t>
            </a:r>
            <a:endParaRPr lang="en-US" sz="1200" dirty="0"/>
          </a:p>
          <a:p>
            <a:r>
              <a:rPr lang="en-US" dirty="0"/>
              <a:t>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44304-5194-B6B5-7575-DEF44FBD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D9368-1494-D607-6615-F2D23DE8A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A4CFE-B0F5-150A-5332-80B7A69B2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107D9-59EF-7910-204B-3EF20D84F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41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2 — Imperative  (verb-first: Slice)
2. 3 — Interrogative
3. 1 — Declarative
4. 4 — Exclamative
──
Sentence 3 is a nice meta-moment: a declarative about fragments. Ask: "Is sentence 3 itself a complete sentence?" → Yes.
Ask: "What would make sentence 3 a fragment?" → e.g., remove the subject or verb.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— Procedural writing: imperative clauses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Fragments in ingredient lists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understand when sentence fragments are errors and when they are deliberate and appropriate choices.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03 — Writing a procedural 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S07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D1B7C-8922-1088-917F-61AD6C0A27D9}"/>
              </a:ext>
            </a:extLst>
          </p:cNvPr>
          <p:cNvSpPr txBox="1"/>
          <p:nvPr/>
        </p:nvSpPr>
        <p:spPr>
          <a:xfrm>
            <a:off x="0" y="5372100"/>
            <a:ext cx="9144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TEACHING POINT
A fragment is not always wrong — it depends on context. Ingredient lists use fragments deliberately because they are items, not instructions. Method steps must be complete imperative sentences. The skill is knowing when a fragment is a deliberate choice and when it is an error.
──
TIMING: 10 minutes total
Display + respond: 3–4 min  |  Reveal + model: 3–4 min  |  Teaching point discussion: 1–2 min  |  Exit task: 1–2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402914"/>
            <a:ext cx="8229600" cy="3397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sentence fragment is missing a </a:t>
            </a:r>
            <a:r>
              <a:rPr lang="en-US" sz="2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 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or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most writing, fragments are errors that should be avoided.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sometimes writers use them deliberately:  </a:t>
            </a:r>
          </a:p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lists  ·  headings  ·  captions  ·  tips</a:t>
            </a:r>
            <a:endParaRPr lang="en-US" sz="2200" dirty="0"/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2200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"200 g plain flour" — This is not wrong in a list of ingredients. </a:t>
            </a:r>
            <a:br>
              <a:rPr lang="en-US" sz="2200" i="1" dirty="0"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200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It is an item, not an instruction.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S07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34528-C24C-7535-A61C-F524EB18C10E}"/>
              </a:ext>
            </a:extLst>
          </p:cNvPr>
          <p:cNvSpPr txBox="1"/>
          <p:nvPr/>
        </p:nvSpPr>
        <p:spPr>
          <a:xfrm>
            <a:off x="0" y="5372100"/>
            <a:ext cx="9144000" cy="21005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Thumbs up / thumbs down
Show a sentence; students vote: thumbs up = complete; thumbs down = fragment.
  "Bake for 20 minutes." → complete (up)
  "3 large eggs." → fragment (down)
  "Running very fast." → fragment — error (down)
  "Mix until smooth." → complete (up)
Choral completion:
  "A fragment is missing a ___." → [subject / verb / both]
  "In most writing, fragments are ___." → [errors]
  "But in an ingredient list, a fragment is ___." → [appropriate / deliberate]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10270F7-F5C0-8080-05BA-8EE199AF33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0868" y="142875"/>
            <a:ext cx="746125" cy="74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and talk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3359" y="8650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a complete sentence or fragment? Is the fragment appropriate here?</a:t>
            </a:r>
            <a:endParaRPr lang="en-US" sz="1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48740"/>
            <a:ext cx="8229600" cy="3387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tablespoons (145 g) unsalted butter   </a:t>
            </a:r>
            <a:b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“You Will Need” section</a:t>
            </a: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an oven rack in the middle of the oven.</a:t>
            </a:r>
            <a:b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“Method” section</a:t>
            </a:r>
            <a:endParaRPr lang="en-US" sz="1600" i="1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Discusses the lack of hope for refugees in detention.   </a:t>
            </a:r>
            <a:b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an essay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down the stairs as fast as she could. </a:t>
            </a:r>
            <a:b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student narrative.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S07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B9F5C0-693A-1861-4ABA-C68739B78CE2}"/>
              </a:ext>
            </a:extLst>
          </p:cNvPr>
          <p:cNvSpPr txBox="1"/>
          <p:nvPr/>
        </p:nvSpPr>
        <p:spPr>
          <a:xfrm>
            <a:off x="0" y="5372100"/>
            <a:ext cx="914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Allow 3–4 minutes for all students to respond independently. Circulate and observe — do not correct or prompt yet.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18CF03E-AFE0-F03C-7255-D25D9EAE7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7680" y="187158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141890"/>
            <a:ext cx="8229600" cy="2671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tablespoons (145 g) unsalted butter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 oven rack in the middle of the oven.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S07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BB60D1-4BB8-BC44-DB84-3F7D87C80239}"/>
              </a:ext>
            </a:extLst>
          </p:cNvPr>
          <p:cNvSpPr txBox="1"/>
          <p:nvPr/>
        </p:nvSpPr>
        <p:spPr>
          <a:xfrm>
            <a:off x="0" y="5372100"/>
            <a:ext cx="9144000" cy="29084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—  |  Who? —
   Text: 10 tablespoons (145 g) unsalted butter   → Fragment — appropriate. A list item, not an instruction.
2. Verb: Position  |  Who? you — implied
   Text: Position an oven rack in the middle of the oven.   → Complete sentence — an imperative clause.
3. Verb: —  |  Who? —
   Text: Easy to make and far better than the supermarket version.   → Fragment — deliberate choice. Works as an introduction.
4. Verb: —  |  Who? Missing — error
   Text: Running down the stairs as fast as she could.   → Fragment — an error. Who is running? It needs a subject.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823B9-4C2A-F8A4-40E3-D2EA0B9446F7}"/>
              </a:ext>
            </a:extLst>
          </p:cNvPr>
          <p:cNvSpPr txBox="1"/>
          <p:nvPr/>
        </p:nvSpPr>
        <p:spPr>
          <a:xfrm>
            <a:off x="850392" y="1899231"/>
            <a:ext cx="68580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verb in this sentence. It is a fragment.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This is fine for a list of ingredients.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  <a:p>
            <a:endParaRPr lang="en-US" sz="1400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It has a verb (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position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) and an implied subject (you).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It is an imperative.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8C36A92-AE49-4C52-C1D6-38DC8E5EB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DD4B27A-5254-A592-36C6-51B53B214B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E4D29-1555-81C7-ABBD-21494EE8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D52DFA-9B71-334F-8FDD-7AF1867AF6F2}"/>
              </a:ext>
            </a:extLst>
          </p:cNvPr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E0EA73-E9E1-8676-0DDA-BA7AFB145AA6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1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1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1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Conjunction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D9010A-A8CB-B930-E4F9-74243EDABBB3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S07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7A088-72B0-DC7B-402A-02DF45B12E8D}"/>
              </a:ext>
            </a:extLst>
          </p:cNvPr>
          <p:cNvSpPr txBox="1"/>
          <p:nvPr/>
        </p:nvSpPr>
        <p:spPr>
          <a:xfrm>
            <a:off x="0" y="5372100"/>
            <a:ext cx="9144000" cy="29084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—  |  Who? —
   Text: 10 tablespoons (145 g) unsalted butter   → Fragment — appropriate. A list item, not an instruction.
2. Verb: Position  |  Who? you — implied
   Text: Position an oven rack in the middle of the oven.   → Complete sentence — an imperative clause.
3. Verb: —  |  Who? —
   Text: Easy to make and far better than the supermarket version.   → Fragment — deliberate choice. Works as an introduction.
4. Verb: —  |  Who? Missing — error
   Text: Running down the stairs as fast as she could.   → Fragment — an error. Who is running? It needs a subject.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88A6FD9-4F7C-C4D9-1457-1A44CC468541}"/>
              </a:ext>
            </a:extLst>
          </p:cNvPr>
          <p:cNvSpPr/>
          <p:nvPr/>
        </p:nvSpPr>
        <p:spPr>
          <a:xfrm>
            <a:off x="457200" y="1319643"/>
            <a:ext cx="8229600" cy="2566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Discusses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lack of hope for refugees in detention.   </a:t>
            </a:r>
            <a:br>
              <a:rPr lang="en-US" sz="24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2400" i="1" dirty="0">
              <a:solidFill>
                <a:schemeClr val="bg1">
                  <a:lumMod val="50000"/>
                </a:schemeClr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endParaRPr lang="en-US" sz="2400" dirty="0"/>
          </a:p>
          <a:p>
            <a:endParaRPr lang="en-US" sz="2400" b="1" i="1" dirty="0">
              <a:solidFill>
                <a:schemeClr val="accent2">
                  <a:lumMod val="75000"/>
                </a:schemeClr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down the stairs as fast as she could.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1BECDE-D518-C653-B667-016B2284F0DA}"/>
              </a:ext>
            </a:extLst>
          </p:cNvPr>
          <p:cNvSpPr txBox="1"/>
          <p:nvPr/>
        </p:nvSpPr>
        <p:spPr>
          <a:xfrm>
            <a:off x="850391" y="2044511"/>
            <a:ext cx="8110729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has a present tense verb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but no </a:t>
            </a:r>
            <a:r>
              <a:rPr lang="en-US" sz="20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It is a fragment.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In an essay, this is an error.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  <a:p>
            <a:endParaRPr lang="en-US" sz="1400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It has a perfect present tense verb (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Running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) but no </a:t>
            </a:r>
            <a:r>
              <a:rPr lang="en-US" sz="2000" dirty="0">
                <a:solidFill>
                  <a:schemeClr val="accent1"/>
                </a:solidFill>
                <a:latin typeface="Aptos" pitchFamily="34" charset="0"/>
              </a:rPr>
              <a:t>subject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.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In a narrative, a fragment is an error.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FB98C5-B550-11BC-A858-F3CAF41A74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7F1AC3A-4A3E-DB83-D515-AFAA7723FA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0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287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Declarative   ·   2 = Imperative   ·   3 = Interrogative   ·   4 = Exclamative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63624"/>
            <a:ext cx="82296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 the bread into even pieces.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 you ever wondered why some fragments are acceptable?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Ingredient lists are typically written as deliberate fragments.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odd discovery that was!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with your fingers — scan the room before revealing.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S07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3EF364-2262-834D-C2AA-D45EBBF5D460}"/>
              </a:ext>
            </a:extLst>
          </p:cNvPr>
          <p:cNvSpPr txBox="1"/>
          <p:nvPr/>
        </p:nvSpPr>
        <p:spPr>
          <a:xfrm>
            <a:off x="0" y="5372100"/>
            <a:ext cx="9144000" cy="17774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EXIT TASK — ANSWERS
1. 2 — Imperative  (verb-first: Slice)
2. 3 — Interrogative
3. 1 — Declarative
4. 4 — Exclamative
──
Sentence 3 is a nice meta-moment: a declarative about fragments. Ask: "Is sentence 3 itself a complete sentence?" → Yes.
Ask: "What would make sentence 3 a fragment?" → e.g., remove the subject or verb.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94FD54-7A95-6348-7A77-65AB23D413F5}"/>
              </a:ext>
            </a:extLst>
          </p:cNvPr>
          <p:cNvGrpSpPr/>
          <p:nvPr/>
        </p:nvGrpSpPr>
        <p:grpSpPr>
          <a:xfrm>
            <a:off x="5744633" y="137160"/>
            <a:ext cx="2652183" cy="609600"/>
            <a:chOff x="5744633" y="137160"/>
            <a:chExt cx="2652183" cy="6096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AEDC2A4-C8E8-9305-14B2-6E0B6737EC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87216" y="137160"/>
              <a:ext cx="609600" cy="609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36BC4E-A78D-1886-2A87-1B64ADBD5B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4633" y="137160"/>
              <a:ext cx="609600" cy="6096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6FED845-F247-71AE-2B2D-F3FB4E94A6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0433" y="137160"/>
              <a:ext cx="609600" cy="6096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CA033A-8F30-0ED1-0BCD-61804B597E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6233" y="137160"/>
              <a:ext cx="600075" cy="600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S grammar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A0101"/>
      </a:accent1>
      <a:accent2>
        <a:srgbClr val="0DC3A5"/>
      </a:accent2>
      <a:accent3>
        <a:srgbClr val="0072B2"/>
      </a:accent3>
      <a:accent4>
        <a:srgbClr val="0F9ED5"/>
      </a:accent4>
      <a:accent5>
        <a:srgbClr val="8C072D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284D723C-EF75-4E50-B18F-A8F55051471C}"/>
</file>

<file path=customXml/itemProps2.xml><?xml version="1.0" encoding="utf-8"?>
<ds:datastoreItem xmlns:ds="http://schemas.openxmlformats.org/officeDocument/2006/customXml" ds:itemID="{0FDC1617-E4EF-4292-AD3F-7C1CDE911096}"/>
</file>

<file path=customXml/itemProps3.xml><?xml version="1.0" encoding="utf-8"?>
<ds:datastoreItem xmlns:ds="http://schemas.openxmlformats.org/officeDocument/2006/customXml" ds:itemID="{99234577-C44C-403B-8AA7-BA8DC86B658A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1770</Words>
  <Application>Microsoft Office PowerPoint</Application>
  <PresentationFormat>On-screen Show (16:9)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4</cp:revision>
  <dcterms:created xsi:type="dcterms:W3CDTF">2026-08-14T04:38:46Z</dcterms:created>
  <dcterms:modified xsi:type="dcterms:W3CDTF">2026-10-05T05:40:45Z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