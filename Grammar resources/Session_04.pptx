
<file path=[Content_Types].xml><?xml version="1.0" encoding="utf-8"?>
<Types xmlns="http://schemas.openxmlformats.org/package/2006/content-types">
  <Default Extension="rels" ContentType="application/vnd.openxmlformats-package.relationships+xml"/>
  <Default Extension="svg" ContentType="image/svg+xml"/>
  <Default Extension="xml" ContentType="application/xml"/>
  <Override PartName="/ppt/presentation.xml" ContentType="application/vnd.openxmlformats-officedocument.presentationml.presentation.main+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Masters/slideMaster1.xml" ContentType="application/vnd.openxmlformats-officedocument.presentationml.slideMaster+xml"/>
  <Override PartName="/ppt/slideLayouts/slideLayout1.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Masters/notesMaster1.xml" ContentType="application/vnd.openxmlformats-officedocument.presentationml.notesMaster+xml"/>
  <Override PartName="/ppt/theme/theme1.xml" ContentType="application/vnd.openxmlformats-officedocument.theme+xml"/>
  <Override PartName="/ppt/theme/theme2.xml" ContentType="application/vnd.openxmlformats-officedocument.theme+xml"/>
  <Override PartName="/ppt/presProps.xml" ContentType="application/vnd.openxmlformats-officedocument.presentationml.presProps+xml"/>
  <Override PartName="/ppt/viewProps.xml" ContentType="application/vnd.openxmlformats-officedocument.presentationml.viewProps+xml"/>
  <Override PartName="/ppt/tableStyles.xml" ContentType="application/vnd.openxmlformats-officedocument.presentationml.tableStyles+xml"/>
  <Override PartName="/docProps/app.xml" ContentType="application/vnd.openxmlformats-officedocument.extended-properties+xml"/>
  <Override PartName="/docProps/core.xml" ContentType="application/vnd.openxmlformats-package.core-properties+xml"/>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 Id="rId4"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notesMasterIdLst>
    <p:notesMasterId r:id="rId7"/>
  </p:notesMasterIdLst>
  <p:sldIdLst>
    <p:sldId id="256" r:id="rId2"/>
    <p:sldId id="257" r:id="rId3"/>
    <p:sldId id="258" r:id="rId4"/>
    <p:sldId id="259" r:id="rId5"/>
    <p:sldId id="260" r:id="rId6"/>
  </p:sldIdLst>
  <p:sldSz cx="9144000" cy="5143500" type="screen16x9"/>
  <p:notesSz cx="5143500" cy="9144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5611"/>
    <p:restoredTop sz="68701" autoAdjust="0"/>
  </p:normalViewPr>
  <p:slideViewPr>
    <p:cSldViewPr snapToGrid="0" snapToObjects="1">
      <p:cViewPr varScale="1">
        <p:scale>
          <a:sx n="82" d="100"/>
          <a:sy n="82" d="100"/>
        </p:scale>
        <p:origin x="1402" y="6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presProps" Target="presProps.xml"/><Relationship Id="rId13" Type="http://schemas.openxmlformats.org/officeDocument/2006/relationships/customXml" Target="../customXml/item2.xml"/><Relationship Id="rId3" Type="http://schemas.openxmlformats.org/officeDocument/2006/relationships/slide" Target="slides/slide2.xml"/><Relationship Id="rId7" Type="http://schemas.openxmlformats.org/officeDocument/2006/relationships/notesMaster" Target="notesMasters/notesMaster1.xml"/><Relationship Id="rId12" Type="http://schemas.openxmlformats.org/officeDocument/2006/relationships/customXml" Target="../customXml/item1.xml"/><Relationship Id="rId2" Type="http://schemas.openxmlformats.org/officeDocument/2006/relationships/slide" Target="slides/slide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tableStyles" Target="tableStyles.xml"/><Relationship Id="rId5" Type="http://schemas.openxmlformats.org/officeDocument/2006/relationships/slide" Target="slides/slide4.xml"/><Relationship Id="rId10" Type="http://schemas.openxmlformats.org/officeDocument/2006/relationships/theme" Target="theme/theme1.xml"/><Relationship Id="rId4" Type="http://schemas.openxmlformats.org/officeDocument/2006/relationships/slide" Target="slides/slide3.xml"/><Relationship Id="rId9" Type="http://schemas.openxmlformats.org/officeDocument/2006/relationships/viewProps" Target="viewProps.xml"/><Relationship Id="rId14" Type="http://schemas.openxmlformats.org/officeDocument/2006/relationships/customXml" Target="../customXml/item3.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290368198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TEACHING POINT
The absence of a subject is what makes an imperative feel direct and efficient — it puts the reader immediately into the action. Adding "you" shifts the sentence from instruction to advice. In recipe writing, adding "you" would feel hesitant and strange. The implied subject is part of the purpose of the text type.
──
TIMING: 10 minutes total
Display + respond: 3–4 min  |  Reveal + model: 3–4 min  |  Teaching point discussion: 1–2 min  |  Exit task: 1–2 min</a:t>
            </a:r>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OTR SCRIPT — OPPORTUNITIES TO RESPOND
OTR — Choral completion
  "The implied subject of every imperative is ___." → [you]
  "Adding 'you should' makes the sentence sound like ___." → [advice / a suggestion / weaker]
Turn and talk (60 sec): "Read this: 'You should bake for 20 minutes.' Does it feel as confident as 'Bake for 20 minutes'? Why?"
Cold call to discuss. Expected: adding "you should" makes the writer sound unsure.
Quick vote: Thumbs up if adding "you" makes the sentence weaker; thumbs down if you think it's the same.</a:t>
            </a:r>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Allow 3–4 minutes for all students to respond independently. Circulate and observe — do not correct or prompt yet.</a:t>
            </a:r>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indent="0">
              <a:buNone/>
            </a:pPr>
            <a:r>
              <a:rPr lang="en-US" dirty="0"/>
              <a:t>REVEAL — TEACHER NOTES
1. </a:t>
            </a:r>
            <a:r>
              <a:rPr lang="en-US" sz="1200" i="1" dirty="0">
                <a:solidFill>
                  <a:srgbClr val="888888"/>
                </a:solidFill>
                <a:latin typeface="Aptos" pitchFamily="34" charset="0"/>
                <a:ea typeface="Aptos" pitchFamily="34" charset="-122"/>
                <a:cs typeface="Aptos" pitchFamily="34" charset="-120"/>
              </a:rPr>
              <a:t>Sounds like advice, not an instruction</a:t>
            </a:r>
            <a:endParaRPr lang="en-US" sz="1200" dirty="0"/>
          </a:p>
          <a:p>
            <a:pPr marL="0" indent="0">
              <a:buNone/>
            </a:pPr>
            <a:r>
              <a:rPr lang="en-US" sz="1200" i="1" dirty="0">
                <a:solidFill>
                  <a:srgbClr val="888888"/>
                </a:solidFill>
                <a:latin typeface="Aptos" pitchFamily="34" charset="0"/>
                <a:ea typeface="Aptos" pitchFamily="34" charset="-122"/>
                <a:cs typeface="Aptos" pitchFamily="34" charset="-120"/>
              </a:rPr>
              <a:t>      Verb: </a:t>
            </a:r>
            <a:r>
              <a:rPr lang="en-US" sz="1050" i="1" dirty="0">
                <a:solidFill>
                  <a:srgbClr val="0F6E4D"/>
                </a:solidFill>
                <a:latin typeface="Aptos" pitchFamily="34" charset="0"/>
                <a:ea typeface="Aptos" pitchFamily="34" charset="-122"/>
                <a:cs typeface="Aptos" pitchFamily="34" charset="-120"/>
              </a:rPr>
              <a:t>bake</a:t>
            </a:r>
            <a:r>
              <a:rPr lang="en-US" sz="1200" i="1" dirty="0">
                <a:solidFill>
                  <a:srgbClr val="888888"/>
                </a:solidFill>
                <a:latin typeface="Aptos" pitchFamily="34" charset="0"/>
                <a:ea typeface="Aptos" pitchFamily="34" charset="-122"/>
                <a:cs typeface="Aptos" pitchFamily="34" charset="-120"/>
              </a:rPr>
              <a:t>   ·   Who's doing this?  →  You (now explicit)</a:t>
            </a:r>
          </a:p>
          <a:p>
            <a:pPr marL="0" marR="0" lvl="0" indent="0" algn="l" defTabSz="914400" rtl="0" eaLnBrk="1" fontAlgn="auto" latinLnBrk="0" hangingPunct="1">
              <a:lnSpc>
                <a:spcPct val="100000"/>
              </a:lnSpc>
              <a:spcBef>
                <a:spcPts val="0"/>
              </a:spcBef>
              <a:spcAft>
                <a:spcPts val="0"/>
              </a:spcAft>
              <a:buClrTx/>
              <a:buSzTx/>
              <a:buFontTx/>
              <a:buNone/>
              <a:tabLst/>
              <a:defRPr/>
            </a:pPr>
            <a:r>
              <a:rPr lang="en-US" sz="1200" dirty="0"/>
              <a:t>2. </a:t>
            </a:r>
            <a:r>
              <a:rPr lang="en-US" sz="1200" i="1" dirty="0">
                <a:solidFill>
                  <a:srgbClr val="888888"/>
                </a:solidFill>
                <a:latin typeface="Aptos" pitchFamily="34" charset="0"/>
                <a:ea typeface="Aptos" pitchFamily="34" charset="-122"/>
                <a:cs typeface="Aptos" pitchFamily="34" charset="-120"/>
              </a:rPr>
              <a:t>"Need to" weakens the directness</a:t>
            </a:r>
            <a:br>
              <a:rPr lang="en-US" sz="1200" i="1" dirty="0">
                <a:solidFill>
                  <a:srgbClr val="888888"/>
                </a:solidFill>
                <a:latin typeface="Aptos" pitchFamily="34" charset="0"/>
                <a:ea typeface="Aptos" pitchFamily="34" charset="-122"/>
                <a:cs typeface="Aptos" pitchFamily="34" charset="-120"/>
              </a:rPr>
            </a:br>
            <a:r>
              <a:rPr lang="en-US" sz="1200" i="1" dirty="0">
                <a:solidFill>
                  <a:srgbClr val="888888"/>
                </a:solidFill>
                <a:latin typeface="Aptos" pitchFamily="34" charset="0"/>
                <a:ea typeface="Aptos" pitchFamily="34" charset="-122"/>
                <a:cs typeface="Aptos" pitchFamily="34" charset="-120"/>
              </a:rPr>
              <a:t>     Verb: </a:t>
            </a:r>
            <a:r>
              <a:rPr lang="en-US" sz="1050" i="1" dirty="0">
                <a:solidFill>
                  <a:srgbClr val="0F6E4D"/>
                </a:solidFill>
                <a:latin typeface="Aptos" pitchFamily="34" charset="0"/>
                <a:ea typeface="Aptos" pitchFamily="34" charset="-122"/>
                <a:cs typeface="Aptos" pitchFamily="34" charset="-120"/>
              </a:rPr>
              <a:t>stir</a:t>
            </a:r>
            <a:r>
              <a:rPr lang="en-US" sz="1200" i="1" dirty="0">
                <a:solidFill>
                  <a:srgbClr val="888888"/>
                </a:solidFill>
                <a:latin typeface="Aptos" pitchFamily="34" charset="0"/>
                <a:ea typeface="Aptos" pitchFamily="34" charset="-122"/>
                <a:cs typeface="Aptos" pitchFamily="34" charset="-120"/>
              </a:rPr>
              <a:t>   ·   Who's doing this?  →  You</a:t>
            </a:r>
          </a:p>
          <a:p>
            <a:pPr marL="0" indent="0">
              <a:buNone/>
            </a:pPr>
            <a:r>
              <a:rPr lang="en-US" sz="1200" dirty="0"/>
              <a:t>3. </a:t>
            </a:r>
            <a:r>
              <a:rPr lang="en-US" sz="1200" i="1" dirty="0">
                <a:solidFill>
                  <a:srgbClr val="888888"/>
                </a:solidFill>
                <a:latin typeface="Aptos" pitchFamily="34" charset="0"/>
                <a:ea typeface="Aptos" pitchFamily="34" charset="-122"/>
                <a:cs typeface="Aptos" pitchFamily="34" charset="-120"/>
              </a:rPr>
              <a:t>Compare: just "Cut into 16 squares." is stronger</a:t>
            </a:r>
            <a:endParaRPr lang="en-US" sz="1200" dirty="0"/>
          </a:p>
          <a:p>
            <a:pPr marL="0" indent="0">
              <a:buNone/>
            </a:pPr>
            <a:r>
              <a:rPr lang="en-US" sz="1200" i="1" dirty="0">
                <a:solidFill>
                  <a:srgbClr val="888888"/>
                </a:solidFill>
                <a:latin typeface="Aptos" pitchFamily="34" charset="0"/>
                <a:ea typeface="Aptos" pitchFamily="34" charset="-122"/>
                <a:cs typeface="Aptos" pitchFamily="34" charset="-120"/>
              </a:rPr>
              <a:t>      Verb: </a:t>
            </a:r>
            <a:r>
              <a:rPr lang="en-US" sz="1050" i="1" dirty="0">
                <a:solidFill>
                  <a:srgbClr val="0F6E4D"/>
                </a:solidFill>
                <a:latin typeface="Aptos" pitchFamily="34" charset="0"/>
                <a:ea typeface="Aptos" pitchFamily="34" charset="-122"/>
                <a:cs typeface="Aptos" pitchFamily="34" charset="-120"/>
              </a:rPr>
              <a:t>cut</a:t>
            </a:r>
            <a:r>
              <a:rPr lang="en-US" sz="1200" i="1" dirty="0">
                <a:solidFill>
                  <a:srgbClr val="888888"/>
                </a:solidFill>
                <a:latin typeface="Aptos" pitchFamily="34" charset="0"/>
                <a:ea typeface="Aptos" pitchFamily="34" charset="-122"/>
                <a:cs typeface="Aptos" pitchFamily="34" charset="-120"/>
              </a:rPr>
              <a:t>   ·   Who's doing this?  →  You</a:t>
            </a:r>
            <a:endParaRPr lang="en-US" sz="1200" dirty="0"/>
          </a:p>
          <a:p>
            <a:r>
              <a:rPr lang="en-US" dirty="0"/>
              <a:t>
──
For each sentence, after confirming the type:
  "What is the verb?" (point to colour coding)
  "Who is doing that?" (for declaratives/interrogatives)
  For imperatives: "Who is doing this? — It's implied: you, the reader."
If students disagree: "What would need to change to make it [other type]?"</a:t>
            </a:r>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EXIT TASK — ANSWERS
1. 2 — Imperative  (verb-first: Season)
2. 1 — Declarative  (stated subject: You)
3. 3 — Interrogative
4. 4 — Exclamative
──
Sentence 2 is interesting — it has "You" as stated subject. Ask: "What type is it now? Does it feel as direct as sentence 1?"
Expected: It's declarative. It feels like a lecture rather than an instruction.</a:t>
            </a:r>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2" Type="http://schemas.openxmlformats.org/officeDocument/2006/relationships/theme" Target="../theme/theme1.xml"/><Relationship Id="rId1" Type="http://schemas.openxmlformats.org/officeDocument/2006/relationships/slideLayout" Target="../slideLayouts/slideLayout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3" Type="http://schemas.openxmlformats.org/officeDocument/2006/relationships/image" Target="../media/image1.svg"/><Relationship Id="rId2" Type="http://schemas.openxmlformats.org/officeDocument/2006/relationships/notesSlide" Target="../notesSlides/notesSlide2.xml"/><Relationship Id="rId1" Type="http://schemas.openxmlformats.org/officeDocument/2006/relationships/slideLayout" Target="../slideLayouts/slideLayout1.xml"/></Relationships>
</file>

<file path=ppt/slides/_rels/slide3.xml.rels><?xml version="1.0" encoding="UTF-8" standalone="yes"?>
<Relationships xmlns="http://schemas.openxmlformats.org/package/2006/relationships"><Relationship Id="rId3" Type="http://schemas.openxmlformats.org/officeDocument/2006/relationships/image" Target="../media/image2.svg"/><Relationship Id="rId2" Type="http://schemas.openxmlformats.org/officeDocument/2006/relationships/notesSlide" Target="../notesSlides/notesSlide3.xml"/><Relationship Id="rId1" Type="http://schemas.openxmlformats.org/officeDocument/2006/relationships/slideLayout" Target="../slideLayouts/slideLayout1.xml"/></Relationships>
</file>

<file path=ppt/slides/_rels/slide4.xml.rels><?xml version="1.0" encoding="UTF-8" standalone="yes"?>
<Relationships xmlns="http://schemas.openxmlformats.org/package/2006/relationships"><Relationship Id="rId3" Type="http://schemas.openxmlformats.org/officeDocument/2006/relationships/image" Target="../media/image3.svg"/><Relationship Id="rId2" Type="http://schemas.openxmlformats.org/officeDocument/2006/relationships/notesSlide" Target="../notesSlides/notesSlide4.xml"/><Relationship Id="rId1" Type="http://schemas.openxmlformats.org/officeDocument/2006/relationships/slideLayout" Target="../slideLayouts/slideLayout1.xml"/><Relationship Id="rId4" Type="http://schemas.openxmlformats.org/officeDocument/2006/relationships/image" Target="../media/image4.svg"/></Relationships>
</file>

<file path=ppt/slides/_rels/slide5.xml.rels><?xml version="1.0" encoding="UTF-8" standalone="yes"?>
<Relationships xmlns="http://schemas.openxmlformats.org/package/2006/relationships"><Relationship Id="rId3" Type="http://schemas.openxmlformats.org/officeDocument/2006/relationships/image" Target="../media/image5.svg"/><Relationship Id="rId2" Type="http://schemas.openxmlformats.org/officeDocument/2006/relationships/notesSlide" Target="../notesSlides/notesSlide5.xml"/><Relationship Id="rId1" Type="http://schemas.openxmlformats.org/officeDocument/2006/relationships/slideLayout" Target="../slideLayouts/slideLayout1.xml"/><Relationship Id="rId6" Type="http://schemas.openxmlformats.org/officeDocument/2006/relationships/image" Target="../media/image8.svg"/><Relationship Id="rId5" Type="http://schemas.openxmlformats.org/officeDocument/2006/relationships/image" Target="../media/image7.svg"/><Relationship Id="rId4" Type="http://schemas.openxmlformats.org/officeDocument/2006/relationships/image" Target="../media/image6.svg"/></Relationships>
</file>

<file path=ppt/slides/slide1.xml><?xml version="1.0" encoding="utf-8"?>
<p:sld xmlns:a="http://schemas.openxmlformats.org/drawingml/2006/main" xmlns:r="http://schemas.openxmlformats.org/officeDocument/2006/relationships" xmlns:p="http://schemas.openxmlformats.org/presentationml/2006/main">
  <p:cSld name="Slide 1">
    <p:spTree>
      <p:nvGrpSpPr>
        <p:cNvPr id="1" name=""/>
        <p:cNvGrpSpPr/>
        <p:nvPr/>
      </p:nvGrpSpPr>
      <p:grpSpPr>
        <a:xfrm>
          <a:off x="0" y="0"/>
          <a:ext cx="0" cy="0"/>
          <a:chOff x="0" y="0"/>
          <a:chExt cx="0" cy="0"/>
        </a:xfrm>
      </p:grpSpPr>
      <p:sp>
        <p:nvSpPr>
          <p:cNvPr id="2" name="Shape 0"/>
          <p:cNvSpPr/>
          <p:nvPr/>
        </p:nvSpPr>
        <p:spPr>
          <a:xfrm>
            <a:off x="0" y="0"/>
            <a:ext cx="9144000" cy="5143500"/>
          </a:xfrm>
          <a:prstGeom prst="rect">
            <a:avLst/>
          </a:prstGeom>
          <a:solidFill>
            <a:srgbClr val="8C072D"/>
          </a:solidFill>
          <a:ln/>
        </p:spPr>
        <p:txBody>
          <a:bodyPr/>
          <a:lstStyle/>
          <a:p>
            <a:endParaRPr lang="en-AU"/>
          </a:p>
        </p:txBody>
      </p:sp>
      <p:sp>
        <p:nvSpPr>
          <p:cNvPr id="3" name="Text 1"/>
          <p:cNvSpPr/>
          <p:nvPr/>
        </p:nvSpPr>
        <p:spPr>
          <a:xfrm>
            <a:off x="457200" y="228600"/>
            <a:ext cx="8229600" cy="292608"/>
          </a:xfrm>
          <a:prstGeom prst="rect">
            <a:avLst/>
          </a:prstGeom>
          <a:noFill/>
          <a:ln/>
        </p:spPr>
        <p:txBody>
          <a:bodyPr wrap="square" rtlCol="0" anchor="ctr"/>
          <a:lstStyle/>
          <a:p>
            <a:pPr marL="0" indent="0">
              <a:buNone/>
            </a:pPr>
            <a:r>
              <a:rPr lang="en-US" sz="1400" i="1" dirty="0">
                <a:solidFill>
                  <a:srgbClr val="FFD0D0"/>
                </a:solidFill>
                <a:latin typeface="Aptos" pitchFamily="34" charset="0"/>
                <a:ea typeface="Aptos" pitchFamily="34" charset="-122"/>
                <a:cs typeface="Aptos" pitchFamily="34" charset="-120"/>
              </a:rPr>
              <a:t>Phase 2 — Procedural writing: imperative clauses</a:t>
            </a:r>
            <a:endParaRPr lang="en-US" sz="1400" dirty="0"/>
          </a:p>
        </p:txBody>
      </p:sp>
      <p:sp>
        <p:nvSpPr>
          <p:cNvPr id="4" name="Text 2"/>
          <p:cNvSpPr/>
          <p:nvPr/>
        </p:nvSpPr>
        <p:spPr>
          <a:xfrm>
            <a:off x="457200" y="548640"/>
            <a:ext cx="8229600" cy="384048"/>
          </a:xfrm>
          <a:prstGeom prst="rect">
            <a:avLst/>
          </a:prstGeom>
          <a:noFill/>
          <a:ln/>
        </p:spPr>
        <p:txBody>
          <a:bodyPr wrap="square" rtlCol="0" anchor="ctr"/>
          <a:lstStyle/>
          <a:p>
            <a:pPr marL="0" indent="0">
              <a:buNone/>
            </a:pPr>
            <a:r>
              <a:rPr lang="en-US" sz="2000" b="1" dirty="0">
                <a:solidFill>
                  <a:srgbClr val="FFFFFF"/>
                </a:solidFill>
                <a:latin typeface="Aptos" pitchFamily="34" charset="0"/>
                <a:ea typeface="Aptos" pitchFamily="34" charset="-122"/>
                <a:cs typeface="Aptos" pitchFamily="34" charset="-120"/>
              </a:rPr>
              <a:t>Session 04</a:t>
            </a:r>
            <a:endParaRPr lang="en-US" sz="2000" dirty="0"/>
          </a:p>
        </p:txBody>
      </p:sp>
      <p:sp>
        <p:nvSpPr>
          <p:cNvPr id="5" name="Text 3"/>
          <p:cNvSpPr/>
          <p:nvPr/>
        </p:nvSpPr>
        <p:spPr>
          <a:xfrm>
            <a:off x="457200" y="1005840"/>
            <a:ext cx="8229600" cy="1554480"/>
          </a:xfrm>
          <a:prstGeom prst="rect">
            <a:avLst/>
          </a:prstGeom>
          <a:noFill/>
          <a:ln/>
        </p:spPr>
        <p:txBody>
          <a:bodyPr wrap="square" rtlCol="0" anchor="ctr"/>
          <a:lstStyle/>
          <a:p>
            <a:pPr marL="0" indent="0">
              <a:buNone/>
            </a:pPr>
            <a:r>
              <a:rPr lang="en-US" sz="4600" b="1" dirty="0">
                <a:solidFill>
                  <a:srgbClr val="FFFFFF"/>
                </a:solidFill>
                <a:latin typeface="Aptos" pitchFamily="34" charset="0"/>
                <a:ea typeface="Aptos" pitchFamily="34" charset="-122"/>
                <a:cs typeface="Aptos" pitchFamily="34" charset="-120"/>
              </a:rPr>
              <a:t>The implied subject</a:t>
            </a:r>
            <a:endParaRPr lang="en-US" sz="4600" dirty="0"/>
          </a:p>
        </p:txBody>
      </p:sp>
      <p:sp>
        <p:nvSpPr>
          <p:cNvPr id="6" name="Text 4"/>
          <p:cNvSpPr/>
          <p:nvPr/>
        </p:nvSpPr>
        <p:spPr>
          <a:xfrm>
            <a:off x="457200" y="2743200"/>
            <a:ext cx="8229600" cy="256032"/>
          </a:xfrm>
          <a:prstGeom prst="rect">
            <a:avLst/>
          </a:prstGeom>
          <a:noFill/>
          <a:ln/>
        </p:spPr>
        <p:txBody>
          <a:bodyPr wrap="square" rtlCol="0" anchor="ctr"/>
          <a:lstStyle/>
          <a:p>
            <a:pPr marL="0" indent="0">
              <a:buNone/>
            </a:pPr>
            <a:r>
              <a:rPr lang="en-US" sz="1300" dirty="0">
                <a:solidFill>
                  <a:srgbClr val="FFD0D0"/>
                </a:solidFill>
                <a:latin typeface="Aptos" pitchFamily="34" charset="0"/>
                <a:ea typeface="Aptos" pitchFamily="34" charset="-122"/>
                <a:cs typeface="Aptos" pitchFamily="34" charset="-120"/>
              </a:rPr>
              <a:t>Learning intention</a:t>
            </a:r>
            <a:endParaRPr lang="en-US" sz="1300" dirty="0"/>
          </a:p>
        </p:txBody>
      </p:sp>
      <p:sp>
        <p:nvSpPr>
          <p:cNvPr id="7" name="Text 5"/>
          <p:cNvSpPr/>
          <p:nvPr/>
        </p:nvSpPr>
        <p:spPr>
          <a:xfrm>
            <a:off x="457200" y="3017520"/>
            <a:ext cx="8229600" cy="1005840"/>
          </a:xfrm>
          <a:prstGeom prst="rect">
            <a:avLst/>
          </a:prstGeom>
          <a:noFill/>
          <a:ln/>
        </p:spPr>
        <p:txBody>
          <a:bodyPr wrap="square" rtlCol="0" anchor="t"/>
          <a:lstStyle/>
          <a:p>
            <a:pPr marL="0" indent="0">
              <a:buNone/>
            </a:pPr>
            <a:r>
              <a:rPr lang="en-US" sz="1900" dirty="0">
                <a:solidFill>
                  <a:srgbClr val="FFE8E8"/>
                </a:solidFill>
                <a:latin typeface="Aptos" pitchFamily="34" charset="0"/>
                <a:ea typeface="Aptos" pitchFamily="34" charset="-122"/>
                <a:cs typeface="Aptos" pitchFamily="34" charset="-120"/>
              </a:rPr>
              <a:t>To understand that the subject of an imperative clause is always "you" — implied, not written — and consider what happens when you add it back.</a:t>
            </a:r>
            <a:endParaRPr lang="en-US" sz="1900" dirty="0"/>
          </a:p>
        </p:txBody>
      </p:sp>
      <p:sp>
        <p:nvSpPr>
          <p:cNvPr id="8" name="Text 6"/>
          <p:cNvSpPr/>
          <p:nvPr/>
        </p:nvSpPr>
        <p:spPr>
          <a:xfrm>
            <a:off x="457200" y="4754880"/>
            <a:ext cx="7315200" cy="256032"/>
          </a:xfrm>
          <a:prstGeom prst="rect">
            <a:avLst/>
          </a:prstGeom>
          <a:noFill/>
          <a:ln/>
        </p:spPr>
        <p:txBody>
          <a:bodyPr wrap="square" rtlCol="0" anchor="ctr"/>
          <a:lstStyle/>
          <a:p>
            <a:pPr marL="0" indent="0">
              <a:buNone/>
            </a:pPr>
            <a:r>
              <a:rPr lang="en-US" sz="1200" i="1" dirty="0">
                <a:solidFill>
                  <a:srgbClr val="FF9090"/>
                </a:solidFill>
                <a:latin typeface="Aptos" pitchFamily="34" charset="0"/>
                <a:ea typeface="Aptos" pitchFamily="34" charset="-122"/>
                <a:cs typeface="Aptos" pitchFamily="34" charset="-120"/>
              </a:rPr>
              <a:t>Lesson 02 — Procedural writing</a:t>
            </a:r>
            <a:endParaRPr lang="en-US" sz="1200" dirty="0"/>
          </a:p>
        </p:txBody>
      </p:sp>
      <p:sp>
        <p:nvSpPr>
          <p:cNvPr id="9" name="Text 7"/>
          <p:cNvSpPr/>
          <p:nvPr/>
        </p:nvSpPr>
        <p:spPr>
          <a:xfrm>
            <a:off x="8412480" y="4754880"/>
            <a:ext cx="548640" cy="256032"/>
          </a:xfrm>
          <a:prstGeom prst="rect">
            <a:avLst/>
          </a:prstGeom>
          <a:noFill/>
          <a:ln/>
        </p:spPr>
        <p:txBody>
          <a:bodyPr wrap="square" rtlCol="0" anchor="ctr"/>
          <a:lstStyle/>
          <a:p>
            <a:pPr marL="0" indent="0">
              <a:buNone/>
            </a:pPr>
            <a:r>
              <a:rPr lang="en-US" sz="1100" dirty="0">
                <a:solidFill>
                  <a:srgbClr val="FF9090"/>
                </a:solidFill>
                <a:latin typeface="Aptos" pitchFamily="34" charset="0"/>
                <a:ea typeface="Aptos" pitchFamily="34" charset="-122"/>
                <a:cs typeface="Aptos" pitchFamily="34" charset="-120"/>
              </a:rPr>
              <a:t>S04</a:t>
            </a:r>
            <a:endParaRPr lang="en-US" sz="11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spTree>
      <p:nvGrpSpPr>
        <p:cNvPr id="1" name=""/>
        <p:cNvGrpSpPr/>
        <p:nvPr/>
      </p:nvGrpSpPr>
      <p:grpSpPr>
        <a:xfrm>
          <a:off x="0" y="0"/>
          <a:ext cx="0" cy="0"/>
          <a:chOff x="0" y="0"/>
          <a:chExt cx="0" cy="0"/>
        </a:xfrm>
      </p:grpSpPr>
      <p:sp>
        <p:nvSpPr>
          <p:cNvPr id="2" name="Text 0"/>
          <p:cNvSpPr/>
          <p:nvPr/>
        </p:nvSpPr>
        <p:spPr>
          <a:xfrm>
            <a:off x="457200" y="182880"/>
            <a:ext cx="8229600" cy="384048"/>
          </a:xfrm>
          <a:prstGeom prst="rect">
            <a:avLst/>
          </a:prstGeom>
          <a:noFill/>
          <a:ln/>
        </p:spPr>
        <p:txBody>
          <a:bodyPr wrap="square" rtlCol="0" anchor="ctr"/>
          <a:lstStyle/>
          <a:p>
            <a:pPr marL="0" indent="0">
              <a:buNone/>
            </a:pPr>
            <a:r>
              <a:rPr lang="en-US" sz="2200" b="1" dirty="0">
                <a:solidFill>
                  <a:srgbClr val="8C072D"/>
                </a:solidFill>
                <a:latin typeface="Aptos" pitchFamily="34" charset="0"/>
                <a:ea typeface="Aptos" pitchFamily="34" charset="-122"/>
                <a:cs typeface="Aptos" pitchFamily="34" charset="-120"/>
              </a:rPr>
              <a:t>What you need to know</a:t>
            </a:r>
            <a:endParaRPr lang="en-US" sz="2200" dirty="0"/>
          </a:p>
        </p:txBody>
      </p:sp>
      <p:sp>
        <p:nvSpPr>
          <p:cNvPr id="3" name="Text 1"/>
          <p:cNvSpPr/>
          <p:nvPr/>
        </p:nvSpPr>
        <p:spPr>
          <a:xfrm>
            <a:off x="457200" y="685800"/>
            <a:ext cx="8229600" cy="4114800"/>
          </a:xfrm>
          <a:prstGeom prst="rect">
            <a:avLst/>
          </a:prstGeom>
          <a:noFill/>
          <a:ln/>
        </p:spPr>
        <p:txBody>
          <a:bodyPr wrap="square" rtlCol="0" anchor="ctr"/>
          <a:lstStyle/>
          <a:p>
            <a:pPr marL="0" indent="0">
              <a:spcBef>
                <a:spcPts val="800"/>
              </a:spcBef>
              <a:spcAft>
                <a:spcPts val="800"/>
              </a:spcAft>
              <a:buNone/>
            </a:pPr>
            <a:r>
              <a:rPr lang="en-US" sz="2200" dirty="0">
                <a:solidFill>
                  <a:srgbClr val="000000"/>
                </a:solidFill>
                <a:latin typeface="Aptos" pitchFamily="34" charset="0"/>
                <a:ea typeface="Aptos" pitchFamily="34" charset="-122"/>
                <a:cs typeface="Aptos" pitchFamily="34" charset="-120"/>
              </a:rPr>
              <a:t>The subject of an imperative is "</a:t>
            </a:r>
            <a:r>
              <a:rPr lang="en-US" sz="2200" b="1" dirty="0">
                <a:solidFill>
                  <a:schemeClr val="accent1"/>
                </a:solidFill>
                <a:latin typeface="Aptos" pitchFamily="34" charset="0"/>
                <a:ea typeface="Aptos" pitchFamily="34" charset="-122"/>
                <a:cs typeface="Aptos" pitchFamily="34" charset="-120"/>
              </a:rPr>
              <a:t>you</a:t>
            </a:r>
            <a:r>
              <a:rPr lang="en-US" sz="2200" dirty="0">
                <a:solidFill>
                  <a:srgbClr val="000000"/>
                </a:solidFill>
                <a:latin typeface="Aptos" pitchFamily="34" charset="0"/>
                <a:ea typeface="Aptos" pitchFamily="34" charset="-122"/>
                <a:cs typeface="Aptos" pitchFamily="34" charset="-120"/>
              </a:rPr>
              <a:t>" — it is </a:t>
            </a:r>
            <a:r>
              <a:rPr lang="en-US" sz="2200" i="1" dirty="0">
                <a:solidFill>
                  <a:srgbClr val="000000"/>
                </a:solidFill>
                <a:latin typeface="Aptos" pitchFamily="34" charset="0"/>
                <a:ea typeface="Aptos" pitchFamily="34" charset="-122"/>
                <a:cs typeface="Aptos" pitchFamily="34" charset="-120"/>
              </a:rPr>
              <a:t>implied</a:t>
            </a:r>
            <a:r>
              <a:rPr lang="en-US" sz="2200" dirty="0">
                <a:solidFill>
                  <a:srgbClr val="000000"/>
                </a:solidFill>
                <a:latin typeface="Aptos" pitchFamily="34" charset="0"/>
                <a:ea typeface="Aptos" pitchFamily="34" charset="-122"/>
                <a:cs typeface="Aptos" pitchFamily="34" charset="-120"/>
              </a:rPr>
              <a:t>, not written.</a:t>
            </a:r>
          </a:p>
          <a:p>
            <a:pPr marL="0" indent="0">
              <a:spcBef>
                <a:spcPts val="800"/>
              </a:spcBef>
              <a:spcAft>
                <a:spcPts val="800"/>
              </a:spcAft>
              <a:buNone/>
            </a:pPr>
            <a:r>
              <a:rPr lang="en-US" sz="2200" dirty="0">
                <a:solidFill>
                  <a:srgbClr val="000000"/>
                </a:solidFill>
                <a:latin typeface="Aptos" pitchFamily="34" charset="0"/>
              </a:rPr>
              <a:t>It is </a:t>
            </a:r>
            <a:r>
              <a:rPr lang="en-US" sz="2200" i="1" dirty="0">
                <a:solidFill>
                  <a:srgbClr val="000000"/>
                </a:solidFill>
                <a:latin typeface="Aptos" pitchFamily="34" charset="0"/>
              </a:rPr>
              <a:t>implied</a:t>
            </a:r>
            <a:r>
              <a:rPr lang="en-US" sz="2200" dirty="0">
                <a:solidFill>
                  <a:srgbClr val="000000"/>
                </a:solidFill>
                <a:latin typeface="Aptos" pitchFamily="34" charset="0"/>
              </a:rPr>
              <a:t> because the imperative is aimed at whomever is reading or listening.</a:t>
            </a:r>
            <a:endParaRPr lang="en-US" sz="2200" dirty="0"/>
          </a:p>
          <a:p>
            <a:pPr marL="0" indent="0" algn="ctr">
              <a:spcBef>
                <a:spcPts val="800"/>
              </a:spcBef>
              <a:spcAft>
                <a:spcPts val="800"/>
              </a:spcAft>
              <a:buNone/>
            </a:pPr>
            <a:r>
              <a:rPr lang="en-US" sz="2200" i="1" dirty="0">
                <a:solidFill>
                  <a:srgbClr val="888888"/>
                </a:solidFill>
                <a:latin typeface="Aptos" pitchFamily="34" charset="0"/>
                <a:ea typeface="Aptos" pitchFamily="34" charset="-122"/>
                <a:cs typeface="Aptos" pitchFamily="34" charset="-120"/>
              </a:rPr>
              <a:t>"Bake for 20 minutes."  =  "(You) bake for 20 minutes."</a:t>
            </a:r>
            <a:endParaRPr lang="en-US" sz="2200" dirty="0"/>
          </a:p>
          <a:p>
            <a:pPr marL="0" indent="0">
              <a:spcBef>
                <a:spcPts val="800"/>
              </a:spcBef>
              <a:spcAft>
                <a:spcPts val="800"/>
              </a:spcAft>
              <a:buNone/>
            </a:pPr>
            <a:r>
              <a:rPr lang="en-US" sz="2200" dirty="0">
                <a:solidFill>
                  <a:srgbClr val="000000"/>
                </a:solidFill>
                <a:latin typeface="Aptos" pitchFamily="34" charset="0"/>
                <a:ea typeface="Aptos" pitchFamily="34" charset="-122"/>
                <a:cs typeface="Aptos" pitchFamily="34" charset="-120"/>
              </a:rPr>
              <a:t>Adding "you should" changes an instruction into </a:t>
            </a:r>
            <a:r>
              <a:rPr lang="en-US" sz="2200" b="1" dirty="0">
                <a:solidFill>
                  <a:srgbClr val="000000"/>
                </a:solidFill>
                <a:latin typeface="Aptos" pitchFamily="34" charset="0"/>
                <a:ea typeface="Aptos" pitchFamily="34" charset="-122"/>
                <a:cs typeface="Aptos" pitchFamily="34" charset="-120"/>
              </a:rPr>
              <a:t>advice</a:t>
            </a:r>
            <a:r>
              <a:rPr lang="en-US" sz="2200" dirty="0">
                <a:solidFill>
                  <a:srgbClr val="000000"/>
                </a:solidFill>
                <a:latin typeface="Aptos" pitchFamily="34" charset="0"/>
                <a:ea typeface="Aptos" pitchFamily="34" charset="-122"/>
                <a:cs typeface="Aptos" pitchFamily="34" charset="-120"/>
              </a:rPr>
              <a:t> — it sounds hesitant.</a:t>
            </a:r>
            <a:endParaRPr lang="en-US" sz="2200" dirty="0"/>
          </a:p>
          <a:p>
            <a:pPr marL="0" indent="0">
              <a:spcBef>
                <a:spcPts val="800"/>
              </a:spcBef>
              <a:spcAft>
                <a:spcPts val="800"/>
              </a:spcAft>
              <a:buNone/>
            </a:pPr>
            <a:r>
              <a:rPr lang="en-US" sz="2200" dirty="0">
                <a:solidFill>
                  <a:srgbClr val="000000"/>
                </a:solidFill>
                <a:latin typeface="Aptos" pitchFamily="34" charset="0"/>
                <a:ea typeface="Aptos" pitchFamily="34" charset="-122"/>
                <a:cs typeface="Aptos" pitchFamily="34" charset="-120"/>
              </a:rPr>
              <a:t>The missing subject is a deliberate choice. It creates directness.</a:t>
            </a:r>
            <a:endParaRPr lang="en-US" sz="2200" dirty="0"/>
          </a:p>
        </p:txBody>
      </p:sp>
      <p:sp>
        <p:nvSpPr>
          <p:cNvPr id="4" name="Text 2"/>
          <p:cNvSpPr/>
          <p:nvPr/>
        </p:nvSpPr>
        <p:spPr>
          <a:xfrm>
            <a:off x="8412480" y="4754880"/>
            <a:ext cx="548640" cy="256032"/>
          </a:xfrm>
          <a:prstGeom prst="rect">
            <a:avLst/>
          </a:prstGeom>
          <a:noFill/>
          <a:ln/>
        </p:spPr>
        <p:txBody>
          <a:bodyPr wrap="square" rtlCol="0" anchor="ctr"/>
          <a:lstStyle/>
          <a:p>
            <a:pPr marL="0" indent="0">
              <a:buNone/>
            </a:pPr>
            <a:r>
              <a:rPr lang="en-US" sz="1100" dirty="0">
                <a:solidFill>
                  <a:srgbClr val="888888"/>
                </a:solidFill>
                <a:latin typeface="Aptos" pitchFamily="34" charset="0"/>
                <a:ea typeface="Aptos" pitchFamily="34" charset="-122"/>
                <a:cs typeface="Aptos" pitchFamily="34" charset="-120"/>
              </a:rPr>
              <a:t>S04</a:t>
            </a:r>
            <a:endParaRPr lang="en-US" sz="1100" dirty="0"/>
          </a:p>
        </p:txBody>
      </p:sp>
      <p:pic>
        <p:nvPicPr>
          <p:cNvPr id="6" name="Graphic 5">
            <a:extLst>
              <a:ext uri="{FF2B5EF4-FFF2-40B4-BE49-F238E27FC236}">
                <a16:creationId xmlns:a16="http://schemas.microsoft.com/office/drawing/2014/main" id="{A486AC33-A0FA-1980-FAB3-B59BFF79F56C}"/>
              </a:ext>
            </a:extLst>
          </p:cNvPr>
          <p:cNvPicPr>
            <a:picLocks noChangeAspect="1"/>
          </p:cNvPicPr>
          <p:nvPr/>
        </p:nvPicPr>
        <p:blipFill>
          <a:blip>
            <a:extLst>
              <a:ext uri="{96DAC541-7B7A-43D3-8B79-37D633B846F1}">
                <asvg:svgBlip xmlns:asvg="http://schemas.microsoft.com/office/drawing/2016/SVG/main" r:embed="rId3"/>
              </a:ext>
            </a:extLst>
          </a:blip>
          <a:stretch>
            <a:fillRect/>
          </a:stretch>
        </p:blipFill>
        <p:spPr>
          <a:xfrm>
            <a:off x="7780868" y="142875"/>
            <a:ext cx="746125" cy="746125"/>
          </a:xfrm>
          <a:prstGeom prst="rect">
            <a:avLst/>
          </a:prstGeom>
        </p:spPr>
      </p:pic>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spTree>
      <p:nvGrpSpPr>
        <p:cNvPr id="1" name=""/>
        <p:cNvGrpSpPr/>
        <p:nvPr/>
      </p:nvGrpSpPr>
      <p:grpSpPr>
        <a:xfrm>
          <a:off x="0" y="0"/>
          <a:ext cx="0" cy="0"/>
          <a:chOff x="0" y="0"/>
          <a:chExt cx="0" cy="0"/>
        </a:xfrm>
      </p:grpSpPr>
      <p:sp>
        <p:nvSpPr>
          <p:cNvPr id="2" name="Text 0"/>
          <p:cNvSpPr/>
          <p:nvPr/>
        </p:nvSpPr>
        <p:spPr>
          <a:xfrm>
            <a:off x="457200" y="164592"/>
            <a:ext cx="2286000" cy="347472"/>
          </a:xfrm>
          <a:prstGeom prst="rect">
            <a:avLst/>
          </a:prstGeom>
          <a:noFill/>
          <a:ln/>
        </p:spPr>
        <p:txBody>
          <a:bodyPr wrap="square" rtlCol="0" anchor="ctr"/>
          <a:lstStyle/>
          <a:p>
            <a:pPr marL="0" indent="0">
              <a:buNone/>
            </a:pPr>
            <a:r>
              <a:rPr lang="en-US" sz="2000" b="1" dirty="0">
                <a:solidFill>
                  <a:srgbClr val="8C072D"/>
                </a:solidFill>
                <a:latin typeface="Aptos" pitchFamily="34" charset="0"/>
                <a:ea typeface="Aptos" pitchFamily="34" charset="-122"/>
                <a:cs typeface="Aptos" pitchFamily="34" charset="-120"/>
              </a:rPr>
              <a:t>Display</a:t>
            </a:r>
            <a:endParaRPr lang="en-US" sz="2000" dirty="0"/>
          </a:p>
        </p:txBody>
      </p:sp>
      <p:sp>
        <p:nvSpPr>
          <p:cNvPr id="3" name="Text 1"/>
          <p:cNvSpPr/>
          <p:nvPr/>
        </p:nvSpPr>
        <p:spPr>
          <a:xfrm>
            <a:off x="457200" y="839711"/>
            <a:ext cx="8229600" cy="1042166"/>
          </a:xfrm>
          <a:prstGeom prst="rect">
            <a:avLst/>
          </a:prstGeom>
          <a:noFill/>
          <a:ln/>
        </p:spPr>
        <p:txBody>
          <a:bodyPr wrap="square" rtlCol="0" anchor="ctr"/>
          <a:lstStyle/>
          <a:p>
            <a:pPr marL="0" indent="0">
              <a:spcAft>
                <a:spcPts val="800"/>
              </a:spcAft>
              <a:buNone/>
            </a:pPr>
            <a:r>
              <a:rPr lang="en-US" i="1" dirty="0">
                <a:latin typeface="Aptos" pitchFamily="34" charset="0"/>
                <a:ea typeface="Aptos" pitchFamily="34" charset="-122"/>
                <a:cs typeface="Aptos" pitchFamily="34" charset="-120"/>
              </a:rPr>
              <a:t>Adding a subject changes a sentence from an </a:t>
            </a:r>
            <a:r>
              <a:rPr lang="en-US" b="1" i="1" dirty="0">
                <a:latin typeface="Aptos" pitchFamily="34" charset="0"/>
                <a:ea typeface="Aptos" pitchFamily="34" charset="-122"/>
                <a:cs typeface="Aptos" pitchFamily="34" charset="-120"/>
              </a:rPr>
              <a:t>imperative</a:t>
            </a:r>
            <a:r>
              <a:rPr lang="en-US" i="1" dirty="0">
                <a:latin typeface="Aptos" pitchFamily="34" charset="0"/>
                <a:ea typeface="Aptos" pitchFamily="34" charset="-122"/>
                <a:cs typeface="Aptos" pitchFamily="34" charset="-120"/>
              </a:rPr>
              <a:t> to a </a:t>
            </a:r>
            <a:r>
              <a:rPr lang="en-US" b="1" i="1" dirty="0">
                <a:latin typeface="Aptos" pitchFamily="34" charset="0"/>
                <a:ea typeface="Aptos" pitchFamily="34" charset="-122"/>
                <a:cs typeface="Aptos" pitchFamily="34" charset="-120"/>
              </a:rPr>
              <a:t>declarative</a:t>
            </a:r>
            <a:r>
              <a:rPr lang="en-US" i="1" dirty="0">
                <a:latin typeface="Aptos" pitchFamily="34" charset="0"/>
                <a:ea typeface="Aptos" pitchFamily="34" charset="-122"/>
                <a:cs typeface="Aptos" pitchFamily="34" charset="-120"/>
              </a:rPr>
              <a:t>.</a:t>
            </a:r>
          </a:p>
          <a:p>
            <a:pPr marL="0" indent="0">
              <a:buNone/>
            </a:pPr>
            <a:r>
              <a:rPr lang="en-US" sz="2000" i="1" dirty="0">
                <a:solidFill>
                  <a:schemeClr val="accent1"/>
                </a:solidFill>
                <a:latin typeface="Aptos" pitchFamily="34" charset="0"/>
                <a:ea typeface="Aptos" pitchFamily="34" charset="-122"/>
                <a:cs typeface="Aptos" pitchFamily="34" charset="-120"/>
              </a:rPr>
              <a:t>Rewrite each imperative as a declarative by adding a subject. </a:t>
            </a:r>
            <a:endParaRPr lang="en-US" sz="2000" dirty="0">
              <a:solidFill>
                <a:schemeClr val="accent1"/>
              </a:solidFill>
            </a:endParaRPr>
          </a:p>
        </p:txBody>
      </p:sp>
      <p:sp>
        <p:nvSpPr>
          <p:cNvPr id="4" name="Text 2"/>
          <p:cNvSpPr/>
          <p:nvPr/>
        </p:nvSpPr>
        <p:spPr>
          <a:xfrm>
            <a:off x="1252330" y="2023884"/>
            <a:ext cx="7434470" cy="2122986"/>
          </a:xfrm>
          <a:prstGeom prst="rect">
            <a:avLst/>
          </a:prstGeom>
          <a:noFill/>
          <a:ln/>
        </p:spPr>
        <p:txBody>
          <a:bodyPr wrap="square" rtlCol="0" anchor="ctr"/>
          <a:lstStyle/>
          <a:p>
            <a:pPr marL="0" indent="0">
              <a:buNone/>
            </a:pPr>
            <a:r>
              <a:rPr lang="en-US" sz="2600" b="1" dirty="0">
                <a:solidFill>
                  <a:srgbClr val="888888"/>
                </a:solidFill>
                <a:latin typeface="Aptos" pitchFamily="34" charset="0"/>
                <a:ea typeface="Aptos" pitchFamily="34" charset="-122"/>
                <a:cs typeface="Aptos" pitchFamily="34" charset="-120"/>
              </a:rPr>
              <a:t>1.  </a:t>
            </a:r>
            <a:r>
              <a:rPr lang="en-US" sz="2600" dirty="0">
                <a:solidFill>
                  <a:srgbClr val="000000"/>
                </a:solidFill>
                <a:latin typeface="Aptos" pitchFamily="34" charset="0"/>
                <a:ea typeface="Aptos" pitchFamily="34" charset="-122"/>
                <a:cs typeface="Aptos" pitchFamily="34" charset="-120"/>
              </a:rPr>
              <a:t>Bake the brownies for 20 to 25 minutes.</a:t>
            </a:r>
            <a:endParaRPr lang="en-US" sz="2600" dirty="0"/>
          </a:p>
          <a:p>
            <a:pPr marL="0" indent="0">
              <a:buNone/>
            </a:pPr>
            <a:endParaRPr lang="en-US" sz="2600" dirty="0"/>
          </a:p>
          <a:p>
            <a:pPr marL="0" indent="0">
              <a:buNone/>
            </a:pPr>
            <a:r>
              <a:rPr lang="en-US" sz="2600" b="1" dirty="0">
                <a:solidFill>
                  <a:srgbClr val="888888"/>
                </a:solidFill>
                <a:latin typeface="Aptos" pitchFamily="34" charset="0"/>
                <a:ea typeface="Aptos" pitchFamily="34" charset="-122"/>
                <a:cs typeface="Aptos" pitchFamily="34" charset="-120"/>
              </a:rPr>
              <a:t>2.  </a:t>
            </a:r>
            <a:r>
              <a:rPr lang="en-US" sz="2600" dirty="0">
                <a:solidFill>
                  <a:srgbClr val="000000"/>
                </a:solidFill>
                <a:latin typeface="Aptos" pitchFamily="34" charset="0"/>
                <a:ea typeface="Aptos" pitchFamily="34" charset="-122"/>
                <a:cs typeface="Aptos" pitchFamily="34" charset="-120"/>
              </a:rPr>
              <a:t>Stir in the sugar, cocoa powder and salt.</a:t>
            </a:r>
            <a:endParaRPr lang="en-US" sz="2600" dirty="0"/>
          </a:p>
          <a:p>
            <a:pPr marL="0" indent="0">
              <a:buNone/>
            </a:pPr>
            <a:endParaRPr lang="en-US" sz="2600" dirty="0"/>
          </a:p>
          <a:p>
            <a:pPr marL="0" indent="0">
              <a:buNone/>
            </a:pPr>
            <a:r>
              <a:rPr lang="en-US" sz="2600" b="1" dirty="0">
                <a:solidFill>
                  <a:srgbClr val="888888"/>
                </a:solidFill>
                <a:latin typeface="Aptos" pitchFamily="34" charset="0"/>
                <a:ea typeface="Aptos" pitchFamily="34" charset="-122"/>
                <a:cs typeface="Aptos" pitchFamily="34" charset="-120"/>
              </a:rPr>
              <a:t>3.  </a:t>
            </a:r>
            <a:r>
              <a:rPr lang="en-US" sz="2600" dirty="0">
                <a:solidFill>
                  <a:srgbClr val="000000"/>
                </a:solidFill>
                <a:latin typeface="Aptos" pitchFamily="34" charset="0"/>
                <a:ea typeface="Aptos" pitchFamily="34" charset="-122"/>
                <a:cs typeface="Aptos" pitchFamily="34" charset="-120"/>
              </a:rPr>
              <a:t>Cut into 16 squares.</a:t>
            </a:r>
            <a:endParaRPr lang="en-US" sz="2600" dirty="0"/>
          </a:p>
        </p:txBody>
      </p:sp>
      <p:sp>
        <p:nvSpPr>
          <p:cNvPr id="5" name="Text 3"/>
          <p:cNvSpPr/>
          <p:nvPr/>
        </p:nvSpPr>
        <p:spPr>
          <a:xfrm>
            <a:off x="5029200" y="4754880"/>
            <a:ext cx="3840480" cy="256032"/>
          </a:xfrm>
          <a:prstGeom prst="rect">
            <a:avLst/>
          </a:prstGeom>
          <a:noFill/>
          <a:ln/>
        </p:spPr>
        <p:txBody>
          <a:bodyPr wrap="square" rtlCol="0" anchor="ctr"/>
          <a:lstStyle/>
          <a:p>
            <a:pPr marL="0" indent="0" algn="r">
              <a:buNone/>
            </a:pPr>
            <a:r>
              <a:rPr lang="en-US" sz="1100" i="1" dirty="0">
                <a:solidFill>
                  <a:srgbClr val="888888"/>
                </a:solidFill>
                <a:latin typeface="Aptos" pitchFamily="34" charset="0"/>
                <a:ea typeface="Aptos" pitchFamily="34" charset="-122"/>
                <a:cs typeface="Aptos" pitchFamily="34" charset="-120"/>
              </a:rPr>
              <a:t>All students respond — 3–4 min</a:t>
            </a:r>
            <a:endParaRPr lang="en-US" sz="1100" dirty="0"/>
          </a:p>
        </p:txBody>
      </p:sp>
      <p:sp>
        <p:nvSpPr>
          <p:cNvPr id="6" name="Text 4"/>
          <p:cNvSpPr/>
          <p:nvPr/>
        </p:nvSpPr>
        <p:spPr>
          <a:xfrm>
            <a:off x="8412480" y="4754880"/>
            <a:ext cx="548640" cy="256032"/>
          </a:xfrm>
          <a:prstGeom prst="rect">
            <a:avLst/>
          </a:prstGeom>
          <a:noFill/>
          <a:ln/>
        </p:spPr>
        <p:txBody>
          <a:bodyPr wrap="square" rtlCol="0" anchor="ctr"/>
          <a:lstStyle/>
          <a:p>
            <a:pPr marL="0" indent="0">
              <a:buNone/>
            </a:pPr>
            <a:r>
              <a:rPr lang="en-US" sz="1100" dirty="0">
                <a:solidFill>
                  <a:srgbClr val="888888"/>
                </a:solidFill>
                <a:latin typeface="Aptos" pitchFamily="34" charset="0"/>
                <a:ea typeface="Aptos" pitchFamily="34" charset="-122"/>
                <a:cs typeface="Aptos" pitchFamily="34" charset="-120"/>
              </a:rPr>
              <a:t>S04</a:t>
            </a:r>
            <a:endParaRPr lang="en-US" sz="1100" dirty="0"/>
          </a:p>
        </p:txBody>
      </p:sp>
      <p:sp>
        <p:nvSpPr>
          <p:cNvPr id="8" name="TextBox 7">
            <a:extLst>
              <a:ext uri="{FF2B5EF4-FFF2-40B4-BE49-F238E27FC236}">
                <a16:creationId xmlns:a16="http://schemas.microsoft.com/office/drawing/2014/main" id="{D8EEF8A5-EC69-8A0A-6B57-C9CC6089EE2D}"/>
              </a:ext>
            </a:extLst>
          </p:cNvPr>
          <p:cNvSpPr txBox="1"/>
          <p:nvPr/>
        </p:nvSpPr>
        <p:spPr>
          <a:xfrm>
            <a:off x="457200" y="4243541"/>
            <a:ext cx="4572000" cy="369332"/>
          </a:xfrm>
          <a:prstGeom prst="rect">
            <a:avLst/>
          </a:prstGeom>
          <a:noFill/>
        </p:spPr>
        <p:txBody>
          <a:bodyPr wrap="square">
            <a:spAutoFit/>
          </a:bodyPr>
          <a:lstStyle/>
          <a:p>
            <a:r>
              <a:rPr lang="en-US" i="1" dirty="0">
                <a:solidFill>
                  <a:schemeClr val="accent1"/>
                </a:solidFill>
                <a:latin typeface="Aptos" pitchFamily="34" charset="0"/>
                <a:ea typeface="Aptos" pitchFamily="34" charset="-122"/>
                <a:cs typeface="Aptos" pitchFamily="34" charset="-120"/>
              </a:rPr>
              <a:t>What changes?</a:t>
            </a:r>
            <a:endParaRPr lang="en-AU" dirty="0"/>
          </a:p>
        </p:txBody>
      </p:sp>
      <p:pic>
        <p:nvPicPr>
          <p:cNvPr id="9" name="Graphic 8">
            <a:extLst>
              <a:ext uri="{FF2B5EF4-FFF2-40B4-BE49-F238E27FC236}">
                <a16:creationId xmlns:a16="http://schemas.microsoft.com/office/drawing/2014/main" id="{AD9FF5D9-80A6-ED54-2587-1D6939D9D920}"/>
              </a:ext>
            </a:extLst>
          </p:cNvPr>
          <p:cNvPicPr>
            <a:picLocks noChangeAspect="1"/>
          </p:cNvPicPr>
          <p:nvPr/>
        </p:nvPicPr>
        <p:blipFill>
          <a:blip>
            <a:extLst>
              <a:ext uri="{96DAC541-7B7A-43D3-8B79-37D633B846F1}">
                <asvg:svgBlip xmlns:asvg="http://schemas.microsoft.com/office/drawing/2016/SVG/main" r:embed="rId3"/>
              </a:ext>
            </a:extLst>
          </a:blip>
          <a:stretch>
            <a:fillRect/>
          </a:stretch>
        </p:blipFill>
        <p:spPr>
          <a:xfrm>
            <a:off x="7793923" y="164591"/>
            <a:ext cx="740477" cy="740477"/>
          </a:xfrm>
          <a:prstGeom prst="rect">
            <a:avLst/>
          </a:prstGeom>
        </p:spPr>
      </p:pic>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spTree>
      <p:nvGrpSpPr>
        <p:cNvPr id="1" name=""/>
        <p:cNvGrpSpPr/>
        <p:nvPr/>
      </p:nvGrpSpPr>
      <p:grpSpPr>
        <a:xfrm>
          <a:off x="0" y="0"/>
          <a:ext cx="0" cy="0"/>
          <a:chOff x="0" y="0"/>
          <a:chExt cx="0" cy="0"/>
        </a:xfrm>
      </p:grpSpPr>
      <p:sp>
        <p:nvSpPr>
          <p:cNvPr id="2" name="Text 0"/>
          <p:cNvSpPr/>
          <p:nvPr/>
        </p:nvSpPr>
        <p:spPr>
          <a:xfrm>
            <a:off x="457200" y="137160"/>
            <a:ext cx="4572000" cy="347472"/>
          </a:xfrm>
          <a:prstGeom prst="rect">
            <a:avLst/>
          </a:prstGeom>
          <a:noFill/>
          <a:ln/>
        </p:spPr>
        <p:txBody>
          <a:bodyPr wrap="square" rtlCol="0" anchor="ctr"/>
          <a:lstStyle/>
          <a:p>
            <a:pPr marL="0" indent="0">
              <a:buNone/>
            </a:pPr>
            <a:r>
              <a:rPr lang="en-US" sz="2000" b="1" dirty="0">
                <a:solidFill>
                  <a:srgbClr val="8C072D"/>
                </a:solidFill>
                <a:latin typeface="Aptos" pitchFamily="34" charset="0"/>
                <a:ea typeface="Aptos" pitchFamily="34" charset="-122"/>
                <a:cs typeface="Aptos" pitchFamily="34" charset="-120"/>
              </a:rPr>
              <a:t>Reveal and model</a:t>
            </a:r>
            <a:endParaRPr lang="en-US" sz="2000" dirty="0"/>
          </a:p>
        </p:txBody>
      </p:sp>
      <p:sp>
        <p:nvSpPr>
          <p:cNvPr id="3" name="Text 1"/>
          <p:cNvSpPr/>
          <p:nvPr/>
        </p:nvSpPr>
        <p:spPr>
          <a:xfrm>
            <a:off x="457200" y="548640"/>
            <a:ext cx="8229600" cy="4069080"/>
          </a:xfrm>
          <a:prstGeom prst="rect">
            <a:avLst/>
          </a:prstGeom>
          <a:noFill/>
          <a:ln/>
        </p:spPr>
        <p:txBody>
          <a:bodyPr wrap="square" rtlCol="0" anchor="ctr"/>
          <a:lstStyle/>
          <a:p>
            <a:pPr marL="0" indent="0">
              <a:spcBef>
                <a:spcPts val="800"/>
              </a:spcBef>
              <a:spcAft>
                <a:spcPts val="800"/>
              </a:spcAft>
              <a:buNone/>
            </a:pPr>
            <a:r>
              <a:rPr lang="en-US" sz="2800" b="1" dirty="0">
                <a:solidFill>
                  <a:srgbClr val="888888"/>
                </a:solidFill>
                <a:latin typeface="Aptos" pitchFamily="34" charset="0"/>
                <a:ea typeface="Aptos" pitchFamily="34" charset="-122"/>
                <a:cs typeface="Aptos" pitchFamily="34" charset="-120"/>
              </a:rPr>
              <a:t>1.  </a:t>
            </a:r>
            <a:r>
              <a:rPr lang="en-US" sz="2800" dirty="0">
                <a:solidFill>
                  <a:srgbClr val="A24800"/>
                </a:solidFill>
                <a:latin typeface="Aptos" pitchFamily="34" charset="0"/>
                <a:ea typeface="Aptos" pitchFamily="34" charset="-122"/>
                <a:cs typeface="Aptos" pitchFamily="34" charset="-120"/>
              </a:rPr>
              <a:t>You</a:t>
            </a:r>
            <a:r>
              <a:rPr lang="en-US" sz="2800" dirty="0">
                <a:solidFill>
                  <a:srgbClr val="000000"/>
                </a:solidFill>
                <a:latin typeface="Aptos" pitchFamily="34" charset="0"/>
                <a:ea typeface="Aptos" pitchFamily="34" charset="-122"/>
                <a:cs typeface="Aptos" pitchFamily="34" charset="-120"/>
              </a:rPr>
              <a:t> should </a:t>
            </a:r>
            <a:r>
              <a:rPr lang="en-US" sz="2800" i="1" dirty="0">
                <a:solidFill>
                  <a:srgbClr val="0F6E4D"/>
                </a:solidFill>
                <a:latin typeface="Aptos" pitchFamily="34" charset="0"/>
                <a:ea typeface="Aptos" pitchFamily="34" charset="-122"/>
                <a:cs typeface="Aptos" pitchFamily="34" charset="-120"/>
              </a:rPr>
              <a:t>bake</a:t>
            </a:r>
            <a:r>
              <a:rPr lang="en-US" sz="2800" dirty="0">
                <a:solidFill>
                  <a:srgbClr val="000000"/>
                </a:solidFill>
                <a:latin typeface="Aptos" pitchFamily="34" charset="0"/>
                <a:ea typeface="Aptos" pitchFamily="34" charset="-122"/>
                <a:cs typeface="Aptos" pitchFamily="34" charset="-120"/>
              </a:rPr>
              <a:t> the brownies for 20 to 25 minutes.</a:t>
            </a:r>
            <a:r>
              <a:rPr lang="en-US" sz="2800" i="1" dirty="0">
                <a:solidFill>
                  <a:srgbClr val="888888"/>
                </a:solidFill>
                <a:latin typeface="Aptos" pitchFamily="34" charset="0"/>
                <a:ea typeface="Aptos" pitchFamily="34" charset="-122"/>
                <a:cs typeface="Aptos" pitchFamily="34" charset="-120"/>
              </a:rPr>
              <a:t> </a:t>
            </a:r>
            <a:endParaRPr lang="en-US" sz="2800" dirty="0"/>
          </a:p>
          <a:p>
            <a:pPr marL="0" indent="0">
              <a:spcBef>
                <a:spcPts val="800"/>
              </a:spcBef>
              <a:spcAft>
                <a:spcPts val="800"/>
              </a:spcAft>
              <a:buNone/>
            </a:pPr>
            <a:r>
              <a:rPr lang="en-US" sz="2800" b="1" dirty="0">
                <a:solidFill>
                  <a:srgbClr val="888888"/>
                </a:solidFill>
                <a:latin typeface="Aptos" pitchFamily="34" charset="0"/>
                <a:ea typeface="Aptos" pitchFamily="34" charset="-122"/>
                <a:cs typeface="Aptos" pitchFamily="34" charset="-120"/>
              </a:rPr>
              <a:t>2.  </a:t>
            </a:r>
            <a:r>
              <a:rPr lang="en-US" sz="2800" dirty="0">
                <a:solidFill>
                  <a:srgbClr val="A24800"/>
                </a:solidFill>
                <a:latin typeface="Aptos" pitchFamily="34" charset="0"/>
                <a:ea typeface="Aptos" pitchFamily="34" charset="-122"/>
                <a:cs typeface="Aptos" pitchFamily="34" charset="-120"/>
              </a:rPr>
              <a:t>You</a:t>
            </a:r>
            <a:r>
              <a:rPr lang="en-US" sz="2800" dirty="0">
                <a:solidFill>
                  <a:srgbClr val="000000"/>
                </a:solidFill>
                <a:latin typeface="Aptos" pitchFamily="34" charset="0"/>
                <a:ea typeface="Aptos" pitchFamily="34" charset="-122"/>
                <a:cs typeface="Aptos" pitchFamily="34" charset="-120"/>
              </a:rPr>
              <a:t> need to </a:t>
            </a:r>
            <a:r>
              <a:rPr lang="en-US" sz="2800" i="1" dirty="0">
                <a:solidFill>
                  <a:srgbClr val="0F6E4D"/>
                </a:solidFill>
                <a:latin typeface="Aptos" pitchFamily="34" charset="0"/>
                <a:ea typeface="Aptos" pitchFamily="34" charset="-122"/>
                <a:cs typeface="Aptos" pitchFamily="34" charset="-120"/>
              </a:rPr>
              <a:t>stir</a:t>
            </a:r>
            <a:r>
              <a:rPr lang="en-US" sz="2800" dirty="0">
                <a:solidFill>
                  <a:srgbClr val="000000"/>
                </a:solidFill>
                <a:latin typeface="Aptos" pitchFamily="34" charset="0"/>
                <a:ea typeface="Aptos" pitchFamily="34" charset="-122"/>
                <a:cs typeface="Aptos" pitchFamily="34" charset="-120"/>
              </a:rPr>
              <a:t> in the sugar, cocoa powder and salt.</a:t>
            </a:r>
            <a:endParaRPr lang="en-US" sz="2800" dirty="0"/>
          </a:p>
          <a:p>
            <a:pPr marL="0" indent="0">
              <a:spcBef>
                <a:spcPts val="800"/>
              </a:spcBef>
              <a:spcAft>
                <a:spcPts val="800"/>
              </a:spcAft>
              <a:buNone/>
            </a:pPr>
            <a:r>
              <a:rPr lang="en-US" sz="2800" b="1" dirty="0">
                <a:solidFill>
                  <a:srgbClr val="888888"/>
                </a:solidFill>
                <a:latin typeface="Aptos" pitchFamily="34" charset="0"/>
                <a:ea typeface="Aptos" pitchFamily="34" charset="-122"/>
                <a:cs typeface="Aptos" pitchFamily="34" charset="-120"/>
              </a:rPr>
              <a:t>3.  </a:t>
            </a:r>
            <a:r>
              <a:rPr lang="en-US" sz="2800" dirty="0">
                <a:solidFill>
                  <a:srgbClr val="A24800"/>
                </a:solidFill>
                <a:latin typeface="Aptos" pitchFamily="34" charset="0"/>
                <a:ea typeface="Aptos" pitchFamily="34" charset="-122"/>
                <a:cs typeface="Aptos" pitchFamily="34" charset="-120"/>
              </a:rPr>
              <a:t>You</a:t>
            </a:r>
            <a:r>
              <a:rPr lang="en-US" sz="2800" dirty="0">
                <a:solidFill>
                  <a:srgbClr val="000000"/>
                </a:solidFill>
                <a:latin typeface="Aptos" pitchFamily="34" charset="0"/>
                <a:ea typeface="Aptos" pitchFamily="34" charset="-122"/>
                <a:cs typeface="Aptos" pitchFamily="34" charset="-120"/>
              </a:rPr>
              <a:t> should </a:t>
            </a:r>
            <a:r>
              <a:rPr lang="en-US" sz="2800" i="1" dirty="0">
                <a:solidFill>
                  <a:srgbClr val="0F6E4D"/>
                </a:solidFill>
                <a:latin typeface="Aptos" pitchFamily="34" charset="0"/>
                <a:ea typeface="Aptos" pitchFamily="34" charset="-122"/>
                <a:cs typeface="Aptos" pitchFamily="34" charset="-120"/>
              </a:rPr>
              <a:t>cut</a:t>
            </a:r>
            <a:r>
              <a:rPr lang="en-US" sz="2800" dirty="0">
                <a:solidFill>
                  <a:srgbClr val="000000"/>
                </a:solidFill>
                <a:latin typeface="Aptos" pitchFamily="34" charset="0"/>
                <a:ea typeface="Aptos" pitchFamily="34" charset="-122"/>
                <a:cs typeface="Aptos" pitchFamily="34" charset="-120"/>
              </a:rPr>
              <a:t> into 16 squares.</a:t>
            </a:r>
            <a:endParaRPr lang="en-US" sz="2800" dirty="0"/>
          </a:p>
        </p:txBody>
      </p:sp>
      <p:sp>
        <p:nvSpPr>
          <p:cNvPr id="4" name="Text 2"/>
          <p:cNvSpPr/>
          <p:nvPr/>
        </p:nvSpPr>
        <p:spPr>
          <a:xfrm>
            <a:off x="457200" y="4754880"/>
            <a:ext cx="8229600" cy="228600"/>
          </a:xfrm>
          <a:prstGeom prst="rect">
            <a:avLst/>
          </a:prstGeom>
          <a:noFill/>
          <a:ln/>
        </p:spPr>
        <p:txBody>
          <a:bodyPr wrap="square" rtlCol="0" anchor="ctr"/>
          <a:lstStyle/>
          <a:p>
            <a:pPr marL="0" indent="0">
              <a:buNone/>
            </a:pPr>
            <a:r>
              <a:rPr lang="en-US" sz="1600" b="1" dirty="0">
                <a:solidFill>
                  <a:srgbClr val="A24800"/>
                </a:solidFill>
                <a:latin typeface="Aptos" pitchFamily="34" charset="0"/>
                <a:ea typeface="Aptos" pitchFamily="34" charset="-122"/>
                <a:cs typeface="Aptos" pitchFamily="34" charset="-120"/>
              </a:rPr>
              <a:t>Subject </a:t>
            </a:r>
            <a:r>
              <a:rPr lang="en-US" sz="1600" b="1" i="1" dirty="0">
                <a:solidFill>
                  <a:srgbClr val="0F6E4D"/>
                </a:solidFill>
                <a:latin typeface="Aptos" pitchFamily="34" charset="0"/>
                <a:ea typeface="Aptos" pitchFamily="34" charset="-122"/>
                <a:cs typeface="Aptos" pitchFamily="34" charset="-120"/>
              </a:rPr>
              <a:t>   Verb </a:t>
            </a:r>
            <a:r>
              <a:rPr lang="en-US" sz="1600" b="1" dirty="0">
                <a:solidFill>
                  <a:srgbClr val="1F5FA8"/>
                </a:solidFill>
                <a:latin typeface="Aptos" pitchFamily="34" charset="0"/>
                <a:ea typeface="Aptos" pitchFamily="34" charset="-122"/>
                <a:cs typeface="Aptos" pitchFamily="34" charset="-120"/>
              </a:rPr>
              <a:t>   Prep phrase </a:t>
            </a:r>
            <a:r>
              <a:rPr lang="en-US" sz="1600" b="1" u="sng" dirty="0">
                <a:solidFill>
                  <a:srgbClr val="000000"/>
                </a:solidFill>
                <a:latin typeface="Aptos" pitchFamily="34" charset="0"/>
                <a:ea typeface="Aptos" pitchFamily="34" charset="-122"/>
                <a:cs typeface="Aptos" pitchFamily="34" charset="-120"/>
              </a:rPr>
              <a:t>   Conjunction</a:t>
            </a:r>
            <a:endParaRPr lang="en-US" sz="1600" dirty="0"/>
          </a:p>
        </p:txBody>
      </p:sp>
      <p:sp>
        <p:nvSpPr>
          <p:cNvPr id="5" name="Text 3"/>
          <p:cNvSpPr/>
          <p:nvPr/>
        </p:nvSpPr>
        <p:spPr>
          <a:xfrm>
            <a:off x="8412480" y="4754880"/>
            <a:ext cx="548640" cy="256032"/>
          </a:xfrm>
          <a:prstGeom prst="rect">
            <a:avLst/>
          </a:prstGeom>
          <a:noFill/>
          <a:ln/>
        </p:spPr>
        <p:txBody>
          <a:bodyPr wrap="square" rtlCol="0" anchor="ctr"/>
          <a:lstStyle/>
          <a:p>
            <a:pPr marL="0" indent="0">
              <a:buNone/>
            </a:pPr>
            <a:r>
              <a:rPr lang="en-US" sz="1100" dirty="0">
                <a:solidFill>
                  <a:srgbClr val="888888"/>
                </a:solidFill>
                <a:latin typeface="Aptos" pitchFamily="34" charset="0"/>
                <a:ea typeface="Aptos" pitchFamily="34" charset="-122"/>
                <a:cs typeface="Aptos" pitchFamily="34" charset="-120"/>
              </a:rPr>
              <a:t>S04</a:t>
            </a:r>
            <a:endParaRPr lang="en-US" sz="1100" dirty="0"/>
          </a:p>
        </p:txBody>
      </p:sp>
      <p:pic>
        <p:nvPicPr>
          <p:cNvPr id="8" name="Graphic 7">
            <a:extLst>
              <a:ext uri="{FF2B5EF4-FFF2-40B4-BE49-F238E27FC236}">
                <a16:creationId xmlns:a16="http://schemas.microsoft.com/office/drawing/2014/main" id="{4D1DFAF5-EDC0-688C-A73B-C47727DFF958}"/>
              </a:ext>
            </a:extLst>
          </p:cNvPr>
          <p:cNvPicPr>
            <a:picLocks noChangeAspect="1"/>
          </p:cNvPicPr>
          <p:nvPr/>
        </p:nvPicPr>
        <p:blipFill>
          <a:blip>
            <a:extLst>
              <a:ext uri="{96DAC541-7B7A-43D3-8B79-37D633B846F1}">
                <asvg:svgBlip xmlns:asvg="http://schemas.microsoft.com/office/drawing/2016/SVG/main" r:embed="rId3"/>
              </a:ext>
            </a:extLst>
          </a:blip>
          <a:stretch>
            <a:fillRect/>
          </a:stretch>
        </p:blipFill>
        <p:spPr>
          <a:xfrm>
            <a:off x="7247466" y="207264"/>
            <a:ext cx="609600" cy="609600"/>
          </a:xfrm>
          <a:prstGeom prst="rect">
            <a:avLst/>
          </a:prstGeom>
        </p:spPr>
      </p:pic>
      <p:pic>
        <p:nvPicPr>
          <p:cNvPr id="11" name="Graphic 10">
            <a:extLst>
              <a:ext uri="{FF2B5EF4-FFF2-40B4-BE49-F238E27FC236}">
                <a16:creationId xmlns:a16="http://schemas.microsoft.com/office/drawing/2014/main" id="{1BFBD311-91EA-3E7E-E8D2-212EEDCC16D2}"/>
              </a:ext>
            </a:extLst>
          </p:cNvPr>
          <p:cNvPicPr>
            <a:picLocks noChangeAspect="1"/>
          </p:cNvPicPr>
          <p:nvPr/>
        </p:nvPicPr>
        <p:blipFill>
          <a:blip>
            <a:extLst>
              <a:ext uri="{96DAC541-7B7A-43D3-8B79-37D633B846F1}">
                <asvg:svgBlip xmlns:asvg="http://schemas.microsoft.com/office/drawing/2016/SVG/main" r:embed="rId4"/>
              </a:ext>
            </a:extLst>
          </a:blip>
          <a:stretch>
            <a:fillRect/>
          </a:stretch>
        </p:blipFill>
        <p:spPr>
          <a:xfrm>
            <a:off x="7967133" y="207264"/>
            <a:ext cx="609600" cy="609600"/>
          </a:xfrm>
          <a:prstGeom prst="rect">
            <a:avLst/>
          </a:prstGeom>
        </p:spPr>
      </p:pic>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spTree>
      <p:nvGrpSpPr>
        <p:cNvPr id="1" name=""/>
        <p:cNvGrpSpPr/>
        <p:nvPr/>
      </p:nvGrpSpPr>
      <p:grpSpPr>
        <a:xfrm>
          <a:off x="0" y="0"/>
          <a:ext cx="0" cy="0"/>
          <a:chOff x="0" y="0"/>
          <a:chExt cx="0" cy="0"/>
        </a:xfrm>
      </p:grpSpPr>
      <p:sp>
        <p:nvSpPr>
          <p:cNvPr id="2" name="Shape 0"/>
          <p:cNvSpPr/>
          <p:nvPr/>
        </p:nvSpPr>
        <p:spPr>
          <a:xfrm>
            <a:off x="0" y="0"/>
            <a:ext cx="9144000" cy="5143500"/>
          </a:xfrm>
          <a:prstGeom prst="rect">
            <a:avLst/>
          </a:prstGeom>
          <a:solidFill>
            <a:srgbClr val="F7F0F1"/>
          </a:solidFill>
          <a:ln/>
        </p:spPr>
        <p:txBody>
          <a:bodyPr/>
          <a:lstStyle/>
          <a:p>
            <a:endParaRPr lang="en-AU"/>
          </a:p>
        </p:txBody>
      </p:sp>
      <p:sp>
        <p:nvSpPr>
          <p:cNvPr id="3" name="Text 1"/>
          <p:cNvSpPr/>
          <p:nvPr/>
        </p:nvSpPr>
        <p:spPr>
          <a:xfrm>
            <a:off x="457200" y="137160"/>
            <a:ext cx="8229600" cy="411480"/>
          </a:xfrm>
          <a:prstGeom prst="rect">
            <a:avLst/>
          </a:prstGeom>
          <a:noFill/>
          <a:ln/>
        </p:spPr>
        <p:txBody>
          <a:bodyPr wrap="square" rtlCol="0" anchor="ctr"/>
          <a:lstStyle/>
          <a:p>
            <a:pPr marL="0" indent="0">
              <a:buNone/>
            </a:pPr>
            <a:r>
              <a:rPr lang="en-US" sz="2400" b="1" dirty="0">
                <a:solidFill>
                  <a:srgbClr val="8C072D"/>
                </a:solidFill>
                <a:latin typeface="Aptos" pitchFamily="34" charset="0"/>
                <a:ea typeface="Aptos" pitchFamily="34" charset="-122"/>
                <a:cs typeface="Aptos" pitchFamily="34" charset="-120"/>
              </a:rPr>
              <a:t>Exit task</a:t>
            </a:r>
            <a:endParaRPr lang="en-US" sz="2400" dirty="0"/>
          </a:p>
        </p:txBody>
      </p:sp>
      <p:sp>
        <p:nvSpPr>
          <p:cNvPr id="4" name="Text 2"/>
          <p:cNvSpPr/>
          <p:nvPr/>
        </p:nvSpPr>
        <p:spPr>
          <a:xfrm>
            <a:off x="457200" y="1250582"/>
            <a:ext cx="8229600" cy="384048"/>
          </a:xfrm>
          <a:prstGeom prst="rect">
            <a:avLst/>
          </a:prstGeom>
          <a:noFill/>
          <a:ln/>
        </p:spPr>
        <p:txBody>
          <a:bodyPr wrap="square" rtlCol="0" anchor="ctr"/>
          <a:lstStyle/>
          <a:p>
            <a:pPr marL="0" indent="0">
              <a:buNone/>
            </a:pPr>
            <a:r>
              <a:rPr lang="en-US" sz="1800" b="1" dirty="0">
                <a:solidFill>
                  <a:srgbClr val="000000"/>
                </a:solidFill>
                <a:latin typeface="Aptos" pitchFamily="34" charset="0"/>
                <a:ea typeface="Aptos" pitchFamily="34" charset="-122"/>
                <a:cs typeface="Aptos" pitchFamily="34" charset="-120"/>
              </a:rPr>
              <a:t>1 = Declarative   ·   2 = Imperative   ·   3 = Interrogative   ·   4 = Exclamative</a:t>
            </a:r>
            <a:endParaRPr lang="en-US" sz="1800" dirty="0"/>
          </a:p>
        </p:txBody>
      </p:sp>
      <p:sp>
        <p:nvSpPr>
          <p:cNvPr id="5" name="Text 3"/>
          <p:cNvSpPr/>
          <p:nvPr/>
        </p:nvSpPr>
        <p:spPr>
          <a:xfrm>
            <a:off x="457200" y="1950098"/>
            <a:ext cx="8229600" cy="2877934"/>
          </a:xfrm>
          <a:prstGeom prst="rect">
            <a:avLst/>
          </a:prstGeom>
          <a:noFill/>
          <a:ln/>
        </p:spPr>
        <p:txBody>
          <a:bodyPr wrap="square" rtlCol="0" anchor="t"/>
          <a:lstStyle/>
          <a:p>
            <a:pPr marL="0" indent="0">
              <a:buNone/>
            </a:pPr>
            <a:r>
              <a:rPr lang="en-US" sz="2400" dirty="0">
                <a:solidFill>
                  <a:srgbClr val="000000"/>
                </a:solidFill>
                <a:latin typeface="Aptos" pitchFamily="34" charset="0"/>
                <a:ea typeface="Aptos" pitchFamily="34" charset="-122"/>
                <a:cs typeface="Aptos" pitchFamily="34" charset="-120"/>
              </a:rPr>
              <a:t>Season generously with salt and freshly ground pepper.</a:t>
            </a:r>
            <a:endParaRPr lang="en-US" sz="2400" dirty="0"/>
          </a:p>
          <a:p>
            <a:pPr marL="0" indent="0">
              <a:buNone/>
            </a:pPr>
            <a:endParaRPr lang="en-US" sz="2400" dirty="0"/>
          </a:p>
          <a:p>
            <a:pPr marL="0" indent="0">
              <a:buNone/>
            </a:pPr>
            <a:r>
              <a:rPr lang="en-US" sz="2400" dirty="0">
                <a:solidFill>
                  <a:srgbClr val="000000"/>
                </a:solidFill>
                <a:latin typeface="Aptos" pitchFamily="34" charset="0"/>
                <a:ea typeface="Aptos" pitchFamily="34" charset="-122"/>
                <a:cs typeface="Aptos" pitchFamily="34" charset="-120"/>
              </a:rPr>
              <a:t>You need to think about this carefully.</a:t>
            </a:r>
            <a:endParaRPr lang="en-US" sz="2400" dirty="0"/>
          </a:p>
          <a:p>
            <a:pPr marL="0" indent="0">
              <a:buNone/>
            </a:pPr>
            <a:endParaRPr lang="en-US" sz="2400" dirty="0"/>
          </a:p>
          <a:p>
            <a:pPr marL="0" indent="0">
              <a:buNone/>
            </a:pPr>
            <a:r>
              <a:rPr lang="en-US" sz="2400" dirty="0">
                <a:solidFill>
                  <a:srgbClr val="000000"/>
                </a:solidFill>
                <a:latin typeface="Aptos" pitchFamily="34" charset="0"/>
                <a:ea typeface="Aptos" pitchFamily="34" charset="-122"/>
                <a:cs typeface="Aptos" pitchFamily="34" charset="-120"/>
              </a:rPr>
              <a:t>Why would you ever leave out the salt?</a:t>
            </a:r>
            <a:endParaRPr lang="en-US" sz="2400" dirty="0"/>
          </a:p>
          <a:p>
            <a:pPr marL="0" indent="0">
              <a:buNone/>
            </a:pPr>
            <a:endParaRPr lang="en-US" sz="2400" dirty="0"/>
          </a:p>
          <a:p>
            <a:pPr marL="0" indent="0">
              <a:buNone/>
            </a:pPr>
            <a:r>
              <a:rPr lang="en-US" sz="2400" dirty="0">
                <a:solidFill>
                  <a:srgbClr val="000000"/>
                </a:solidFill>
                <a:latin typeface="Aptos" pitchFamily="34" charset="0"/>
                <a:ea typeface="Aptos" pitchFamily="34" charset="-122"/>
                <a:cs typeface="Aptos" pitchFamily="34" charset="-120"/>
              </a:rPr>
              <a:t>What a brilliant approach to the problem!</a:t>
            </a:r>
            <a:endParaRPr lang="en-US" sz="2400" dirty="0"/>
          </a:p>
        </p:txBody>
      </p:sp>
      <p:sp>
        <p:nvSpPr>
          <p:cNvPr id="6" name="Text 4"/>
          <p:cNvSpPr/>
          <p:nvPr/>
        </p:nvSpPr>
        <p:spPr>
          <a:xfrm>
            <a:off x="457200" y="4736592"/>
            <a:ext cx="7772400" cy="256032"/>
          </a:xfrm>
          <a:prstGeom prst="rect">
            <a:avLst/>
          </a:prstGeom>
          <a:noFill/>
          <a:ln/>
        </p:spPr>
        <p:txBody>
          <a:bodyPr wrap="square" rtlCol="0" anchor="ctr"/>
          <a:lstStyle/>
          <a:p>
            <a:pPr marL="0" indent="0">
              <a:buNone/>
            </a:pPr>
            <a:r>
              <a:rPr lang="en-US" sz="1100" i="1" dirty="0">
                <a:solidFill>
                  <a:srgbClr val="888888"/>
                </a:solidFill>
                <a:latin typeface="Aptos" pitchFamily="34" charset="0"/>
                <a:ea typeface="Aptos" pitchFamily="34" charset="-122"/>
                <a:cs typeface="Aptos" pitchFamily="34" charset="-120"/>
              </a:rPr>
              <a:t>Vote with your fingers — scan the room before revealing.</a:t>
            </a:r>
            <a:endParaRPr lang="en-US" sz="1100" dirty="0"/>
          </a:p>
        </p:txBody>
      </p:sp>
      <p:sp>
        <p:nvSpPr>
          <p:cNvPr id="7" name="Text 5"/>
          <p:cNvSpPr/>
          <p:nvPr/>
        </p:nvSpPr>
        <p:spPr>
          <a:xfrm>
            <a:off x="8412480" y="4754880"/>
            <a:ext cx="548640" cy="256032"/>
          </a:xfrm>
          <a:prstGeom prst="rect">
            <a:avLst/>
          </a:prstGeom>
          <a:noFill/>
          <a:ln/>
        </p:spPr>
        <p:txBody>
          <a:bodyPr wrap="square" rtlCol="0" anchor="ctr"/>
          <a:lstStyle/>
          <a:p>
            <a:pPr marL="0" indent="0">
              <a:buNone/>
            </a:pPr>
            <a:r>
              <a:rPr lang="en-US" sz="1100" dirty="0">
                <a:solidFill>
                  <a:srgbClr val="888888"/>
                </a:solidFill>
                <a:latin typeface="Aptos" pitchFamily="34" charset="0"/>
                <a:ea typeface="Aptos" pitchFamily="34" charset="-122"/>
                <a:cs typeface="Aptos" pitchFamily="34" charset="-120"/>
              </a:rPr>
              <a:t>S04</a:t>
            </a:r>
            <a:endParaRPr lang="en-US" sz="1100" dirty="0"/>
          </a:p>
        </p:txBody>
      </p:sp>
      <p:grpSp>
        <p:nvGrpSpPr>
          <p:cNvPr id="8" name="Group 7">
            <a:extLst>
              <a:ext uri="{FF2B5EF4-FFF2-40B4-BE49-F238E27FC236}">
                <a16:creationId xmlns:a16="http://schemas.microsoft.com/office/drawing/2014/main" id="{65D27B1E-F427-F89F-B18F-C696042BC4D9}"/>
              </a:ext>
            </a:extLst>
          </p:cNvPr>
          <p:cNvGrpSpPr/>
          <p:nvPr/>
        </p:nvGrpSpPr>
        <p:grpSpPr>
          <a:xfrm>
            <a:off x="5744633" y="137160"/>
            <a:ext cx="2652183" cy="609600"/>
            <a:chOff x="5744633" y="137160"/>
            <a:chExt cx="2652183" cy="609600"/>
          </a:xfrm>
        </p:grpSpPr>
        <p:pic>
          <p:nvPicPr>
            <p:cNvPr id="10" name="Graphic 9">
              <a:extLst>
                <a:ext uri="{FF2B5EF4-FFF2-40B4-BE49-F238E27FC236}">
                  <a16:creationId xmlns:a16="http://schemas.microsoft.com/office/drawing/2014/main" id="{09063A49-EA5B-D241-8378-FF534294E7D2}"/>
                </a:ext>
              </a:extLst>
            </p:cNvPr>
            <p:cNvPicPr>
              <a:picLocks noChangeAspect="1"/>
            </p:cNvPicPr>
            <p:nvPr/>
          </p:nvPicPr>
          <p:blipFill>
            <a:blip>
              <a:extLst>
                <a:ext uri="{96DAC541-7B7A-43D3-8B79-37D633B846F1}">
                  <asvg:svgBlip xmlns:asvg="http://schemas.microsoft.com/office/drawing/2016/SVG/main" r:embed="rId3"/>
                </a:ext>
              </a:extLst>
            </a:blip>
            <a:stretch>
              <a:fillRect/>
            </a:stretch>
          </p:blipFill>
          <p:spPr>
            <a:xfrm>
              <a:off x="7787216" y="137160"/>
              <a:ext cx="609600" cy="609600"/>
            </a:xfrm>
            <a:prstGeom prst="rect">
              <a:avLst/>
            </a:prstGeom>
          </p:spPr>
        </p:pic>
        <p:pic>
          <p:nvPicPr>
            <p:cNvPr id="12" name="Graphic 11">
              <a:extLst>
                <a:ext uri="{FF2B5EF4-FFF2-40B4-BE49-F238E27FC236}">
                  <a16:creationId xmlns:a16="http://schemas.microsoft.com/office/drawing/2014/main" id="{3A6B6130-E572-C293-0692-5B94925714CC}"/>
                </a:ext>
              </a:extLst>
            </p:cNvPr>
            <p:cNvPicPr>
              <a:picLocks noChangeAspect="1"/>
            </p:cNvPicPr>
            <p:nvPr/>
          </p:nvPicPr>
          <p:blipFill>
            <a:blip>
              <a:extLst>
                <a:ext uri="{96DAC541-7B7A-43D3-8B79-37D633B846F1}">
                  <asvg:svgBlip xmlns:asvg="http://schemas.microsoft.com/office/drawing/2016/SVG/main" r:embed="rId4"/>
                </a:ext>
              </a:extLst>
            </a:blip>
            <a:stretch>
              <a:fillRect/>
            </a:stretch>
          </p:blipFill>
          <p:spPr>
            <a:xfrm>
              <a:off x="5744633" y="137160"/>
              <a:ext cx="609600" cy="609600"/>
            </a:xfrm>
            <a:prstGeom prst="rect">
              <a:avLst/>
            </a:prstGeom>
          </p:spPr>
        </p:pic>
        <p:pic>
          <p:nvPicPr>
            <p:cNvPr id="13" name="Graphic 12">
              <a:extLst>
                <a:ext uri="{FF2B5EF4-FFF2-40B4-BE49-F238E27FC236}">
                  <a16:creationId xmlns:a16="http://schemas.microsoft.com/office/drawing/2014/main" id="{FC4FBE71-AECD-8428-C07A-65FEE41A085B}"/>
                </a:ext>
              </a:extLst>
            </p:cNvPr>
            <p:cNvPicPr>
              <a:picLocks noChangeAspect="1"/>
            </p:cNvPicPr>
            <p:nvPr/>
          </p:nvPicPr>
          <p:blipFill>
            <a:blip>
              <a:extLst>
                <a:ext uri="{96DAC541-7B7A-43D3-8B79-37D633B846F1}">
                  <asvg:svgBlip xmlns:asvg="http://schemas.microsoft.com/office/drawing/2016/SVG/main" r:embed="rId5"/>
                </a:ext>
              </a:extLst>
            </a:blip>
            <a:stretch>
              <a:fillRect/>
            </a:stretch>
          </p:blipFill>
          <p:spPr>
            <a:xfrm>
              <a:off x="6430433" y="137160"/>
              <a:ext cx="609600" cy="609600"/>
            </a:xfrm>
            <a:prstGeom prst="rect">
              <a:avLst/>
            </a:prstGeom>
          </p:spPr>
        </p:pic>
        <p:pic>
          <p:nvPicPr>
            <p:cNvPr id="14" name="Graphic 13">
              <a:extLst>
                <a:ext uri="{FF2B5EF4-FFF2-40B4-BE49-F238E27FC236}">
                  <a16:creationId xmlns:a16="http://schemas.microsoft.com/office/drawing/2014/main" id="{8AE745E5-7B67-9A5B-2306-6F978B5D0895}"/>
                </a:ext>
              </a:extLst>
            </p:cNvPr>
            <p:cNvPicPr>
              <a:picLocks noChangeAspect="1"/>
            </p:cNvPicPr>
            <p:nvPr/>
          </p:nvPicPr>
          <p:blipFill>
            <a:blip>
              <a:extLst>
                <a:ext uri="{96DAC541-7B7A-43D3-8B79-37D633B846F1}">
                  <asvg:svgBlip xmlns:asvg="http://schemas.microsoft.com/office/drawing/2016/SVG/main" r:embed="rId6"/>
                </a:ext>
              </a:extLst>
            </a:blip>
            <a:stretch>
              <a:fillRect/>
            </a:stretch>
          </p:blipFill>
          <p:spPr>
            <a:xfrm>
              <a:off x="7116233" y="137160"/>
              <a:ext cx="600075" cy="600075"/>
            </a:xfrm>
            <a:prstGeom prst="rect">
              <a:avLst/>
            </a:prstGeom>
          </p:spPr>
        </p:pic>
      </p:grpSp>
    </p:spTree>
  </p:cSld>
  <p:clrMapOvr>
    <a:masterClrMapping/>
  </p:clrMapOvr>
</p:sld>
</file>

<file path=ppt/theme/theme1.xml><?xml version="1.0" encoding="utf-8"?>
<a:theme xmlns:a="http://schemas.openxmlformats.org/drawingml/2006/main" name="Office Theme">
  <a:themeElements>
    <a:clrScheme name="KHS grammar">
      <a:dk1>
        <a:sysClr val="windowText" lastClr="000000"/>
      </a:dk1>
      <a:lt1>
        <a:sysClr val="window" lastClr="FFFFFF"/>
      </a:lt1>
      <a:dk2>
        <a:srgbClr val="0E2841"/>
      </a:dk2>
      <a:lt2>
        <a:srgbClr val="E8E8E8"/>
      </a:lt2>
      <a:accent1>
        <a:srgbClr val="7A0101"/>
      </a:accent1>
      <a:accent2>
        <a:srgbClr val="0DC3A5"/>
      </a:accent2>
      <a:accent3>
        <a:srgbClr val="0072B2"/>
      </a:accent3>
      <a:accent4>
        <a:srgbClr val="0F9ED5"/>
      </a:accent4>
      <a:accent5>
        <a:srgbClr val="8C072D"/>
      </a:accent5>
      <a:accent6>
        <a:srgbClr val="4EA72E"/>
      </a:accent6>
      <a:hlink>
        <a:srgbClr val="467886"/>
      </a:hlink>
      <a:folHlink>
        <a:srgbClr val="96607D"/>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item1.xml><?xml version="1.0" encoding="utf-8"?>
<ct:contentTypeSchema xmlns:ct="http://schemas.microsoft.com/office/2006/metadata/contentType" xmlns:ma="http://schemas.microsoft.com/office/2006/metadata/properties/metaAttributes" ct:_="" ma:_="" ma:contentTypeName="Document" ma:contentTypeID="0x010100AC5A3D4F247C9741BCA78F26B98D0AB7" ma:contentTypeVersion="17" ma:contentTypeDescription="Create a new document." ma:contentTypeScope="" ma:versionID="9f09437d8d02a1e3f0770c32ba2175b3">
  <xsd:schema xmlns:xsd="http://www.w3.org/2001/XMLSchema" xmlns:xs="http://www.w3.org/2001/XMLSchema" xmlns:p="http://schemas.microsoft.com/office/2006/metadata/properties" xmlns:ns2="46846ff6-a39a-4f56-aca6-b2ea1af70d2e" xmlns:ns3="a8299878-b215-4b71-83d0-6b3d83d7e5d9" targetNamespace="http://schemas.microsoft.com/office/2006/metadata/properties" ma:root="true" ma:fieldsID="555cb06902e6186cbfcc866e1dbcbb82" ns2:_="" ns3:_="">
    <xsd:import namespace="46846ff6-a39a-4f56-aca6-b2ea1af70d2e"/>
    <xsd:import namespace="a8299878-b215-4b71-83d0-6b3d83d7e5d9"/>
    <xsd:element name="properties">
      <xsd:complexType>
        <xsd:sequence>
          <xsd:element name="documentManagement">
            <xsd:complexType>
              <xsd:all>
                <xsd:element ref="ns2:MediaServiceMetadata" minOccurs="0"/>
                <xsd:element ref="ns2:MediaServiceFastMetadata" minOccurs="0"/>
                <xsd:element ref="ns2:MediaServiceDateTaken" minOccurs="0"/>
                <xsd:element ref="ns2:MediaServiceAutoKeyPoints" minOccurs="0"/>
                <xsd:element ref="ns2:MediaServiceKeyPoints" minOccurs="0"/>
                <xsd:element ref="ns2:MediaServiceSearchProperties" minOccurs="0"/>
                <xsd:element ref="ns2:lcf76f155ced4ddcb4097134ff3c332f" minOccurs="0"/>
                <xsd:element ref="ns3:TaxCatchAll" minOccurs="0"/>
                <xsd:element ref="ns2:MediaServiceOCR" minOccurs="0"/>
                <xsd:element ref="ns2:MediaServiceGenerationTime" minOccurs="0"/>
                <xsd:element ref="ns2:MediaServiceEventHashCode" minOccurs="0"/>
                <xsd:element ref="ns3:SharedWithUsers" minOccurs="0"/>
                <xsd:element ref="ns3:SharedWithDetails" minOccurs="0"/>
                <xsd:element ref="ns2:MediaLengthInSeconds" minOccurs="0"/>
                <xsd:element ref="ns2:MediaServiceObjectDetectorVersions" minOccurs="0"/>
                <xsd:element ref="ns2:MediaServiceLocation" minOccurs="0"/>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46846ff6-a39a-4f56-aca6-b2ea1af70d2e" elementFormDefault="qualified">
    <xsd:import namespace="http://schemas.microsoft.com/office/2006/documentManagement/types"/>
    <xsd:import namespace="http://schemas.microsoft.com/office/infopath/2007/PartnerControls"/>
    <xsd:element name="MediaServiceMetadata" ma:index="8" nillable="true" ma:displayName="MediaServiceMetadata" ma:hidden="true" ma:internalName="MediaServiceMetadata" ma:readOnly="true">
      <xsd:simpleType>
        <xsd:restriction base="dms:Note"/>
      </xsd:simpleType>
    </xsd:element>
    <xsd:element name="MediaServiceFastMetadata" ma:index="9" nillable="true" ma:displayName="MediaServiceFastMetadata" ma:hidden="true" ma:internalName="MediaServiceFastMetadata" ma:readOnly="true">
      <xsd:simpleType>
        <xsd:restriction base="dms:Note"/>
      </xsd:simpleType>
    </xsd:element>
    <xsd:element name="MediaServiceDateTaken" ma:index="10" nillable="true" ma:displayName="MediaServiceDateTaken" ma:hidden="true" ma:internalName="MediaServiceDateTaken" ma:readOnly="true">
      <xsd:simpleType>
        <xsd:restriction base="dms:Text"/>
      </xsd:simpleType>
    </xsd:element>
    <xsd:element name="MediaServiceAutoKeyPoints" ma:index="11" nillable="true" ma:displayName="MediaServiceAutoKeyPoints" ma:hidden="true" ma:internalName="MediaServiceAutoKeyPoints" ma:readOnly="true">
      <xsd:simpleType>
        <xsd:restriction base="dms:Note"/>
      </xsd:simpleType>
    </xsd:element>
    <xsd:element name="MediaServiceKeyPoints" ma:index="12" nillable="true" ma:displayName="KeyPoints" ma:internalName="MediaServiceKeyPoints" ma:readOnly="true">
      <xsd:simpleType>
        <xsd:restriction base="dms:Note">
          <xsd:maxLength value="255"/>
        </xsd:restriction>
      </xsd:simpleType>
    </xsd:element>
    <xsd:element name="MediaServiceSearchProperties" ma:index="13" nillable="true" ma:displayName="MediaServiceSearchProperties" ma:hidden="true" ma:internalName="MediaServiceSearchProperties" ma:readOnly="true">
      <xsd:simpleType>
        <xsd:restriction base="dms:Note"/>
      </xsd:simpleType>
    </xsd:element>
    <xsd:element name="lcf76f155ced4ddcb4097134ff3c332f" ma:index="15" nillable="true" ma:taxonomy="true" ma:internalName="lcf76f155ced4ddcb4097134ff3c332f" ma:taxonomyFieldName="MediaServiceImageTags" ma:displayName="Image Tags" ma:readOnly="false" ma:fieldId="{5cf76f15-5ced-4ddc-b409-7134ff3c332f}" ma:taxonomyMulti="true" ma:sspId="94073e9b-c14b-4f43-8554-77a15894e206" ma:termSetId="09814cd3-568e-fe90-9814-8d621ff8fb84" ma:anchorId="fba54fb3-c3e1-fe81-a776-ca4b69148c4d" ma:open="true" ma:isKeyword="false">
      <xsd:complexType>
        <xsd:sequence>
          <xsd:element ref="pc:Terms" minOccurs="0" maxOccurs="1"/>
        </xsd:sequence>
      </xsd:complexType>
    </xsd:element>
    <xsd:element name="MediaServiceOCR" ma:index="17" nillable="true" ma:displayName="Extracted Text" ma:internalName="MediaServiceOCR" ma:readOnly="true">
      <xsd:simpleType>
        <xsd:restriction base="dms:Note">
          <xsd:maxLength value="255"/>
        </xsd:restriction>
      </xsd:simpleType>
    </xsd:element>
    <xsd:element name="MediaServiceGenerationTime" ma:index="18" nillable="true" ma:displayName="MediaServiceGenerationTime" ma:hidden="true" ma:internalName="MediaServiceGenerationTime" ma:readOnly="true">
      <xsd:simpleType>
        <xsd:restriction base="dms:Text"/>
      </xsd:simpleType>
    </xsd:element>
    <xsd:element name="MediaServiceEventHashCode" ma:index="19" nillable="true" ma:displayName="MediaServiceEventHashCode" ma:hidden="true" ma:internalName="MediaServiceEventHashCode" ma:readOnly="true">
      <xsd:simpleType>
        <xsd:restriction base="dms:Text"/>
      </xsd:simpleType>
    </xsd:element>
    <xsd:element name="MediaLengthInSeconds" ma:index="22" nillable="true" ma:displayName="MediaLengthInSeconds" ma:hidden="true" ma:internalName="MediaLengthInSeconds" ma:readOnly="true">
      <xsd:simpleType>
        <xsd:restriction base="dms:Unknown"/>
      </xsd:simpleType>
    </xsd:element>
    <xsd:element name="MediaServiceObjectDetectorVersions" ma:index="23" nillable="true" ma:displayName="MediaServiceObjectDetectorVersions" ma:hidden="true" ma:indexed="true" ma:internalName="MediaServiceObjectDetectorVersions" ma:readOnly="true">
      <xsd:simpleType>
        <xsd:restriction base="dms:Text"/>
      </xsd:simpleType>
    </xsd:element>
    <xsd:element name="MediaServiceLocation" ma:index="24" nillable="true" ma:displayName="Location" ma:indexed="true" ma:internalName="MediaServiceLocation" ma:readOnly="true">
      <xsd:simpleType>
        <xsd:restriction base="dms:Text"/>
      </xsd:simpleType>
    </xsd:element>
  </xsd:schema>
  <xsd:schema xmlns:xsd="http://www.w3.org/2001/XMLSchema" xmlns:xs="http://www.w3.org/2001/XMLSchema" xmlns:dms="http://schemas.microsoft.com/office/2006/documentManagement/types" xmlns:pc="http://schemas.microsoft.com/office/infopath/2007/PartnerControls" targetNamespace="a8299878-b215-4b71-83d0-6b3d83d7e5d9" elementFormDefault="qualified">
    <xsd:import namespace="http://schemas.microsoft.com/office/2006/documentManagement/types"/>
    <xsd:import namespace="http://schemas.microsoft.com/office/infopath/2007/PartnerControls"/>
    <xsd:element name="TaxCatchAll" ma:index="16" nillable="true" ma:displayName="Taxonomy Catch All Column" ma:hidden="true" ma:list="{19187b04-ede7-4ab0-a3a9-aa9f31dff0a7}" ma:internalName="TaxCatchAll" ma:showField="CatchAllData" ma:web="a8299878-b215-4b71-83d0-6b3d83d7e5d9">
      <xsd:complexType>
        <xsd:complexContent>
          <xsd:extension base="dms:MultiChoiceLookup">
            <xsd:sequence>
              <xsd:element name="Value" type="dms:Lookup" maxOccurs="unbounded" minOccurs="0" nillable="true"/>
            </xsd:sequence>
          </xsd:extension>
        </xsd:complexContent>
      </xsd:complexType>
    </xsd:element>
    <xsd:element name="SharedWithUsers" ma:index="20" nillable="true" ma:displayName="Shared With" ma:internalName="SharedWithUsers" ma:readOnly="true">
      <xsd:complexType>
        <xsd:complexContent>
          <xsd:extension base="dms:UserMulti">
            <xsd:sequence>
              <xsd:element name="UserInfo" minOccurs="0" maxOccurs="unbounded">
                <xsd:complexType>
                  <xsd:sequence>
                    <xsd:element name="DisplayName" type="xsd:string" minOccurs="0"/>
                    <xsd:element name="AccountId" type="dms:UserId" minOccurs="0" nillable="true"/>
                    <xsd:element name="AccountType" type="xsd:string" minOccurs="0"/>
                  </xsd:sequence>
                </xsd:complexType>
              </xsd:element>
            </xsd:sequence>
          </xsd:extension>
        </xsd:complexContent>
      </xsd:complexType>
    </xsd:element>
    <xsd:element name="SharedWithDetails" ma:index="21" nillable="true" ma:displayName="Shared With Details" ma:internalName="SharedWithDetails" ma:readOnly="true">
      <xsd:simpleType>
        <xsd:restriction base="dms:Note">
          <xsd:maxLength value="255"/>
        </xsd:restriction>
      </xsd:simple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index="0" ma:displayName="Content Type"/>
        <xsd:element ref="dc:title" minOccurs="0" maxOccurs="1" ma:index="4" ma:displayName="Title"/>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2.xml><?xml version="1.0" encoding="utf-8"?>
<?mso-contentType ?>
<FormTemplates xmlns="http://schemas.microsoft.com/sharepoint/v3/contenttype/forms">
  <Display>DocumentLibraryForm</Display>
  <Edit>DocumentLibraryForm</Edit>
  <New>DocumentLibraryForm</New>
</FormTemplates>
</file>

<file path=customXml/item3.xml><?xml version="1.0" encoding="utf-8"?>
<p:properties xmlns:p="http://schemas.microsoft.com/office/2006/metadata/properties" xmlns:xsi="http://www.w3.org/2001/XMLSchema-instance" xmlns:pc="http://schemas.microsoft.com/office/infopath/2007/PartnerControls">
  <documentManagement>
    <lcf76f155ced4ddcb4097134ff3c332f xmlns="46846ff6-a39a-4f56-aca6-b2ea1af70d2e">
      <Terms xmlns="http://schemas.microsoft.com/office/infopath/2007/PartnerControls"/>
    </lcf76f155ced4ddcb4097134ff3c332f>
    <TaxCatchAll xmlns="a8299878-b215-4b71-83d0-6b3d83d7e5d9" xsi:nil="true"/>
  </documentManagement>
</p:properties>
</file>

<file path=customXml/itemProps1.xml><?xml version="1.0" encoding="utf-8"?>
<ds:datastoreItem xmlns:ds="http://schemas.openxmlformats.org/officeDocument/2006/customXml" ds:itemID="{F1449379-CA4E-4868-A3FE-27BE030CE53C}"/>
</file>

<file path=customXml/itemProps2.xml><?xml version="1.0" encoding="utf-8"?>
<ds:datastoreItem xmlns:ds="http://schemas.openxmlformats.org/officeDocument/2006/customXml" ds:itemID="{A81767FD-DBD1-4B44-BD16-6D648AF62422}"/>
</file>

<file path=customXml/itemProps3.xml><?xml version="1.0" encoding="utf-8"?>
<ds:datastoreItem xmlns:ds="http://schemas.openxmlformats.org/officeDocument/2006/customXml" ds:itemID="{6E42DFF1-456C-4E46-B09B-DA84B1FD419E}"/>
</file>

<file path=docProps/app.xml><?xml version="1.0" encoding="utf-8"?>
<Properties xmlns="http://schemas.openxmlformats.org/officeDocument/2006/extended-properties" xmlns:vt="http://schemas.openxmlformats.org/officeDocument/2006/docPropsVTypes">
  <TotalTime>8</TotalTime>
  <Words>807</Words>
  <Application>Microsoft Office PowerPoint</Application>
  <PresentationFormat>On-screen Show (16:9)</PresentationFormat>
  <Paragraphs>57</Paragraphs>
  <Slides>5</Slides>
  <Notes>5</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5</vt:i4>
      </vt:variant>
    </vt:vector>
  </HeadingPairs>
  <TitlesOfParts>
    <vt:vector size="8" baseType="lpstr">
      <vt:lpstr>Aptos</vt:lpstr>
      <vt:lpstr>Arial</vt:lpstr>
      <vt:lpstr>Office Theme</vt:lpstr>
      <vt:lpstr>PowerPoint Presentation</vt:lpstr>
      <vt:lpstr>PowerPoint Presentation</vt:lpstr>
      <vt:lpstr>PowerPoint Presentation</vt:lpstr>
      <vt:lpstr>PowerPoint Presentation</vt:lpstr>
      <vt:lpstr>PowerPoint Presentation</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PptxGenJS Presentation</dc:title>
  <dc:subject>PptxGenJS Presentation</dc:subject>
  <dc:creator/>
  <cp:lastModifiedBy/>
  <cp:revision>3</cp:revision>
  <dcterms:created xsi:type="dcterms:W3CDTF">2026-08-14T04:38:46Z</dcterms:created>
  <dcterms:modified xsi:type="dcterms:W3CDTF">2026-10-05T05:37:09Z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ontentTypeId">
    <vt:lpwstr>0x010100AC5A3D4F247C9741BCA78F26B98D0AB7</vt:lpwstr>
  </property>
</Properties>
</file>