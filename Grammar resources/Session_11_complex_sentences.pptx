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6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2" r:id="rId4"/>
    <p:sldId id="258" r:id="rId5"/>
    <p:sldId id="259" r:id="rId6"/>
    <p:sldId id="263" r:id="rId7"/>
    <p:sldId id="264" r:id="rId8"/>
    <p:sldId id="260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65106"/>
    <a:srgbClr val="F2F7FC"/>
    <a:srgbClr val="FFF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6836" autoAdjust="0"/>
  </p:normalViewPr>
  <p:slideViewPr>
    <p:cSldViewPr snapToGrid="0" snapToObjects="1">
      <p:cViewPr varScale="1">
        <p:scale>
          <a:sx n="92" d="100"/>
          <a:sy n="92" d="100"/>
        </p:scale>
        <p:origin x="1114" y="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3200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POINT
Because, since, and as all express cause. They connect a claim to the reason for believing it. Without a causal conjunction, a claim is just an assertion. "Young people experience anxiety because social media distorts their body image" is an argument.
──
TIMING: 10 minutes total
Display + respond: 3–4 min  |  Reveal + model: 3–4 min  |  Teaching point discussion: 1–2 min  |  Exit task: 1–2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OTR SCRIPT — OPPORTUNITIES TO RESPOND
OTR — Choral completion
  "The conjunctions is _____ “
Choral composition:
Start with: "The ban is important ___" → students complete with because/since/as + a reason.
Turn and talk: “What would change if we swapped ‘because’ for ‘since’? What about ‘as’? Do they feel the same?"
Expected: "because" is most direct; "since" can imply prior knowledge; "as" is most formal.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EE7B2-2206-63DB-4C22-371F5DC3E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94ED63-624C-ED02-025A-D33633B33E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9A79CB-615F-C143-BB10-12848D71E8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1200" dirty="0">
                <a:solidFill>
                  <a:srgbClr val="212121"/>
                </a:solidFill>
                <a:latin typeface="Aptos" panose="020B0004020202020204" pitchFamily="34" charset="0"/>
              </a:rPr>
              <a:t>OTR SCRIPT — OPPORTUNITIES TO RESPOND
OTR — Choral completion
  “This is a new word: Without a conjunction, a claim is just an ___." → [</a:t>
            </a:r>
            <a:r>
              <a:rPr lang="en-AU" sz="1200" b="1" dirty="0">
                <a:solidFill>
                  <a:srgbClr val="212121"/>
                </a:solidFill>
                <a:latin typeface="Aptos" panose="020B0004020202020204" pitchFamily="34" charset="0"/>
              </a:rPr>
              <a:t>assertion</a:t>
            </a:r>
            <a:r>
              <a:rPr lang="en-AU" sz="1200" dirty="0">
                <a:solidFill>
                  <a:srgbClr val="212121"/>
                </a:solidFill>
                <a:latin typeface="Aptos" panose="020B0004020202020204" pitchFamily="34" charset="0"/>
              </a:rPr>
              <a:t>]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0E6C3F-1A49-F28B-E6CD-FB99899409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5985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Allow 3–4 minutes for all students to respond independently. Circulate and observe — do not correct or prompt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— TEACHER NOTES
1. Verb: experience  |  Who? Young people
   Text: Young people experience higher rates of anxiety because social media distorts their body image.   → Claim + because + reason
2. Verb: is  |  Who? The ban
   Text: The ban is necessary since teenagers cannot always make informed decisions about digital safety.   → Claim + since + reason
3. Verb: should be limited  |  Who? Screen time
   Text: Screen time should be limited, as research has shown it disrupts sleep patterns.   → Claim + as + evidence
──
For each sentence, after confirming the type:
  "What is the verb?" (point to colour coding)
  "Who is doing that?" (for declaratives/interrogatives)
  For imperatives: "Who is doing this? — It's implied: you, the reader."
If students disagree: "What would need to change to make it [other type]?"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D5B0B-7F41-3B49-179D-67D8F3A3C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A9E27D-E83B-F409-B087-04E7C44BC0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69A061-3E56-59E3-5644-CC04C3C366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— TEACHER NOTES
1. Verb: experience  |  Who? Young people
   Text: Young people experience higher rates of anxiety because social media distorts their body image.   → Claim + because + reason
2. Verb: is  |  Who? The ban
   Text: The ban is necessary since teenagers cannot always make informed decisions about digital safety.   → Claim + since + reason
3. Verb: should be limited  |  Who? Screen time
   Text: Screen time should be limited, as research has shown it disrupts sleep patterns.   → Claim + as + evidence
──
For each sentence, after confirming the type:
  "What is the verb?" (point to colour coding)
  "Who is doing that?" (for declaratives/interrogatives)
  For imperatives: "Who is doing this? — It's implied: you, the reader."
If students disagree: "What would need to change to make it [other type]?"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1DB3C-0C38-68F1-101B-4EB6DE4360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1130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4D82C-9F80-50C3-1B24-BC6D73BBD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C0955C-E32F-C259-777F-43C4956762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1C6806-C978-3AE1-CA7F-9CDF943DF1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— TEACHER NOTES
1. Verb: experience  |  Who? Young people
   Text: Young people experience higher rates of anxiety because social media distorts their body image.   → Claim + because + reason
2. Verb: is  |  Who? The ban
   Text: The ban is necessary since teenagers cannot always make informed decisions about digital safety.   → Claim + since + reason
3. Verb: should be limited  |  Who? Screen time
   Text: Screen time should be limited, as research has shown it disrupts sleep patterns.   → Claim + as + evidence
──
For each sentence, after confirming the type:
  "What is the verb?" (point to colour coding)
  "Who is doing that?" (for declaratives/interrogatives)
  For imperatives: "Who is doing this? — It's implied: you, the reader."
If students disagree: "What would need to change to make it [other type]?"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5A36FC-F3ED-2350-DC64-5914E3D617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9126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TASK — ANSWERS
1. 2 — Imperative  (verb-first: Think; "since" shows cause)
2. 3 — Interrogative
3. 1 — Declarative  (complex sentence; "as" = cause)
4. 4 — Exclamative
──
After sentence 3, ask: "Find the claim. Find the reason. What's the conjunction?"
Expected: claim = "Screen time should be limited"; reason = "it disrupts sleep patterns"; conjunction = "as".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C072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D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3 — Persuasive writing: argument and interrogative clauses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11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Complex sentences – cause and effect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D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intention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FFE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identify subordinating conjunctions that express cause and use them to connect claims to reasons.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90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05 — Writing a persuasive text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90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S11</a:t>
            </a:r>
            <a:endParaRPr lang="en-US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1C0438-7F0C-D44F-C67C-04174DC34E7E}"/>
              </a:ext>
            </a:extLst>
          </p:cNvPr>
          <p:cNvSpPr txBox="1"/>
          <p:nvPr/>
        </p:nvSpPr>
        <p:spPr>
          <a:xfrm>
            <a:off x="0" y="5372100"/>
            <a:ext cx="9144000" cy="12926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AU" sz="1050">
                <a:solidFill>
                  <a:srgbClr val="212121"/>
                </a:solidFill>
                <a:latin typeface="Aptos" panose="020B0004020202020204" pitchFamily="34" charset="0"/>
              </a:rPr>
              <a:t>TEACHING POINT
Because, since, and as all express cause. They connect a claim to the reason for believing it. Without a causal conjunction, a claim is just an assertion. "Young people experience anxiety because social media distorts their body image" is an argument.
──
TIMING: 10 minutes total
Display + respond: 3–4 min  |  Reveal + model: 3–4 min  |  Teaching point discussion: 1–2 min  |  Exit task: 1–2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need to know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322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</a:t>
            </a:r>
            <a:r>
              <a:rPr lang="en-US" sz="2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complex sentence</a:t>
            </a: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has </a:t>
            </a:r>
            <a:r>
              <a:rPr lang="en-US" sz="2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clauses </a:t>
            </a: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– a main clause and a supporting clause. </a:t>
            </a:r>
          </a:p>
          <a:p>
            <a:pPr marL="0" indent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joined by a </a:t>
            </a:r>
            <a:r>
              <a:rPr lang="en-US" sz="2200" b="1" u="sng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subordinating conjunction</a:t>
            </a:r>
            <a:r>
              <a:rPr lang="en-US" sz="2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 </a:t>
            </a:r>
            <a:endParaRPr lang="en-US" sz="2200" b="1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S11</a:t>
            </a:r>
            <a:endParaRPr lang="en-US" sz="1100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42BF1DF-7C48-03BC-10A8-80B6E3F263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86725" y="252603"/>
            <a:ext cx="600075" cy="600075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596AB3A-DA12-8BEF-543B-E863119B3E08}"/>
              </a:ext>
            </a:extLst>
          </p:cNvPr>
          <p:cNvGrpSpPr/>
          <p:nvPr/>
        </p:nvGrpSpPr>
        <p:grpSpPr>
          <a:xfrm>
            <a:off x="552029" y="2918971"/>
            <a:ext cx="8039942" cy="814192"/>
            <a:chOff x="538618" y="3776284"/>
            <a:chExt cx="8039942" cy="814192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C088348A-3782-5263-4526-713D273BEECD}"/>
                </a:ext>
              </a:extLst>
            </p:cNvPr>
            <p:cNvSpPr/>
            <p:nvPr/>
          </p:nvSpPr>
          <p:spPr>
            <a:xfrm>
              <a:off x="538618" y="3776284"/>
              <a:ext cx="2931413" cy="814192"/>
            </a:xfrm>
            <a:prstGeom prst="roundRect">
              <a:avLst/>
            </a:prstGeom>
            <a:solidFill>
              <a:srgbClr val="FFFFEF"/>
            </a:solidFill>
            <a:ln>
              <a:solidFill>
                <a:srgbClr val="B6510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2000" b="1" dirty="0">
                  <a:solidFill>
                    <a:schemeClr val="accent1"/>
                  </a:solidFill>
                </a:rPr>
                <a:t>social media </a:t>
              </a:r>
              <a:r>
                <a:rPr lang="en-AU" sz="2000" b="1" i="1" dirty="0">
                  <a:solidFill>
                    <a:schemeClr val="accent2">
                      <a:lumMod val="75000"/>
                    </a:schemeClr>
                  </a:solidFill>
                </a:rPr>
                <a:t>should be banned</a:t>
              </a:r>
              <a:r>
                <a:rPr lang="en-AU" sz="2000" dirty="0">
                  <a:solidFill>
                    <a:schemeClr val="tx1"/>
                  </a:solidFill>
                </a:rPr>
                <a:t> for young people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AEDF1DC0-BAAA-C9A6-23F1-4B59BEC58A3D}"/>
                </a:ext>
              </a:extLst>
            </p:cNvPr>
            <p:cNvSpPr/>
            <p:nvPr/>
          </p:nvSpPr>
          <p:spPr>
            <a:xfrm>
              <a:off x="5647147" y="3776284"/>
              <a:ext cx="2931413" cy="814192"/>
            </a:xfrm>
            <a:prstGeom prst="roundRect">
              <a:avLst/>
            </a:prstGeom>
            <a:solidFill>
              <a:srgbClr val="FFFFEF"/>
            </a:solidFill>
            <a:ln>
              <a:solidFill>
                <a:srgbClr val="B6510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2000" b="1" dirty="0">
                  <a:solidFill>
                    <a:schemeClr val="accent1"/>
                  </a:solidFill>
                </a:rPr>
                <a:t>it</a:t>
              </a:r>
              <a:r>
                <a:rPr lang="en-AU" sz="2000" dirty="0">
                  <a:solidFill>
                    <a:schemeClr val="accent1"/>
                  </a:solidFill>
                </a:rPr>
                <a:t> </a:t>
              </a:r>
              <a:r>
                <a:rPr lang="en-AU" sz="2000" b="1" i="1" dirty="0">
                  <a:solidFill>
                    <a:schemeClr val="accent2">
                      <a:lumMod val="75000"/>
                    </a:schemeClr>
                  </a:solidFill>
                </a:rPr>
                <a:t>has</a:t>
              </a:r>
              <a:r>
                <a:rPr lang="en-AU" sz="2000" dirty="0">
                  <a:solidFill>
                    <a:schemeClr val="tx1"/>
                  </a:solidFill>
                </a:rPr>
                <a:t> a negative impact on mental health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E248DDBB-CA94-A458-D8B2-3386A57CC965}"/>
                </a:ext>
              </a:extLst>
            </p:cNvPr>
            <p:cNvSpPr/>
            <p:nvPr/>
          </p:nvSpPr>
          <p:spPr>
            <a:xfrm>
              <a:off x="3977975" y="3949239"/>
              <a:ext cx="1161228" cy="468281"/>
            </a:xfrm>
            <a:prstGeom prst="roundRect">
              <a:avLst/>
            </a:prstGeom>
            <a:solidFill>
              <a:srgbClr val="F2F7FC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2000" b="1" u="sng" dirty="0">
                  <a:solidFill>
                    <a:schemeClr val="tx1"/>
                  </a:solidFill>
                </a:rPr>
                <a:t>because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F266F1A-4886-C321-036F-11E660109133}"/>
              </a:ext>
            </a:extLst>
          </p:cNvPr>
          <p:cNvGrpSpPr/>
          <p:nvPr/>
        </p:nvGrpSpPr>
        <p:grpSpPr>
          <a:xfrm>
            <a:off x="1300939" y="3921395"/>
            <a:ext cx="6785786" cy="369332"/>
            <a:chOff x="1300939" y="3282422"/>
            <a:chExt cx="6785786" cy="36933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321909F-1485-333E-DBE7-CD70EDD9A78B}"/>
                </a:ext>
              </a:extLst>
            </p:cNvPr>
            <p:cNvSpPr txBox="1"/>
            <p:nvPr/>
          </p:nvSpPr>
          <p:spPr>
            <a:xfrm>
              <a:off x="1300939" y="3282422"/>
              <a:ext cx="14067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b="1" dirty="0">
                  <a:solidFill>
                    <a:schemeClr val="accent3">
                      <a:lumMod val="75000"/>
                    </a:schemeClr>
                  </a:solidFill>
                </a:rPr>
                <a:t>Main clause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FEE2440-8DDF-78D9-B738-C16CF8E04A64}"/>
                </a:ext>
              </a:extLst>
            </p:cNvPr>
            <p:cNvSpPr txBox="1"/>
            <p:nvPr/>
          </p:nvSpPr>
          <p:spPr>
            <a:xfrm>
              <a:off x="3868615" y="3282422"/>
              <a:ext cx="14067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b="1" dirty="0">
                  <a:solidFill>
                    <a:schemeClr val="accent3">
                      <a:lumMod val="75000"/>
                    </a:schemeClr>
                  </a:solidFill>
                </a:rPr>
                <a:t>conjunction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3C07127-5AB6-4E7C-0110-F4150B27882F}"/>
                </a:ext>
              </a:extLst>
            </p:cNvPr>
            <p:cNvSpPr txBox="1"/>
            <p:nvPr/>
          </p:nvSpPr>
          <p:spPr>
            <a:xfrm>
              <a:off x="6175019" y="3282422"/>
              <a:ext cx="19117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b="1" dirty="0">
                  <a:solidFill>
                    <a:schemeClr val="accent3">
                      <a:lumMod val="75000"/>
                    </a:schemeClr>
                  </a:solidFill>
                </a:rPr>
                <a:t>Supporting clause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39AA1-B48C-404D-0424-E3A470C98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32C2BBD-B980-AE84-4B51-608532F43901}"/>
              </a:ext>
            </a:extLst>
          </p:cNvPr>
          <p:cNvSpPr/>
          <p:nvPr/>
        </p:nvSpPr>
        <p:spPr>
          <a:xfrm>
            <a:off x="457200" y="1828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need to know</a:t>
            </a:r>
            <a:endParaRPr lang="en-US" sz="2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C0002E1-486E-885B-4DF7-29DAE3001B97}"/>
              </a:ext>
            </a:extLst>
          </p:cNvPr>
          <p:cNvSpPr/>
          <p:nvPr/>
        </p:nvSpPr>
        <p:spPr>
          <a:xfrm>
            <a:off x="457200" y="685800"/>
            <a:ext cx="8229600" cy="13247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this sentence, how does the supporting clause help?</a:t>
            </a:r>
          </a:p>
          <a:p>
            <a:pPr marL="0" indent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</a:rPr>
              <a:t>What does it </a:t>
            </a:r>
            <a:r>
              <a:rPr lang="en-US" sz="2200" b="1" dirty="0">
                <a:solidFill>
                  <a:srgbClr val="000000"/>
                </a:solidFill>
                <a:latin typeface="Aptos" pitchFamily="34" charset="0"/>
              </a:rPr>
              <a:t>add</a:t>
            </a:r>
            <a:r>
              <a:rPr lang="en-US" sz="2200" dirty="0">
                <a:solidFill>
                  <a:srgbClr val="000000"/>
                </a:solidFill>
                <a:latin typeface="Aptos" pitchFamily="34" charset="0"/>
              </a:rPr>
              <a:t> to the main clause?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001BF0D-15AF-51C3-8592-751A7A734A20}"/>
              </a:ext>
            </a:extLst>
          </p:cNvPr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S11</a:t>
            </a:r>
            <a:endParaRPr lang="en-US" sz="11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F95AC41-540C-B788-91E3-32C2A6580DDE}"/>
              </a:ext>
            </a:extLst>
          </p:cNvPr>
          <p:cNvGrpSpPr/>
          <p:nvPr/>
        </p:nvGrpSpPr>
        <p:grpSpPr>
          <a:xfrm>
            <a:off x="552029" y="2165049"/>
            <a:ext cx="8039942" cy="814192"/>
            <a:chOff x="538618" y="3776284"/>
            <a:chExt cx="8039942" cy="814192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FD44BE28-403A-577F-50DD-09E825FA0975}"/>
                </a:ext>
              </a:extLst>
            </p:cNvPr>
            <p:cNvSpPr/>
            <p:nvPr/>
          </p:nvSpPr>
          <p:spPr>
            <a:xfrm>
              <a:off x="538618" y="3776284"/>
              <a:ext cx="2931413" cy="814192"/>
            </a:xfrm>
            <a:prstGeom prst="roundRect">
              <a:avLst/>
            </a:prstGeom>
            <a:solidFill>
              <a:srgbClr val="FFFFEF"/>
            </a:solidFill>
            <a:ln>
              <a:solidFill>
                <a:srgbClr val="B6510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2000" b="1" dirty="0">
                  <a:solidFill>
                    <a:schemeClr val="accent1"/>
                  </a:solidFill>
                </a:rPr>
                <a:t>social media </a:t>
              </a:r>
              <a:r>
                <a:rPr lang="en-AU" sz="2000" b="1" i="1" dirty="0">
                  <a:solidFill>
                    <a:schemeClr val="accent2">
                      <a:lumMod val="75000"/>
                    </a:schemeClr>
                  </a:solidFill>
                </a:rPr>
                <a:t>should be banned</a:t>
              </a:r>
              <a:r>
                <a:rPr lang="en-AU" sz="2000" dirty="0">
                  <a:solidFill>
                    <a:schemeClr val="tx1"/>
                  </a:solidFill>
                </a:rPr>
                <a:t> for young people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63BAE242-CEC0-34D5-2B40-C553BA6C5EAE}"/>
                </a:ext>
              </a:extLst>
            </p:cNvPr>
            <p:cNvSpPr/>
            <p:nvPr/>
          </p:nvSpPr>
          <p:spPr>
            <a:xfrm>
              <a:off x="5647147" y="3776284"/>
              <a:ext cx="2931413" cy="814192"/>
            </a:xfrm>
            <a:prstGeom prst="roundRect">
              <a:avLst/>
            </a:prstGeom>
            <a:solidFill>
              <a:srgbClr val="FFFFEF"/>
            </a:solidFill>
            <a:ln>
              <a:solidFill>
                <a:srgbClr val="B6510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2000" b="1" dirty="0">
                  <a:solidFill>
                    <a:schemeClr val="accent1"/>
                  </a:solidFill>
                </a:rPr>
                <a:t>it</a:t>
              </a:r>
              <a:r>
                <a:rPr lang="en-AU" sz="2000" dirty="0">
                  <a:solidFill>
                    <a:schemeClr val="accent1"/>
                  </a:solidFill>
                </a:rPr>
                <a:t> </a:t>
              </a:r>
              <a:r>
                <a:rPr lang="en-AU" sz="2000" b="1" i="1" dirty="0">
                  <a:solidFill>
                    <a:schemeClr val="accent2">
                      <a:lumMod val="75000"/>
                    </a:schemeClr>
                  </a:solidFill>
                </a:rPr>
                <a:t>has</a:t>
              </a:r>
              <a:r>
                <a:rPr lang="en-AU" sz="2000" dirty="0">
                  <a:solidFill>
                    <a:schemeClr val="tx1"/>
                  </a:solidFill>
                </a:rPr>
                <a:t> a negative impact on mental health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AF9FE55C-5985-E56F-1550-F7F7D906AC3B}"/>
                </a:ext>
              </a:extLst>
            </p:cNvPr>
            <p:cNvSpPr/>
            <p:nvPr/>
          </p:nvSpPr>
          <p:spPr>
            <a:xfrm>
              <a:off x="3977975" y="3949239"/>
              <a:ext cx="1161228" cy="468281"/>
            </a:xfrm>
            <a:prstGeom prst="roundRect">
              <a:avLst/>
            </a:prstGeom>
            <a:solidFill>
              <a:srgbClr val="F2F7FC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2000" b="1" u="sng" dirty="0">
                  <a:solidFill>
                    <a:schemeClr val="tx1"/>
                  </a:solidFill>
                </a:rPr>
                <a:t>because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D1CEFDF-5FED-0CFE-5A19-C9A6B58A6E7D}"/>
              </a:ext>
            </a:extLst>
          </p:cNvPr>
          <p:cNvGrpSpPr/>
          <p:nvPr/>
        </p:nvGrpSpPr>
        <p:grpSpPr>
          <a:xfrm>
            <a:off x="1300939" y="3167473"/>
            <a:ext cx="6785786" cy="369332"/>
            <a:chOff x="1300939" y="3282422"/>
            <a:chExt cx="6785786" cy="36933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6A7DB26-80FF-D573-95A5-0F22C86E9AE4}"/>
                </a:ext>
              </a:extLst>
            </p:cNvPr>
            <p:cNvSpPr txBox="1"/>
            <p:nvPr/>
          </p:nvSpPr>
          <p:spPr>
            <a:xfrm>
              <a:off x="1300939" y="3282422"/>
              <a:ext cx="14067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b="1" dirty="0">
                  <a:solidFill>
                    <a:schemeClr val="accent3">
                      <a:lumMod val="75000"/>
                    </a:schemeClr>
                  </a:solidFill>
                </a:rPr>
                <a:t>Main clause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CC5E553-2FA7-7AEA-1FB3-1EF6D7E5EF75}"/>
                </a:ext>
              </a:extLst>
            </p:cNvPr>
            <p:cNvSpPr txBox="1"/>
            <p:nvPr/>
          </p:nvSpPr>
          <p:spPr>
            <a:xfrm>
              <a:off x="3868615" y="3282422"/>
              <a:ext cx="14067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b="1" dirty="0">
                  <a:solidFill>
                    <a:schemeClr val="accent3">
                      <a:lumMod val="75000"/>
                    </a:schemeClr>
                  </a:solidFill>
                </a:rPr>
                <a:t>conjunction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B4A9AEE-8405-466B-A59B-38ED1F31C7BD}"/>
                </a:ext>
              </a:extLst>
            </p:cNvPr>
            <p:cNvSpPr txBox="1"/>
            <p:nvPr/>
          </p:nvSpPr>
          <p:spPr>
            <a:xfrm>
              <a:off x="6175019" y="3282422"/>
              <a:ext cx="19117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b="1" dirty="0">
                  <a:solidFill>
                    <a:schemeClr val="accent3">
                      <a:lumMod val="75000"/>
                    </a:schemeClr>
                  </a:solidFill>
                </a:rPr>
                <a:t>Supporting clause</a:t>
              </a:r>
            </a:p>
          </p:txBody>
        </p:sp>
      </p:grpSp>
      <p:pic>
        <p:nvPicPr>
          <p:cNvPr id="6" name="Graphic 5">
            <a:extLst>
              <a:ext uri="{FF2B5EF4-FFF2-40B4-BE49-F238E27FC236}">
                <a16:creationId xmlns:a16="http://schemas.microsoft.com/office/drawing/2014/main" id="{734C9EC9-1A93-85D1-FBD2-40875E5EC4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82494" y="182879"/>
            <a:ext cx="609600" cy="6096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74ADB9F-C05C-A701-BCFF-70A6CB1262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77125" y="200405"/>
            <a:ext cx="609600" cy="609600"/>
          </a:xfrm>
          <a:prstGeom prst="rect">
            <a:avLst/>
          </a:prstGeom>
        </p:spPr>
      </p:pic>
      <p:sp>
        <p:nvSpPr>
          <p:cNvPr id="13" name="Text 1">
            <a:extLst>
              <a:ext uri="{FF2B5EF4-FFF2-40B4-BE49-F238E27FC236}">
                <a16:creationId xmlns:a16="http://schemas.microsoft.com/office/drawing/2014/main" id="{9326DA8D-81FF-C8F5-F0E5-50D16730D598}"/>
              </a:ext>
            </a:extLst>
          </p:cNvPr>
          <p:cNvSpPr/>
          <p:nvPr/>
        </p:nvSpPr>
        <p:spPr>
          <a:xfrm>
            <a:off x="457200" y="3512165"/>
            <a:ext cx="8229600" cy="13247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a persuasive text, the main clause is a </a:t>
            </a:r>
            <a:r>
              <a:rPr lang="en-US" sz="2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</a:t>
            </a: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and the supporting clause is a </a:t>
            </a:r>
            <a:r>
              <a:rPr lang="en-US" sz="2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</a:t>
            </a: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pPr marL="0" indent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</a:rPr>
              <a:t>A claim without reason isn’t very persuasive. It’s just an </a:t>
            </a:r>
            <a:r>
              <a:rPr lang="en-US" sz="2200" b="1" dirty="0">
                <a:solidFill>
                  <a:srgbClr val="000000"/>
                </a:solidFill>
                <a:latin typeface="Aptos" pitchFamily="34" charset="0"/>
              </a:rPr>
              <a:t>assertion.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502455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Display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09956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the </a:t>
            </a:r>
            <a:r>
              <a:rPr lang="en-US" sz="1700" i="1" u="sng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conjunction</a:t>
            </a:r>
            <a:r>
              <a:rPr lang="en-US" sz="1700" i="1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and the two clauses. Which is the claim? Which is the reason?</a:t>
            </a:r>
            <a:endParaRPr lang="en-US" sz="17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687484"/>
            <a:ext cx="8229600" cy="3291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Young people experience higher rates of anxiety because social media distorts their body image.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ban is necessary since teenagers cannot always make informed decisions about digital safety.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 time should be limited, as it has been shown to disrupt sleep patterns.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students respond — 3–4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S11</a:t>
            </a:r>
            <a:endParaRPr 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66174F-B406-2534-E5F3-EB54520C0E31}"/>
              </a:ext>
            </a:extLst>
          </p:cNvPr>
          <p:cNvSpPr txBox="1"/>
          <p:nvPr/>
        </p:nvSpPr>
        <p:spPr>
          <a:xfrm>
            <a:off x="0" y="5372100"/>
            <a:ext cx="9144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AU" sz="1050">
                <a:solidFill>
                  <a:srgbClr val="212121"/>
                </a:solidFill>
                <a:latin typeface="Aptos" panose="020B0004020202020204" pitchFamily="34" charset="0"/>
              </a:rPr>
              <a:t>Allow 3–4 minutes for all students to respond independently. Circulate and observe — do not correct or prompt yet.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DC3E2AA-6F5E-D634-885F-44EDE2BFC3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02880" y="207264"/>
            <a:ext cx="609600" cy="6096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D568533-E8C1-EA37-4014-AB2ABDCD95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35091" y="207264"/>
            <a:ext cx="6096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Reveal and model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216489"/>
            <a:ext cx="8229600" cy="8312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Young people </a:t>
            </a:r>
            <a:r>
              <a:rPr lang="en-US" sz="2800" b="1" i="1" dirty="0">
                <a:solidFill>
                  <a:schemeClr val="accent2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experience</a:t>
            </a:r>
            <a:r>
              <a:rPr lang="en-US" sz="28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rates of anxiety </a:t>
            </a:r>
            <a:r>
              <a:rPr lang="en-US" sz="2800" u="sng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because</a:t>
            </a:r>
            <a:r>
              <a:rPr lang="en-US" sz="2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800" b="1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</a:t>
            </a:r>
            <a:r>
              <a:rPr lang="en-US" sz="2800" b="1" i="1" dirty="0">
                <a:solidFill>
                  <a:schemeClr val="accent2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distorts</a:t>
            </a:r>
            <a:r>
              <a:rPr lang="en-US" sz="2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their body image.</a:t>
            </a:r>
            <a:r>
              <a:rPr lang="en-US" sz="28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24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 </a:t>
            </a:r>
            <a:r>
              <a:rPr lang="en-US" sz="1100" b="1" i="1" dirty="0">
                <a:solidFill>
                  <a:srgbClr val="0F6E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Verb </a:t>
            </a:r>
            <a:r>
              <a:rPr lang="en-US" sz="1100" b="1" dirty="0">
                <a:solidFill>
                  <a:srgbClr val="1F5F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Prep phrase </a:t>
            </a:r>
            <a:r>
              <a:rPr lang="en-US" sz="11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</a:t>
            </a:r>
            <a:r>
              <a:rPr lang="en-US" sz="1100" b="1" u="sng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Conjunction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S11</a:t>
            </a:r>
            <a:endParaRPr lang="en-US" sz="11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8B17AD-7545-9969-4D16-8FEE1010A34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138754" y="88560"/>
            <a:ext cx="766741" cy="7667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2A5393-7AD4-205C-740E-168A7B26EDB3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8143841" y="128694"/>
            <a:ext cx="652008" cy="6520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D44B342-1905-E3D6-87E9-6EA7136E4267}"/>
              </a:ext>
            </a:extLst>
          </p:cNvPr>
          <p:cNvSpPr txBox="1"/>
          <p:nvPr/>
        </p:nvSpPr>
        <p:spPr>
          <a:xfrm>
            <a:off x="0" y="5372100"/>
            <a:ext cx="9144000" cy="258532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AU" sz="1050">
                <a:solidFill>
                  <a:srgbClr val="212121"/>
                </a:solidFill>
                <a:latin typeface="Aptos" panose="020B0004020202020204" pitchFamily="34" charset="0"/>
              </a:rPr>
              <a:t>REVEAL — TEACHER NOTES
1. Verb: experience  |  Who? Young people
   Text: Young people experience higher rates of anxiety because social media distorts their body image.   → Claim + because + reason
2. Verb: is  |  Who? The ban
   Text: The ban is necessary since teenagers cannot always make informed decisions about digital safety.   → Claim + since + reason
3. Verb: should be limited  |  Who? Screen time
   Text: Screen time should be limited, as research has shown it disrupts sleep patterns.   → Claim + as + evidence
──
For each sentence, after confirming the type:
  "What is the verb?" (point to colour coding)
  "Who is doing that?" (for declaratives/interrogatives)
  For imperatives: "Who is doing this? — It's implied: you, the reader."
If students disagree: "What would need to change to make it [other type]?"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8D0458-2605-65F5-389B-74AF256435C1}"/>
              </a:ext>
            </a:extLst>
          </p:cNvPr>
          <p:cNvSpPr txBox="1"/>
          <p:nvPr/>
        </p:nvSpPr>
        <p:spPr>
          <a:xfrm>
            <a:off x="211975" y="2617530"/>
            <a:ext cx="4210396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7188">
              <a:spcAft>
                <a:spcPts val="1200"/>
              </a:spcAft>
              <a:buNone/>
            </a:pPr>
            <a:r>
              <a:rPr lang="en-US" sz="24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What’s the conjunction?</a:t>
            </a:r>
          </a:p>
          <a:p>
            <a:pPr marL="357188">
              <a:spcAft>
                <a:spcPts val="1200"/>
              </a:spcAft>
              <a:buNone/>
            </a:pPr>
            <a:r>
              <a:rPr lang="en-US" sz="2400" i="1" dirty="0">
                <a:solidFill>
                  <a:srgbClr val="888888"/>
                </a:solidFill>
                <a:latin typeface="Aptos" pitchFamily="34" charset="0"/>
              </a:rPr>
              <a:t>Which clause is the claim?</a:t>
            </a:r>
          </a:p>
          <a:p>
            <a:pPr marL="357188">
              <a:spcAft>
                <a:spcPts val="1200"/>
              </a:spcAft>
              <a:buNone/>
            </a:pPr>
            <a:r>
              <a:rPr lang="en-US" sz="2400" i="1" dirty="0">
                <a:solidFill>
                  <a:srgbClr val="888888"/>
                </a:solidFill>
                <a:latin typeface="Aptos" pitchFamily="34" charset="0"/>
              </a:rPr>
              <a:t>Which is the reason?</a:t>
            </a: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4A8800-0E3D-010E-79BF-D0900103BD2F}"/>
              </a:ext>
            </a:extLst>
          </p:cNvPr>
          <p:cNvSpPr txBox="1"/>
          <p:nvPr/>
        </p:nvSpPr>
        <p:spPr>
          <a:xfrm>
            <a:off x="4476404" y="2576416"/>
            <a:ext cx="4210396" cy="1528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lang="en-US" sz="2000" u="sng" dirty="0"/>
              <a:t>Because</a:t>
            </a:r>
            <a:endParaRPr lang="en-US" sz="2000" dirty="0"/>
          </a:p>
          <a:p>
            <a:pPr>
              <a:spcAft>
                <a:spcPts val="800"/>
              </a:spcAft>
              <a:buNone/>
            </a:pPr>
            <a:r>
              <a:rPr lang="en-US" sz="2000" dirty="0"/>
              <a:t>young people experience higher rates of anxiety</a:t>
            </a:r>
          </a:p>
          <a:p>
            <a:pPr>
              <a:spcAft>
                <a:spcPts val="800"/>
              </a:spcAft>
              <a:buNone/>
            </a:pPr>
            <a:r>
              <a:rPr lang="en-US" sz="2000" dirty="0"/>
              <a:t>social media distorts their body image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F32C1-29F0-D721-B12D-1E3F1CBD7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41A48C3-C77D-F856-94CE-91A028CFE582}"/>
              </a:ext>
            </a:extLst>
          </p:cNvPr>
          <p:cNvSpPr/>
          <p:nvPr/>
        </p:nvSpPr>
        <p:spPr>
          <a:xfrm>
            <a:off x="457200" y="1371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Reveal and model</a:t>
            </a:r>
            <a:endParaRPr lang="en-US" sz="2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9944942-DF75-FC1C-0BB6-9572018F6CAB}"/>
              </a:ext>
            </a:extLst>
          </p:cNvPr>
          <p:cNvSpPr/>
          <p:nvPr/>
        </p:nvSpPr>
        <p:spPr>
          <a:xfrm>
            <a:off x="457200" y="1038460"/>
            <a:ext cx="8229600" cy="13722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u="sng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Since</a:t>
            </a:r>
            <a:r>
              <a:rPr lang="en-US" sz="2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800" b="1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teenagers</a:t>
            </a:r>
            <a:r>
              <a:rPr lang="en-US" sz="28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800" b="1" i="1" dirty="0">
                <a:solidFill>
                  <a:schemeClr val="accent2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cannot always make </a:t>
            </a:r>
            <a:r>
              <a:rPr lang="en-US" sz="2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informed decisions about digital safety, </a:t>
            </a:r>
            <a:r>
              <a:rPr lang="en-US" sz="2800" b="1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social media ban </a:t>
            </a:r>
            <a:r>
              <a:rPr lang="en-US" sz="2800" b="1" i="1" dirty="0">
                <a:solidFill>
                  <a:schemeClr val="accent2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</a:t>
            </a:r>
            <a:r>
              <a:rPr lang="en-US" sz="28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necessary 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22C2717-C0BA-4704-2F80-2EF841FB3BC5}"/>
              </a:ext>
            </a:extLst>
          </p:cNvPr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24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 </a:t>
            </a:r>
            <a:r>
              <a:rPr lang="en-US" sz="1100" b="1" i="1" dirty="0">
                <a:solidFill>
                  <a:srgbClr val="0F6E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Verb </a:t>
            </a:r>
            <a:r>
              <a:rPr lang="en-US" sz="1100" b="1" dirty="0">
                <a:solidFill>
                  <a:srgbClr val="1F5F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Prep phrase </a:t>
            </a:r>
            <a:r>
              <a:rPr lang="en-US" sz="11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</a:t>
            </a:r>
            <a:r>
              <a:rPr lang="en-US" sz="1100" b="1" u="sng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Conjunction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31597CC-A340-F538-9983-7CB1C0C29A7B}"/>
              </a:ext>
            </a:extLst>
          </p:cNvPr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S11</a:t>
            </a:r>
            <a:endParaRPr lang="en-US" sz="11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138549-60CA-247E-4EBE-1CB768D4B9A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138754" y="88560"/>
            <a:ext cx="766741" cy="7667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8D9537-CFBE-15E3-B16A-E83A2432A8CD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8143841" y="128694"/>
            <a:ext cx="652008" cy="6520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D00165D-E90A-DBC9-7EE7-75A7898C5102}"/>
              </a:ext>
            </a:extLst>
          </p:cNvPr>
          <p:cNvSpPr txBox="1"/>
          <p:nvPr/>
        </p:nvSpPr>
        <p:spPr>
          <a:xfrm>
            <a:off x="0" y="5372100"/>
            <a:ext cx="9144000" cy="258532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AU" sz="1050">
                <a:solidFill>
                  <a:srgbClr val="212121"/>
                </a:solidFill>
                <a:latin typeface="Aptos" panose="020B0004020202020204" pitchFamily="34" charset="0"/>
              </a:rPr>
              <a:t>REVEAL — TEACHER NOTES
1. Verb: experience  |  Who? Young people
   Text: Young people experience higher rates of anxiety because social media distorts their body image.   → Claim + because + reason
2. Verb: is  |  Who? The ban
   Text: The ban is necessary since teenagers cannot always make informed decisions about digital safety.   → Claim + since + reason
3. Verb: should be limited  |  Who? Screen time
   Text: Screen time should be limited, as research has shown it disrupts sleep patterns.   → Claim + as + evidence
──
For each sentence, after confirming the type:
  "What is the verb?" (point to colour coding)
  "Who is doing that?" (for declaratives/interrogatives)
  For imperatives: "Who is doing this? — It's implied: you, the reader."
If students disagree: "What would need to change to make it [other type]?"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C1EC12-491F-BE40-CD42-6897446FEBDB}"/>
              </a:ext>
            </a:extLst>
          </p:cNvPr>
          <p:cNvSpPr txBox="1"/>
          <p:nvPr/>
        </p:nvSpPr>
        <p:spPr>
          <a:xfrm>
            <a:off x="211975" y="2617530"/>
            <a:ext cx="4210396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7188">
              <a:spcAft>
                <a:spcPts val="1200"/>
              </a:spcAft>
              <a:buNone/>
            </a:pPr>
            <a:r>
              <a:rPr lang="en-US" sz="24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What’s the conjunction?</a:t>
            </a:r>
          </a:p>
          <a:p>
            <a:pPr marL="357188">
              <a:spcAft>
                <a:spcPts val="1200"/>
              </a:spcAft>
              <a:buNone/>
            </a:pPr>
            <a:r>
              <a:rPr lang="en-US" sz="2400" i="1" dirty="0">
                <a:solidFill>
                  <a:srgbClr val="888888"/>
                </a:solidFill>
                <a:latin typeface="Aptos" pitchFamily="34" charset="0"/>
              </a:rPr>
              <a:t>Which clause is the claim?</a:t>
            </a:r>
          </a:p>
          <a:p>
            <a:pPr marL="357188">
              <a:spcAft>
                <a:spcPts val="1200"/>
              </a:spcAft>
              <a:buNone/>
            </a:pPr>
            <a:r>
              <a:rPr lang="en-US" sz="2400" i="1" dirty="0">
                <a:solidFill>
                  <a:srgbClr val="888888"/>
                </a:solidFill>
                <a:latin typeface="Aptos" pitchFamily="34" charset="0"/>
              </a:rPr>
              <a:t>Which is the reason?</a:t>
            </a: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711F45-A21B-07A9-695F-A0D030213144}"/>
              </a:ext>
            </a:extLst>
          </p:cNvPr>
          <p:cNvSpPr txBox="1"/>
          <p:nvPr/>
        </p:nvSpPr>
        <p:spPr>
          <a:xfrm>
            <a:off x="4476404" y="2576416"/>
            <a:ext cx="4210396" cy="1528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lang="en-US" sz="2000" u="sng" dirty="0"/>
              <a:t>since</a:t>
            </a:r>
            <a:endParaRPr lang="en-US" sz="2000" dirty="0"/>
          </a:p>
          <a:p>
            <a:pPr>
              <a:spcAft>
                <a:spcPts val="800"/>
              </a:spcAft>
              <a:buNone/>
            </a:pPr>
            <a:r>
              <a:rPr lang="en-US" sz="2000" dirty="0"/>
              <a:t>a social media ban is necessary</a:t>
            </a:r>
          </a:p>
          <a:p>
            <a:pPr>
              <a:spcAft>
                <a:spcPts val="800"/>
              </a:spcAft>
              <a:buNone/>
            </a:pPr>
            <a:r>
              <a:rPr lang="en-US" sz="2000" dirty="0"/>
              <a:t>teenagers can’t always make informed decisions</a:t>
            </a:r>
          </a:p>
        </p:txBody>
      </p:sp>
    </p:spTree>
    <p:extLst>
      <p:ext uri="{BB962C8B-B14F-4D97-AF65-F5344CB8AC3E}">
        <p14:creationId xmlns:p14="http://schemas.microsoft.com/office/powerpoint/2010/main" val="984152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593DF-8911-17B6-0D44-61F5CB38F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7E62D87-AC18-C25E-8DC0-576074242A4F}"/>
              </a:ext>
            </a:extLst>
          </p:cNvPr>
          <p:cNvSpPr/>
          <p:nvPr/>
        </p:nvSpPr>
        <p:spPr>
          <a:xfrm>
            <a:off x="457200" y="1371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Reveal and model</a:t>
            </a:r>
            <a:endParaRPr lang="en-US" sz="2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07F5048-61F3-EFE3-7F50-83EF1B6EF9A8}"/>
              </a:ext>
            </a:extLst>
          </p:cNvPr>
          <p:cNvSpPr/>
          <p:nvPr/>
        </p:nvSpPr>
        <p:spPr>
          <a:xfrm>
            <a:off x="457200" y="1216489"/>
            <a:ext cx="8229600" cy="8312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 time </a:t>
            </a:r>
            <a:r>
              <a:rPr lang="en-US" sz="2800" b="1" i="1" dirty="0">
                <a:solidFill>
                  <a:schemeClr val="accent2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should be </a:t>
            </a:r>
            <a:r>
              <a:rPr lang="en-US" sz="2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limited, </a:t>
            </a:r>
            <a:r>
              <a:rPr lang="en-US" sz="2800" u="sng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</a:t>
            </a:r>
            <a:r>
              <a:rPr lang="en-US" sz="2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800" b="1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</a:t>
            </a:r>
            <a:r>
              <a:rPr lang="en-US" sz="28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800" b="1" i="1" dirty="0">
                <a:solidFill>
                  <a:schemeClr val="accent2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 been shown</a:t>
            </a:r>
            <a:r>
              <a:rPr lang="en-US" sz="2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to disrupt sleep patterns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E869CF0-7D37-675B-C29F-0E43957F1096}"/>
              </a:ext>
            </a:extLst>
          </p:cNvPr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24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 </a:t>
            </a:r>
            <a:r>
              <a:rPr lang="en-US" sz="1100" b="1" i="1" dirty="0">
                <a:solidFill>
                  <a:srgbClr val="0F6E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Verb </a:t>
            </a:r>
            <a:r>
              <a:rPr lang="en-US" sz="1100" b="1" dirty="0">
                <a:solidFill>
                  <a:srgbClr val="1F5F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Prep phrase </a:t>
            </a:r>
            <a:r>
              <a:rPr lang="en-US" sz="11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</a:t>
            </a:r>
            <a:r>
              <a:rPr lang="en-US" sz="1100" b="1" u="sng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Conjunction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D41CC96-A1E1-1700-ECB2-EEABCE018884}"/>
              </a:ext>
            </a:extLst>
          </p:cNvPr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S11</a:t>
            </a:r>
            <a:endParaRPr lang="en-US" sz="11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775E73-25A6-FEB1-EDA8-E6E50A12847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138754" y="88560"/>
            <a:ext cx="766741" cy="7667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F68773-CA11-7704-A74D-D83ABCE8378B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8143841" y="128694"/>
            <a:ext cx="652008" cy="6520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A99BC09-586F-7201-D806-B15D8E7762FB}"/>
              </a:ext>
            </a:extLst>
          </p:cNvPr>
          <p:cNvSpPr txBox="1"/>
          <p:nvPr/>
        </p:nvSpPr>
        <p:spPr>
          <a:xfrm>
            <a:off x="0" y="5372100"/>
            <a:ext cx="9144000" cy="258532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AU" sz="1050">
                <a:solidFill>
                  <a:srgbClr val="212121"/>
                </a:solidFill>
                <a:latin typeface="Aptos" panose="020B0004020202020204" pitchFamily="34" charset="0"/>
              </a:rPr>
              <a:t>REVEAL — TEACHER NOTES
1. Verb: experience  |  Who? Young people
   Text: Young people experience higher rates of anxiety because social media distorts their body image.   → Claim + because + reason
2. Verb: is  |  Who? The ban
   Text: The ban is necessary since teenagers cannot always make informed decisions about digital safety.   → Claim + since + reason
3. Verb: should be limited  |  Who? Screen time
   Text: Screen time should be limited, as research has shown it disrupts sleep patterns.   → Claim + as + evidence
──
For each sentence, after confirming the type:
  "What is the verb?" (point to colour coding)
  "Who is doing that?" (for declaratives/interrogatives)
  For imperatives: "Who is doing this? — It's implied: you, the reader."
If students disagree: "What would need to change to make it [other type]?"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70A6E4-D3D6-EF8E-5F1F-9F4D77306CD8}"/>
              </a:ext>
            </a:extLst>
          </p:cNvPr>
          <p:cNvSpPr txBox="1"/>
          <p:nvPr/>
        </p:nvSpPr>
        <p:spPr>
          <a:xfrm>
            <a:off x="211975" y="2617530"/>
            <a:ext cx="4210396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7188">
              <a:spcAft>
                <a:spcPts val="1200"/>
              </a:spcAft>
              <a:buNone/>
            </a:pPr>
            <a:r>
              <a:rPr lang="en-US" sz="24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What’s the conjunction?</a:t>
            </a:r>
          </a:p>
          <a:p>
            <a:pPr marL="357188">
              <a:spcAft>
                <a:spcPts val="1200"/>
              </a:spcAft>
              <a:buNone/>
            </a:pPr>
            <a:r>
              <a:rPr lang="en-US" sz="2400" i="1" dirty="0">
                <a:solidFill>
                  <a:srgbClr val="888888"/>
                </a:solidFill>
                <a:latin typeface="Aptos" pitchFamily="34" charset="0"/>
              </a:rPr>
              <a:t>Which clause is the claim?</a:t>
            </a:r>
          </a:p>
          <a:p>
            <a:pPr marL="357188">
              <a:spcAft>
                <a:spcPts val="1200"/>
              </a:spcAft>
              <a:buNone/>
            </a:pPr>
            <a:r>
              <a:rPr lang="en-US" sz="2400" i="1" dirty="0">
                <a:solidFill>
                  <a:srgbClr val="888888"/>
                </a:solidFill>
                <a:latin typeface="Aptos" pitchFamily="34" charset="0"/>
              </a:rPr>
              <a:t>Which is the reason?</a:t>
            </a: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F57CEB-F263-6030-51A5-C634CB7DE414}"/>
              </a:ext>
            </a:extLst>
          </p:cNvPr>
          <p:cNvSpPr txBox="1"/>
          <p:nvPr/>
        </p:nvSpPr>
        <p:spPr>
          <a:xfrm>
            <a:off x="4476404" y="2576416"/>
            <a:ext cx="4210396" cy="1220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lang="en-US" sz="2000" u="sng" dirty="0"/>
              <a:t>as</a:t>
            </a:r>
            <a:endParaRPr lang="en-US" sz="2000" dirty="0"/>
          </a:p>
          <a:p>
            <a:pPr>
              <a:spcAft>
                <a:spcPts val="800"/>
              </a:spcAft>
              <a:buNone/>
            </a:pPr>
            <a:r>
              <a:rPr lang="en-US" sz="2000" dirty="0"/>
              <a:t>screen time should be limited</a:t>
            </a:r>
          </a:p>
          <a:p>
            <a:pPr>
              <a:spcAft>
                <a:spcPts val="800"/>
              </a:spcAft>
              <a:buNone/>
            </a:pPr>
            <a:r>
              <a:rPr lang="en-US" sz="2000" dirty="0"/>
              <a:t>it disrupts sleep patterns</a:t>
            </a:r>
          </a:p>
        </p:txBody>
      </p:sp>
    </p:spTree>
    <p:extLst>
      <p:ext uri="{BB962C8B-B14F-4D97-AF65-F5344CB8AC3E}">
        <p14:creationId xmlns:p14="http://schemas.microsoft.com/office/powerpoint/2010/main" val="59057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0F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task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5114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= Declarative   ·   2 = Imperative   ·   3 = Interrogative   ·   4 = Exclamative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604356"/>
            <a:ext cx="8229600" cy="2981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 </a:t>
            </a:r>
            <a:r>
              <a:rPr lang="en-US" sz="2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carefully about your online presence, since it can shape future opportunities.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 </a:t>
            </a:r>
            <a:r>
              <a:rPr lang="en-US" sz="2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do researchers believe social media affects adolescent sleep?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 </a:t>
            </a:r>
            <a:r>
              <a:rPr lang="en-US" sz="2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 time should be limited, as research shows it disrupts sleep patterns.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 </a:t>
            </a:r>
            <a:r>
              <a:rPr lang="en-US" sz="2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 powerful argument that research makes!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7365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with your fingers — scan the room before revealing.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S11</a:t>
            </a:r>
            <a:endParaRPr lang="en-US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D17DA2-4A37-C755-7DD9-951A3611D58B}"/>
              </a:ext>
            </a:extLst>
          </p:cNvPr>
          <p:cNvSpPr txBox="1"/>
          <p:nvPr/>
        </p:nvSpPr>
        <p:spPr>
          <a:xfrm>
            <a:off x="0" y="5372100"/>
            <a:ext cx="9144000" cy="16158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AU" sz="1050">
                <a:solidFill>
                  <a:srgbClr val="212121"/>
                </a:solidFill>
                <a:latin typeface="Aptos" panose="020B0004020202020204" pitchFamily="34" charset="0"/>
              </a:rPr>
              <a:t>EXIT TASK — ANSWERS
1. 2 — Imperative  (verb-first: Think; "since" shows cause)
2. 3 — Interrogative
3. 1 — Declarative  (complex sentence; "as" = cause)
4. 4 — Exclamative
──
After sentence 3, ask: "Find the claim. Find the reason. What's the conjunction?"
Expected: claim = "Screen time should be limited"; reason = "it disrupts sleep patterns"; conjunction = "as".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25BF7A7-A998-B7DA-6839-7145F7A777F9}"/>
              </a:ext>
            </a:extLst>
          </p:cNvPr>
          <p:cNvGrpSpPr/>
          <p:nvPr/>
        </p:nvGrpSpPr>
        <p:grpSpPr>
          <a:xfrm>
            <a:off x="6034617" y="167640"/>
            <a:ext cx="2652183" cy="609600"/>
            <a:chOff x="5744633" y="137160"/>
            <a:chExt cx="2652183" cy="609600"/>
          </a:xfrm>
        </p:grpSpPr>
        <p:pic>
          <p:nvPicPr>
            <p:cNvPr id="10" name="Graphic 8">
              <a:extLst>
                <a:ext uri="{FF2B5EF4-FFF2-40B4-BE49-F238E27FC236}">
                  <a16:creationId xmlns:a16="http://schemas.microsoft.com/office/drawing/2014/main" id="{12FB11E4-C565-72A1-AFE7-073968271D1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87216" y="137160"/>
              <a:ext cx="609600" cy="609600"/>
            </a:xfrm>
            <a:prstGeom prst="rect">
              <a:avLst/>
            </a:prstGeom>
          </p:spPr>
        </p:pic>
        <p:pic>
          <p:nvPicPr>
            <p:cNvPr id="13" name="Graphic 10">
              <a:extLst>
                <a:ext uri="{FF2B5EF4-FFF2-40B4-BE49-F238E27FC236}">
                  <a16:creationId xmlns:a16="http://schemas.microsoft.com/office/drawing/2014/main" id="{55ECAF69-9749-3618-20AE-4A2B97C541B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4633" y="137160"/>
              <a:ext cx="609600" cy="609600"/>
            </a:xfrm>
            <a:prstGeom prst="rect">
              <a:avLst/>
            </a:prstGeom>
          </p:spPr>
        </p:pic>
        <p:pic>
          <p:nvPicPr>
            <p:cNvPr id="14" name="Graphic 11">
              <a:extLst>
                <a:ext uri="{FF2B5EF4-FFF2-40B4-BE49-F238E27FC236}">
                  <a16:creationId xmlns:a16="http://schemas.microsoft.com/office/drawing/2014/main" id="{BA6CBB3D-241D-253F-3384-4EA7A88A9EB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30433" y="137160"/>
              <a:ext cx="609600" cy="609600"/>
            </a:xfrm>
            <a:prstGeom prst="rect">
              <a:avLst/>
            </a:prstGeom>
          </p:spPr>
        </p:pic>
        <p:pic>
          <p:nvPicPr>
            <p:cNvPr id="15" name="Graphic 12">
              <a:extLst>
                <a:ext uri="{FF2B5EF4-FFF2-40B4-BE49-F238E27FC236}">
                  <a16:creationId xmlns:a16="http://schemas.microsoft.com/office/drawing/2014/main" id="{045F2510-20A7-39F8-E901-EDD76755AB8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116233" y="137160"/>
              <a:ext cx="600075" cy="6000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HS grammar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7A0101"/>
      </a:accent1>
      <a:accent2>
        <a:srgbClr val="0DC3A5"/>
      </a:accent2>
      <a:accent3>
        <a:srgbClr val="0072B2"/>
      </a:accent3>
      <a:accent4>
        <a:srgbClr val="0F9ED5"/>
      </a:accent4>
      <a:accent5>
        <a:srgbClr val="8C072D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5A3D4F247C9741BCA78F26B98D0AB7" ma:contentTypeVersion="17" ma:contentTypeDescription="Create a new document." ma:contentTypeScope="" ma:versionID="9f09437d8d02a1e3f0770c32ba2175b3">
  <xsd:schema xmlns:xsd="http://www.w3.org/2001/XMLSchema" xmlns:xs="http://www.w3.org/2001/XMLSchema" xmlns:p="http://schemas.microsoft.com/office/2006/metadata/properties" xmlns:ns2="46846ff6-a39a-4f56-aca6-b2ea1af70d2e" xmlns:ns3="a8299878-b215-4b71-83d0-6b3d83d7e5d9" targetNamespace="http://schemas.microsoft.com/office/2006/metadata/properties" ma:root="true" ma:fieldsID="555cb06902e6186cbfcc866e1dbcbb82" ns2:_="" ns3:_="">
    <xsd:import namespace="46846ff6-a39a-4f56-aca6-b2ea1af70d2e"/>
    <xsd:import namespace="a8299878-b215-4b71-83d0-6b3d83d7e5d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846ff6-a39a-4f56-aca6-b2ea1af70d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94073e9b-c14b-4f43-8554-77a15894e20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299878-b215-4b71-83d0-6b3d83d7e5d9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19187b04-ede7-4ab0-a3a9-aa9f31dff0a7}" ma:internalName="TaxCatchAll" ma:showField="CatchAllData" ma:web="a8299878-b215-4b71-83d0-6b3d83d7e5d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6846ff6-a39a-4f56-aca6-b2ea1af70d2e">
      <Terms xmlns="http://schemas.microsoft.com/office/infopath/2007/PartnerControls"/>
    </lcf76f155ced4ddcb4097134ff3c332f>
    <TaxCatchAll xmlns="a8299878-b215-4b71-83d0-6b3d83d7e5d9" xsi:nil="true"/>
  </documentManagement>
</p:properties>
</file>

<file path=customXml/itemProps1.xml><?xml version="1.0" encoding="utf-8"?>
<ds:datastoreItem xmlns:ds="http://schemas.openxmlformats.org/officeDocument/2006/customXml" ds:itemID="{E0E8CF63-C088-407F-A69A-542E734B99F6}"/>
</file>

<file path=customXml/itemProps2.xml><?xml version="1.0" encoding="utf-8"?>
<ds:datastoreItem xmlns:ds="http://schemas.openxmlformats.org/officeDocument/2006/customXml" ds:itemID="{7B8B054D-2EA5-4A17-8DFE-D4C1D7737987}"/>
</file>

<file path=customXml/itemProps3.xml><?xml version="1.0" encoding="utf-8"?>
<ds:datastoreItem xmlns:ds="http://schemas.openxmlformats.org/officeDocument/2006/customXml" ds:itemID="{A25B1468-D3E6-4FD4-BE6F-FBF3D610CC7C}"/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2226</Words>
  <Application>Microsoft Office PowerPoint</Application>
  <PresentationFormat>On-screen Show (16:9)</PresentationFormat>
  <Paragraphs>101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/>
  <cp:lastModifiedBy/>
  <cp:revision>4</cp:revision>
  <dcterms:created xsi:type="dcterms:W3CDTF">2026-08-14T04:38:46Z</dcterms:created>
  <dcterms:modified xsi:type="dcterms:W3CDTF">2026-10-06T04:36:19Z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0x010100AC5A3D4F247C9741BCA78F26B98D0AB7</vt:lpwstr>
  </property>
</Properties>
</file>