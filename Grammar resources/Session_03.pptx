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9605" autoAdjust="0"/>
  </p:normalViewPr>
  <p:slideViewPr>
    <p:cSldViewPr snapToGrid="0" snapToObjects="1">
      <p:cViewPr varScale="1">
        <p:scale>
          <a:sx n="83" d="100"/>
          <a:sy n="83" d="100"/>
        </p:scale>
        <p:origin x="1378"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customXml" Target="../customXml/item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 Id="rId14"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229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In an imperative clause, the verb is always the first word. This is the defining grammatical feature that makes it an instruction. Notice that all three verbs are action verbs — they describe a physical step the reader must take.
──
TIMING: 10 minutes total
Display + respond: 3–4 min  |  Reveal + model: 3–4 min  |  Teaching point discussion: 1–2 min  |  Exit task: 1–2 min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OTR SCRIPT — OPPORTUNITIES TO RESPOND
OTR — Choral completion
  "In an imperative clause, the verb is always ___." → [first / the first word]
  "The missing subject is always ___." → [you]
Demonstration: Write a non-imperative on the board — "The butter melts in the pan." Ask: "Is this an instruction? Why not?"
Expected: No subject performing an action isn't an instruction until you put the verb first.
Cold call: Ask a student to make the above sentence imperative. ("Melt the butter in the pan.")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for students to turn and talk. Observe — do not correct or prompt yet.</a:t>
            </a:r>
          </a:p>
          <a:p>
            <a:endParaRPr lang="en-US" dirty="0"/>
          </a:p>
          <a:p>
            <a:r>
              <a:rPr lang="en-US" dirty="0"/>
              <a:t>Cold call students for responses.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REVEAL — TEACHER NOTES
1. </a:t>
            </a:r>
            <a:r>
              <a:rPr lang="en-US" sz="1200" i="1" dirty="0">
                <a:solidFill>
                  <a:srgbClr val="888888"/>
                </a:solidFill>
                <a:latin typeface="Aptos" pitchFamily="34" charset="0"/>
                <a:ea typeface="Aptos" pitchFamily="34" charset="-122"/>
                <a:cs typeface="Aptos" pitchFamily="34" charset="-120"/>
              </a:rPr>
              <a:t>Verb: Add  ·  First word of the clause</a:t>
            </a:r>
            <a:endParaRPr lang="en-US" sz="1200" dirty="0"/>
          </a:p>
          <a:p>
            <a:pPr marL="0" indent="0">
              <a:buNone/>
            </a:pPr>
            <a:r>
              <a:rPr lang="en-US" sz="1200" i="1" dirty="0">
                <a:solidFill>
                  <a:srgbClr val="888888"/>
                </a:solidFill>
                <a:latin typeface="Aptos" pitchFamily="34" charset="0"/>
                <a:ea typeface="Aptos" pitchFamily="34" charset="-122"/>
                <a:cs typeface="Aptos" pitchFamily="34" charset="-120"/>
              </a:rPr>
              <a:t>      Verb: </a:t>
            </a:r>
            <a:r>
              <a:rPr lang="en-US" sz="1050" i="1" dirty="0">
                <a:solidFill>
                  <a:srgbClr val="0F6E4D"/>
                </a:solidFill>
                <a:latin typeface="Aptos" pitchFamily="34" charset="0"/>
                <a:ea typeface="Aptos" pitchFamily="34" charset="-122"/>
                <a:cs typeface="Aptos" pitchFamily="34" charset="-120"/>
              </a:rPr>
              <a:t>Add</a:t>
            </a:r>
            <a:r>
              <a:rPr lang="en-US" sz="1200" i="1" dirty="0">
                <a:solidFill>
                  <a:srgbClr val="888888"/>
                </a:solidFill>
                <a:latin typeface="Aptos" pitchFamily="34" charset="0"/>
                <a:ea typeface="Aptos" pitchFamily="34" charset="-122"/>
                <a:cs typeface="Aptos" pitchFamily="34" charset="-120"/>
              </a:rPr>
              <a:t>   ·   Who's doing this?  →  you — implied</a:t>
            </a:r>
            <a:endParaRPr lang="en-US" sz="1200" dirty="0"/>
          </a:p>
          <a:p>
            <a:pPr marL="0" indent="0">
              <a:buNone/>
            </a:pPr>
            <a:r>
              <a:rPr lang="en-US" dirty="0"/>
              <a:t>2. </a:t>
            </a:r>
            <a:r>
              <a:rPr lang="en-US" sz="1200" i="1" dirty="0">
                <a:solidFill>
                  <a:srgbClr val="888888"/>
                </a:solidFill>
                <a:latin typeface="Aptos" pitchFamily="34" charset="0"/>
                <a:ea typeface="Aptos" pitchFamily="34" charset="-122"/>
                <a:cs typeface="Aptos" pitchFamily="34" charset="-120"/>
              </a:rPr>
              <a:t>Verb: Sift  ·  First word</a:t>
            </a:r>
            <a:endParaRPr lang="en-US" sz="1200" dirty="0"/>
          </a:p>
          <a:p>
            <a:pPr marL="0" indent="0">
              <a:buNone/>
            </a:pPr>
            <a:r>
              <a:rPr lang="en-US" sz="1200" i="1" dirty="0">
                <a:solidFill>
                  <a:srgbClr val="888888"/>
                </a:solidFill>
                <a:latin typeface="Aptos" pitchFamily="34" charset="0"/>
                <a:ea typeface="Aptos" pitchFamily="34" charset="-122"/>
                <a:cs typeface="Aptos" pitchFamily="34" charset="-120"/>
              </a:rPr>
              <a:t>      Verb: </a:t>
            </a:r>
            <a:r>
              <a:rPr lang="en-US" sz="1050" i="1" dirty="0">
                <a:solidFill>
                  <a:srgbClr val="0F6E4D"/>
                </a:solidFill>
                <a:latin typeface="Aptos" pitchFamily="34" charset="0"/>
                <a:ea typeface="Aptos" pitchFamily="34" charset="-122"/>
                <a:cs typeface="Aptos" pitchFamily="34" charset="-120"/>
              </a:rPr>
              <a:t>Sift</a:t>
            </a:r>
            <a:r>
              <a:rPr lang="en-US" sz="1200" i="1" dirty="0">
                <a:solidFill>
                  <a:srgbClr val="888888"/>
                </a:solidFill>
                <a:latin typeface="Aptos" pitchFamily="34" charset="0"/>
                <a:ea typeface="Aptos" pitchFamily="34" charset="-122"/>
                <a:cs typeface="Aptos" pitchFamily="34" charset="-120"/>
              </a:rPr>
              <a:t>   ·   Who's doing this?  →  you — implied</a:t>
            </a:r>
            <a:endParaRPr lang="en-US" sz="1200" dirty="0"/>
          </a:p>
          <a:p>
            <a:pPr marL="0" indent="0">
              <a:buNone/>
            </a:pPr>
            <a:r>
              <a:rPr lang="en-US" dirty="0"/>
              <a:t>3. </a:t>
            </a:r>
            <a:r>
              <a:rPr lang="en-US" sz="1200" i="1" dirty="0">
                <a:solidFill>
                  <a:srgbClr val="888888"/>
                </a:solidFill>
                <a:latin typeface="Aptos" pitchFamily="34" charset="0"/>
                <a:ea typeface="Aptos" pitchFamily="34" charset="-122"/>
                <a:cs typeface="Aptos" pitchFamily="34" charset="-120"/>
              </a:rPr>
              <a:t>Verb: Cool  ·  First word</a:t>
            </a:r>
            <a:endParaRPr lang="en-US" sz="1200" dirty="0"/>
          </a:p>
          <a:p>
            <a:pPr marL="0" indent="0">
              <a:buNone/>
            </a:pPr>
            <a:r>
              <a:rPr lang="en-US" sz="1200" i="1" dirty="0">
                <a:solidFill>
                  <a:srgbClr val="888888"/>
                </a:solidFill>
                <a:latin typeface="Aptos" pitchFamily="34" charset="0"/>
                <a:ea typeface="Aptos" pitchFamily="34" charset="-122"/>
                <a:cs typeface="Aptos" pitchFamily="34" charset="-120"/>
              </a:rPr>
              <a:t>      Verb: </a:t>
            </a:r>
            <a:r>
              <a:rPr lang="en-US" sz="1050" i="1" dirty="0">
                <a:solidFill>
                  <a:srgbClr val="0F6E4D"/>
                </a:solidFill>
                <a:latin typeface="Aptos" pitchFamily="34" charset="0"/>
                <a:ea typeface="Aptos" pitchFamily="34" charset="-122"/>
                <a:cs typeface="Aptos" pitchFamily="34" charset="-120"/>
              </a:rPr>
              <a:t>Cool</a:t>
            </a:r>
            <a:r>
              <a:rPr lang="en-US" sz="1200" i="1" dirty="0">
                <a:solidFill>
                  <a:srgbClr val="888888"/>
                </a:solidFill>
                <a:latin typeface="Aptos" pitchFamily="34" charset="0"/>
                <a:ea typeface="Aptos" pitchFamily="34" charset="-122"/>
                <a:cs typeface="Aptos" pitchFamily="34" charset="-120"/>
              </a:rPr>
              <a:t>   ·   Who's doing this?  →  you — implied</a:t>
            </a:r>
            <a:r>
              <a:rPr lang="en-US" dirty="0"/>
              <a:t>
──
For each sentence, after confirming the type:
  "What is the verb?" (point to colour coding)
  "Who is doing that?" (for declaratives/interrogatives)
  For imperatives: "Who is doing this? — It's implied: you, the reader."
If students disagree: "What would need to change to make it [other type]?"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TASK — ANSWERS
1. 2 — Imperative  (verb-first: Preheat)
2. 3 — Interrogative  (inverted: Does this dough)
3. 1 — Declarative  (subject: This method)
4. 4 — Exclamative
──
After voting, ask: "In sentence 1 (Preheat), who is preheating? → You are — it's implied."
This reinforces the implied subject from the teaching point.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C072D"/>
          </a:solidFill>
          <a:ln/>
        </p:spPr>
        <p:txBody>
          <a:bodyPr/>
          <a:lstStyle/>
          <a:p>
            <a:endParaRPr lang="en-AU"/>
          </a:p>
        </p:txBody>
      </p:sp>
      <p:sp>
        <p:nvSpPr>
          <p:cNvPr id="3" name="Text 1"/>
          <p:cNvSpPr/>
          <p:nvPr/>
        </p:nvSpPr>
        <p:spPr>
          <a:xfrm>
            <a:off x="457200" y="228600"/>
            <a:ext cx="8229600" cy="292608"/>
          </a:xfrm>
          <a:prstGeom prst="rect">
            <a:avLst/>
          </a:prstGeom>
          <a:noFill/>
          <a:ln/>
        </p:spPr>
        <p:txBody>
          <a:bodyPr wrap="square" rtlCol="0" anchor="ctr"/>
          <a:lstStyle/>
          <a:p>
            <a:pPr marL="0" indent="0">
              <a:buNone/>
            </a:pPr>
            <a:r>
              <a:rPr lang="en-US" sz="1400" i="1" dirty="0">
                <a:solidFill>
                  <a:srgbClr val="FFD0D0"/>
                </a:solidFill>
                <a:latin typeface="Aptos" pitchFamily="34" charset="0"/>
                <a:ea typeface="Aptos" pitchFamily="34" charset="-122"/>
                <a:cs typeface="Aptos" pitchFamily="34" charset="-120"/>
              </a:rPr>
              <a:t>Phase 2 — Procedural writing: imperative clauses</a:t>
            </a:r>
            <a:endParaRPr lang="en-US" sz="1400" dirty="0"/>
          </a:p>
        </p:txBody>
      </p:sp>
      <p:sp>
        <p:nvSpPr>
          <p:cNvPr id="4" name="Text 2"/>
          <p:cNvSpPr/>
          <p:nvPr/>
        </p:nvSpPr>
        <p:spPr>
          <a:xfrm>
            <a:off x="457200" y="548640"/>
            <a:ext cx="8229600" cy="384048"/>
          </a:xfrm>
          <a:prstGeom prst="rect">
            <a:avLst/>
          </a:prstGeom>
          <a:noFill/>
          <a:ln/>
        </p:spPr>
        <p:txBody>
          <a:bodyPr wrap="square" rtlCol="0" anchor="ctr"/>
          <a:lstStyle/>
          <a:p>
            <a:pPr marL="0" indent="0">
              <a:buNone/>
            </a:pPr>
            <a:r>
              <a:rPr lang="en-US" sz="2000" b="1" dirty="0">
                <a:solidFill>
                  <a:srgbClr val="FFFFFF"/>
                </a:solidFill>
                <a:latin typeface="Aptos" pitchFamily="34" charset="0"/>
                <a:ea typeface="Aptos" pitchFamily="34" charset="-122"/>
                <a:cs typeface="Aptos" pitchFamily="34" charset="-120"/>
              </a:rPr>
              <a:t>Session 03</a:t>
            </a:r>
            <a:endParaRPr lang="en-US" sz="2000" dirty="0"/>
          </a:p>
        </p:txBody>
      </p:sp>
      <p:sp>
        <p:nvSpPr>
          <p:cNvPr id="5" name="Text 3"/>
          <p:cNvSpPr/>
          <p:nvPr/>
        </p:nvSpPr>
        <p:spPr>
          <a:xfrm>
            <a:off x="457200" y="1005840"/>
            <a:ext cx="8229600" cy="1554480"/>
          </a:xfrm>
          <a:prstGeom prst="rect">
            <a:avLst/>
          </a:prstGeom>
          <a:noFill/>
          <a:ln/>
        </p:spPr>
        <p:txBody>
          <a:bodyPr wrap="square" rtlCol="0" anchor="ctr"/>
          <a:lstStyle/>
          <a:p>
            <a:pPr marL="0" indent="0">
              <a:buNone/>
            </a:pPr>
            <a:r>
              <a:rPr lang="en-US" sz="4600" b="1" dirty="0">
                <a:solidFill>
                  <a:srgbClr val="FFFFFF"/>
                </a:solidFill>
                <a:latin typeface="Aptos" pitchFamily="34" charset="0"/>
                <a:ea typeface="Aptos" pitchFamily="34" charset="-122"/>
                <a:cs typeface="Aptos" pitchFamily="34" charset="-120"/>
              </a:rPr>
              <a:t>Imperative clauses </a:t>
            </a:r>
          </a:p>
          <a:p>
            <a:pPr marL="0" indent="0">
              <a:buNone/>
            </a:pPr>
            <a:r>
              <a:rPr lang="en-US" sz="4600" i="1" dirty="0">
                <a:solidFill>
                  <a:srgbClr val="FFFFFF"/>
                </a:solidFill>
                <a:latin typeface="Aptos" pitchFamily="34" charset="0"/>
                <a:ea typeface="Aptos" pitchFamily="34" charset="-122"/>
                <a:cs typeface="Aptos" pitchFamily="34" charset="-120"/>
              </a:rPr>
              <a:t>Starting with the verb</a:t>
            </a:r>
            <a:endParaRPr lang="en-US" sz="4600" i="1" dirty="0"/>
          </a:p>
        </p:txBody>
      </p:sp>
      <p:sp>
        <p:nvSpPr>
          <p:cNvPr id="6" name="Text 4"/>
          <p:cNvSpPr/>
          <p:nvPr/>
        </p:nvSpPr>
        <p:spPr>
          <a:xfrm>
            <a:off x="457200" y="2743200"/>
            <a:ext cx="8229600" cy="256032"/>
          </a:xfrm>
          <a:prstGeom prst="rect">
            <a:avLst/>
          </a:prstGeom>
          <a:noFill/>
          <a:ln/>
        </p:spPr>
        <p:txBody>
          <a:bodyPr wrap="square" rtlCol="0" anchor="ctr"/>
          <a:lstStyle/>
          <a:p>
            <a:pPr marL="0" indent="0">
              <a:buNone/>
            </a:pPr>
            <a:r>
              <a:rPr lang="en-US" sz="1300" dirty="0">
                <a:solidFill>
                  <a:srgbClr val="FFD0D0"/>
                </a:solidFill>
                <a:latin typeface="Aptos" pitchFamily="34" charset="0"/>
                <a:ea typeface="Aptos" pitchFamily="34" charset="-122"/>
                <a:cs typeface="Aptos" pitchFamily="34" charset="-120"/>
              </a:rPr>
              <a:t>Learning intention</a:t>
            </a:r>
            <a:endParaRPr lang="en-US" sz="1300" dirty="0"/>
          </a:p>
        </p:txBody>
      </p:sp>
      <p:sp>
        <p:nvSpPr>
          <p:cNvPr id="7" name="Text 5"/>
          <p:cNvSpPr/>
          <p:nvPr/>
        </p:nvSpPr>
        <p:spPr>
          <a:xfrm>
            <a:off x="457200" y="3017520"/>
            <a:ext cx="8229600" cy="1005840"/>
          </a:xfrm>
          <a:prstGeom prst="rect">
            <a:avLst/>
          </a:prstGeom>
          <a:noFill/>
          <a:ln/>
        </p:spPr>
        <p:txBody>
          <a:bodyPr wrap="square" rtlCol="0" anchor="t"/>
          <a:lstStyle/>
          <a:p>
            <a:pPr marL="0" indent="0">
              <a:buNone/>
            </a:pPr>
            <a:r>
              <a:rPr lang="en-US" sz="1900" dirty="0">
                <a:solidFill>
                  <a:srgbClr val="FFE8E8"/>
                </a:solidFill>
                <a:latin typeface="Aptos" pitchFamily="34" charset="0"/>
                <a:ea typeface="Aptos" pitchFamily="34" charset="-122"/>
                <a:cs typeface="Aptos" pitchFamily="34" charset="-120"/>
              </a:rPr>
              <a:t>To identify the action verb that opens each imperative clause and understand why this is the defining feature of instructions.</a:t>
            </a:r>
            <a:endParaRPr lang="en-US" sz="1900" dirty="0"/>
          </a:p>
        </p:txBody>
      </p:sp>
      <p:sp>
        <p:nvSpPr>
          <p:cNvPr id="8" name="Text 6"/>
          <p:cNvSpPr/>
          <p:nvPr/>
        </p:nvSpPr>
        <p:spPr>
          <a:xfrm>
            <a:off x="457200" y="4754880"/>
            <a:ext cx="7315200" cy="256032"/>
          </a:xfrm>
          <a:prstGeom prst="rect">
            <a:avLst/>
          </a:prstGeom>
          <a:noFill/>
          <a:ln/>
        </p:spPr>
        <p:txBody>
          <a:bodyPr wrap="square" rtlCol="0" anchor="ctr"/>
          <a:lstStyle/>
          <a:p>
            <a:pPr marL="0" indent="0">
              <a:buNone/>
            </a:pPr>
            <a:r>
              <a:rPr lang="en-US" sz="1200" i="1" dirty="0">
                <a:solidFill>
                  <a:srgbClr val="FF9090"/>
                </a:solidFill>
                <a:latin typeface="Aptos" pitchFamily="34" charset="0"/>
                <a:ea typeface="Aptos" pitchFamily="34" charset="-122"/>
                <a:cs typeface="Aptos" pitchFamily="34" charset="-120"/>
              </a:rPr>
              <a:t>Lesson 02 — Procedural writing</a:t>
            </a:r>
            <a:endParaRPr lang="en-US" sz="1200" dirty="0"/>
          </a:p>
        </p:txBody>
      </p:sp>
      <p:sp>
        <p:nvSpPr>
          <p:cNvPr id="9" name="Text 7"/>
          <p:cNvSpPr/>
          <p:nvPr/>
        </p:nvSpPr>
        <p:spPr>
          <a:xfrm>
            <a:off x="8412480" y="4754880"/>
            <a:ext cx="548640" cy="256032"/>
          </a:xfrm>
          <a:prstGeom prst="rect">
            <a:avLst/>
          </a:prstGeom>
          <a:noFill/>
          <a:ln/>
        </p:spPr>
        <p:txBody>
          <a:bodyPr wrap="square" rtlCol="0" anchor="ctr"/>
          <a:lstStyle/>
          <a:p>
            <a:pPr marL="0" indent="0">
              <a:buNone/>
            </a:pPr>
            <a:r>
              <a:rPr lang="en-US" sz="1100" dirty="0">
                <a:solidFill>
                  <a:srgbClr val="FF9090"/>
                </a:solidFill>
                <a:latin typeface="Aptos" pitchFamily="34" charset="0"/>
                <a:ea typeface="Aptos" pitchFamily="34" charset="-122"/>
                <a:cs typeface="Aptos" pitchFamily="34" charset="-120"/>
              </a:rPr>
              <a:t>S03</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182880"/>
            <a:ext cx="8229600" cy="384048"/>
          </a:xfrm>
          <a:prstGeom prst="rect">
            <a:avLst/>
          </a:prstGeom>
          <a:noFill/>
          <a:ln/>
        </p:spPr>
        <p:txBody>
          <a:bodyPr wrap="square" rtlCol="0" anchor="ctr"/>
          <a:lstStyle/>
          <a:p>
            <a:pPr marL="0" indent="0">
              <a:buNone/>
            </a:pPr>
            <a:r>
              <a:rPr lang="en-US" sz="2200" b="1" dirty="0">
                <a:solidFill>
                  <a:srgbClr val="8C072D"/>
                </a:solidFill>
                <a:latin typeface="Aptos" pitchFamily="34" charset="0"/>
                <a:ea typeface="Aptos" pitchFamily="34" charset="-122"/>
                <a:cs typeface="Aptos" pitchFamily="34" charset="-120"/>
              </a:rPr>
              <a:t>What you need to know</a:t>
            </a:r>
            <a:endParaRPr lang="en-US" sz="2200" dirty="0"/>
          </a:p>
        </p:txBody>
      </p:sp>
      <p:sp>
        <p:nvSpPr>
          <p:cNvPr id="3" name="Text 1"/>
          <p:cNvSpPr/>
          <p:nvPr/>
        </p:nvSpPr>
        <p:spPr>
          <a:xfrm>
            <a:off x="457200" y="685800"/>
            <a:ext cx="8229600" cy="4114800"/>
          </a:xfrm>
          <a:prstGeom prst="rect">
            <a:avLst/>
          </a:prstGeom>
          <a:noFill/>
          <a:ln/>
        </p:spPr>
        <p:txBody>
          <a:bodyPr wrap="square" rtlCol="0" anchor="ctr"/>
          <a:lstStyle/>
          <a:p>
            <a:pPr marL="0" indent="0">
              <a:spcBef>
                <a:spcPts val="800"/>
              </a:spcBef>
              <a:spcAft>
                <a:spcPts val="1200"/>
              </a:spcAft>
              <a:buNone/>
            </a:pPr>
            <a:r>
              <a:rPr lang="en-US" sz="2400" b="1" dirty="0">
                <a:solidFill>
                  <a:srgbClr val="000000"/>
                </a:solidFill>
                <a:latin typeface="Aptos" pitchFamily="34" charset="0"/>
                <a:ea typeface="Aptos" pitchFamily="34" charset="-122"/>
                <a:cs typeface="Aptos" pitchFamily="34" charset="-120"/>
              </a:rPr>
              <a:t>An imperative clause always begins with the verb.</a:t>
            </a:r>
            <a:endParaRPr lang="en-US" sz="2400" dirty="0"/>
          </a:p>
          <a:p>
            <a:pPr marL="0" indent="0">
              <a:spcBef>
                <a:spcPts val="800"/>
              </a:spcBef>
              <a:spcAft>
                <a:spcPts val="1200"/>
              </a:spcAft>
              <a:buNone/>
            </a:pPr>
            <a:r>
              <a:rPr lang="en-US" sz="2400" dirty="0">
                <a:solidFill>
                  <a:srgbClr val="000000"/>
                </a:solidFill>
                <a:latin typeface="Aptos" pitchFamily="34" charset="0"/>
                <a:ea typeface="Aptos" pitchFamily="34" charset="-122"/>
                <a:cs typeface="Aptos" pitchFamily="34" charset="-120"/>
              </a:rPr>
              <a:t>The subject ("</a:t>
            </a:r>
            <a:r>
              <a:rPr lang="en-US" sz="2400" b="1" dirty="0">
                <a:solidFill>
                  <a:schemeClr val="accent1"/>
                </a:solidFill>
                <a:latin typeface="Aptos" pitchFamily="34" charset="0"/>
                <a:ea typeface="Aptos" pitchFamily="34" charset="-122"/>
                <a:cs typeface="Aptos" pitchFamily="34" charset="-120"/>
              </a:rPr>
              <a:t>you</a:t>
            </a:r>
            <a:r>
              <a:rPr lang="en-US" sz="2400" dirty="0">
                <a:solidFill>
                  <a:srgbClr val="000000"/>
                </a:solidFill>
                <a:latin typeface="Aptos" pitchFamily="34" charset="0"/>
                <a:ea typeface="Aptos" pitchFamily="34" charset="-122"/>
                <a:cs typeface="Aptos" pitchFamily="34" charset="-120"/>
              </a:rPr>
              <a:t>") is missing — it is implied.</a:t>
            </a:r>
            <a:endParaRPr lang="en-US" sz="2400" dirty="0"/>
          </a:p>
          <a:p>
            <a:pPr marL="0" indent="0" algn="ctr">
              <a:spcBef>
                <a:spcPts val="800"/>
              </a:spcBef>
              <a:spcAft>
                <a:spcPts val="1200"/>
              </a:spcAft>
              <a:buNone/>
            </a:pPr>
            <a:r>
              <a:rPr lang="en-US" sz="2400" i="1" dirty="0">
                <a:solidFill>
                  <a:srgbClr val="888888"/>
                </a:solidFill>
                <a:latin typeface="Aptos" pitchFamily="34" charset="0"/>
                <a:ea typeface="Aptos" pitchFamily="34" charset="-122"/>
                <a:cs typeface="Aptos" pitchFamily="34" charset="-120"/>
              </a:rPr>
              <a:t>"Add the eggs."  ·  "Sift the flour."  ·  "Cool completely."</a:t>
            </a:r>
            <a:endParaRPr lang="en-US" sz="2400" dirty="0"/>
          </a:p>
          <a:p>
            <a:pPr marL="0" indent="0">
              <a:spcBef>
                <a:spcPts val="800"/>
              </a:spcBef>
              <a:spcAft>
                <a:spcPts val="1200"/>
              </a:spcAft>
              <a:buNone/>
            </a:pPr>
            <a:r>
              <a:rPr lang="en-US" sz="2400" dirty="0">
                <a:solidFill>
                  <a:srgbClr val="000000"/>
                </a:solidFill>
                <a:latin typeface="Aptos" pitchFamily="34" charset="0"/>
                <a:ea typeface="Aptos" pitchFamily="34" charset="-122"/>
                <a:cs typeface="Aptos" pitchFamily="34" charset="-120"/>
              </a:rPr>
              <a:t>All three begin with an </a:t>
            </a:r>
            <a:r>
              <a:rPr lang="en-US" sz="2400" b="1" i="1" dirty="0">
                <a:solidFill>
                  <a:schemeClr val="accent2">
                    <a:lumMod val="75000"/>
                  </a:schemeClr>
                </a:solidFill>
                <a:latin typeface="Aptos" pitchFamily="34" charset="0"/>
                <a:ea typeface="Aptos" pitchFamily="34" charset="-122"/>
                <a:cs typeface="Aptos" pitchFamily="34" charset="-120"/>
              </a:rPr>
              <a:t>action verb</a:t>
            </a:r>
            <a:r>
              <a:rPr lang="en-US" sz="2400" dirty="0">
                <a:solidFill>
                  <a:srgbClr val="000000"/>
                </a:solidFill>
                <a:latin typeface="Aptos" pitchFamily="34" charset="0"/>
                <a:ea typeface="Aptos" pitchFamily="34" charset="-122"/>
                <a:cs typeface="Aptos" pitchFamily="34" charset="-120"/>
              </a:rPr>
              <a:t>. That is what makes them instructions.</a:t>
            </a:r>
            <a:endParaRPr lang="en-US" sz="2400" dirty="0"/>
          </a:p>
        </p:txBody>
      </p:sp>
      <p:sp>
        <p:nvSpPr>
          <p:cNvPr id="4" name="Text 2"/>
          <p:cNvSpPr/>
          <p:nvPr/>
        </p:nvSpPr>
        <p:spPr>
          <a:xfrm>
            <a:off x="8412480" y="4754880"/>
            <a:ext cx="548640" cy="256032"/>
          </a:xfrm>
          <a:prstGeom prst="rect">
            <a:avLst/>
          </a:prstGeom>
          <a:noFill/>
          <a:ln/>
        </p:spPr>
        <p:txBody>
          <a:bodyPr wrap="square" rtlCol="0" anchor="ctr"/>
          <a:lstStyle/>
          <a:p>
            <a:pPr marL="0" indent="0">
              <a:buNone/>
            </a:pPr>
            <a:r>
              <a:rPr lang="en-US" sz="1100" dirty="0">
                <a:solidFill>
                  <a:srgbClr val="888888"/>
                </a:solidFill>
                <a:latin typeface="Aptos" pitchFamily="34" charset="0"/>
                <a:ea typeface="Aptos" pitchFamily="34" charset="-122"/>
                <a:cs typeface="Aptos" pitchFamily="34" charset="-120"/>
              </a:rPr>
              <a:t>S03</a:t>
            </a:r>
            <a:endParaRPr lang="en-US" sz="1100" dirty="0"/>
          </a:p>
        </p:txBody>
      </p:sp>
      <p:pic>
        <p:nvPicPr>
          <p:cNvPr id="6" name="Graphic 5">
            <a:extLst>
              <a:ext uri="{FF2B5EF4-FFF2-40B4-BE49-F238E27FC236}">
                <a16:creationId xmlns:a16="http://schemas.microsoft.com/office/drawing/2014/main" id="{089D6FD0-7E87-FEA7-CEFA-D72805445D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80868" y="142875"/>
            <a:ext cx="746125" cy="7461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164592"/>
            <a:ext cx="2286000" cy="347472"/>
          </a:xfrm>
          <a:prstGeom prst="rect">
            <a:avLst/>
          </a:prstGeom>
          <a:noFill/>
          <a:ln/>
        </p:spPr>
        <p:txBody>
          <a:bodyPr wrap="square" rtlCol="0" anchor="ctr"/>
          <a:lstStyle/>
          <a:p>
            <a:pPr marL="0" indent="0">
              <a:buNone/>
            </a:pPr>
            <a:r>
              <a:rPr lang="en-US" sz="2000" b="1" dirty="0">
                <a:solidFill>
                  <a:srgbClr val="8C072D"/>
                </a:solidFill>
                <a:latin typeface="Aptos" pitchFamily="34" charset="0"/>
                <a:ea typeface="Aptos" pitchFamily="34" charset="-122"/>
                <a:cs typeface="Aptos" pitchFamily="34" charset="-120"/>
              </a:rPr>
              <a:t>Display</a:t>
            </a:r>
            <a:endParaRPr lang="en-US" sz="2000" dirty="0"/>
          </a:p>
        </p:txBody>
      </p:sp>
      <p:sp>
        <p:nvSpPr>
          <p:cNvPr id="3" name="Text 1"/>
          <p:cNvSpPr/>
          <p:nvPr/>
        </p:nvSpPr>
        <p:spPr>
          <a:xfrm>
            <a:off x="457200" y="548640"/>
            <a:ext cx="8229600" cy="438912"/>
          </a:xfrm>
          <a:prstGeom prst="rect">
            <a:avLst/>
          </a:prstGeom>
          <a:noFill/>
          <a:ln/>
        </p:spPr>
        <p:txBody>
          <a:bodyPr wrap="square" rtlCol="0" anchor="ctr"/>
          <a:lstStyle/>
          <a:p>
            <a:pPr marL="0" indent="0">
              <a:buNone/>
            </a:pPr>
            <a:r>
              <a:rPr lang="en-US" sz="1700" i="1" dirty="0">
                <a:solidFill>
                  <a:srgbClr val="888888"/>
                </a:solidFill>
                <a:latin typeface="Aptos" pitchFamily="34" charset="0"/>
                <a:ea typeface="Aptos" pitchFamily="34" charset="-122"/>
                <a:cs typeface="Aptos" pitchFamily="34" charset="-120"/>
              </a:rPr>
              <a:t>Find the verb that opens each instruction.</a:t>
            </a:r>
            <a:endParaRPr lang="en-US" sz="1700" dirty="0"/>
          </a:p>
        </p:txBody>
      </p:sp>
      <p:sp>
        <p:nvSpPr>
          <p:cNvPr id="4" name="Text 2"/>
          <p:cNvSpPr/>
          <p:nvPr/>
        </p:nvSpPr>
        <p:spPr>
          <a:xfrm>
            <a:off x="457200" y="1625600"/>
            <a:ext cx="8229600" cy="3110992"/>
          </a:xfrm>
          <a:prstGeom prst="rect">
            <a:avLst/>
          </a:prstGeom>
          <a:noFill/>
          <a:ln/>
        </p:spPr>
        <p:txBody>
          <a:bodyPr wrap="square" rtlCol="0" anchor="ctr"/>
          <a:lstStyle/>
          <a:p>
            <a:r>
              <a:rPr lang="en-US" sz="2600" dirty="0">
                <a:solidFill>
                  <a:srgbClr val="000000"/>
                </a:solidFill>
                <a:latin typeface="Aptos" pitchFamily="34" charset="0"/>
                <a:ea typeface="Aptos" pitchFamily="34" charset="-122"/>
                <a:cs typeface="Aptos" pitchFamily="34" charset="-120"/>
              </a:rPr>
              <a:t>Add the cold eggs, one at a time, stirring well after each.</a:t>
            </a:r>
            <a:endParaRPr lang="en-US" sz="2600" dirty="0"/>
          </a:p>
          <a:p>
            <a:endParaRPr lang="en-US" sz="2600" dirty="0"/>
          </a:p>
          <a:p>
            <a:r>
              <a:rPr lang="en-US" sz="2600" dirty="0">
                <a:solidFill>
                  <a:srgbClr val="000000"/>
                </a:solidFill>
                <a:latin typeface="Aptos" pitchFamily="34" charset="0"/>
                <a:ea typeface="Aptos" pitchFamily="34" charset="-122"/>
                <a:cs typeface="Aptos" pitchFamily="34" charset="-120"/>
              </a:rPr>
              <a:t>Sift in the plain flour and cocoa powder.</a:t>
            </a:r>
            <a:endParaRPr lang="en-US" sz="2600" dirty="0"/>
          </a:p>
          <a:p>
            <a:endParaRPr lang="en-US" sz="2600" dirty="0"/>
          </a:p>
          <a:p>
            <a:r>
              <a:rPr lang="en-US" sz="2600" dirty="0">
                <a:solidFill>
                  <a:srgbClr val="000000"/>
                </a:solidFill>
                <a:latin typeface="Aptos" pitchFamily="34" charset="0"/>
                <a:ea typeface="Aptos" pitchFamily="34" charset="-122"/>
                <a:cs typeface="Aptos" pitchFamily="34" charset="-120"/>
              </a:rPr>
              <a:t>Cool completely before removing the brownies from the pan.</a:t>
            </a:r>
            <a:endParaRPr lang="en-US" sz="2600" dirty="0"/>
          </a:p>
        </p:txBody>
      </p:sp>
      <p:sp>
        <p:nvSpPr>
          <p:cNvPr id="5" name="Text 3"/>
          <p:cNvSpPr/>
          <p:nvPr/>
        </p:nvSpPr>
        <p:spPr>
          <a:xfrm>
            <a:off x="4572000" y="4754880"/>
            <a:ext cx="3840480" cy="256032"/>
          </a:xfrm>
          <a:prstGeom prst="rect">
            <a:avLst/>
          </a:prstGeom>
          <a:noFill/>
          <a:ln/>
        </p:spPr>
        <p:txBody>
          <a:bodyPr wrap="square" rtlCol="0" anchor="ctr"/>
          <a:lstStyle/>
          <a:p>
            <a:pPr marL="0" indent="0" algn="r">
              <a:buNone/>
            </a:pPr>
            <a:r>
              <a:rPr lang="en-US" sz="1100" i="1" dirty="0">
                <a:solidFill>
                  <a:srgbClr val="888888"/>
                </a:solidFill>
                <a:latin typeface="Aptos" pitchFamily="34" charset="0"/>
                <a:ea typeface="Aptos" pitchFamily="34" charset="-122"/>
                <a:cs typeface="Aptos" pitchFamily="34" charset="-120"/>
              </a:rPr>
              <a:t>All students respond — 3–4 min</a:t>
            </a:r>
            <a:endParaRPr lang="en-US" sz="1100" dirty="0"/>
          </a:p>
        </p:txBody>
      </p:sp>
      <p:sp>
        <p:nvSpPr>
          <p:cNvPr id="6" name="Text 4"/>
          <p:cNvSpPr/>
          <p:nvPr/>
        </p:nvSpPr>
        <p:spPr>
          <a:xfrm>
            <a:off x="8412480" y="4754880"/>
            <a:ext cx="548640" cy="256032"/>
          </a:xfrm>
          <a:prstGeom prst="rect">
            <a:avLst/>
          </a:prstGeom>
          <a:noFill/>
          <a:ln/>
        </p:spPr>
        <p:txBody>
          <a:bodyPr wrap="square" rtlCol="0" anchor="ctr"/>
          <a:lstStyle/>
          <a:p>
            <a:pPr marL="0" indent="0">
              <a:buNone/>
            </a:pPr>
            <a:r>
              <a:rPr lang="en-US" sz="1100" dirty="0">
                <a:solidFill>
                  <a:srgbClr val="888888"/>
                </a:solidFill>
                <a:latin typeface="Aptos" pitchFamily="34" charset="0"/>
                <a:ea typeface="Aptos" pitchFamily="34" charset="-122"/>
                <a:cs typeface="Aptos" pitchFamily="34" charset="-120"/>
              </a:rPr>
              <a:t>S03</a:t>
            </a:r>
            <a:endParaRPr lang="en-US" sz="1100" dirty="0"/>
          </a:p>
        </p:txBody>
      </p:sp>
      <p:pic>
        <p:nvPicPr>
          <p:cNvPr id="8" name="Graphic 7">
            <a:extLst>
              <a:ext uri="{FF2B5EF4-FFF2-40B4-BE49-F238E27FC236}">
                <a16:creationId xmlns:a16="http://schemas.microsoft.com/office/drawing/2014/main" id="{8AFA1E30-2B7C-CB43-80F5-D7D284A7E7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67782" y="207263"/>
            <a:ext cx="720437" cy="720437"/>
          </a:xfrm>
          <a:prstGeom prst="rect">
            <a:avLst/>
          </a:prstGeom>
        </p:spPr>
      </p:pic>
      <p:pic>
        <p:nvPicPr>
          <p:cNvPr id="10" name="Graphic 9">
            <a:extLst>
              <a:ext uri="{FF2B5EF4-FFF2-40B4-BE49-F238E27FC236}">
                <a16:creationId xmlns:a16="http://schemas.microsoft.com/office/drawing/2014/main" id="{BBA3FEAA-54C0-90EA-A1E3-2C59493682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70374" y="207263"/>
            <a:ext cx="720437" cy="72043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137160"/>
            <a:ext cx="4572000" cy="347472"/>
          </a:xfrm>
          <a:prstGeom prst="rect">
            <a:avLst/>
          </a:prstGeom>
          <a:noFill/>
          <a:ln/>
        </p:spPr>
        <p:txBody>
          <a:bodyPr wrap="square" rtlCol="0" anchor="ctr"/>
          <a:lstStyle/>
          <a:p>
            <a:pPr marL="0" indent="0">
              <a:buNone/>
            </a:pPr>
            <a:r>
              <a:rPr lang="en-US" sz="2000" b="1" dirty="0">
                <a:solidFill>
                  <a:srgbClr val="8C072D"/>
                </a:solidFill>
                <a:latin typeface="Aptos" pitchFamily="34" charset="0"/>
                <a:ea typeface="Aptos" pitchFamily="34" charset="-122"/>
                <a:cs typeface="Aptos" pitchFamily="34" charset="-120"/>
              </a:rPr>
              <a:t>Reveal and model</a:t>
            </a:r>
            <a:endParaRPr lang="en-US" sz="2000" dirty="0"/>
          </a:p>
        </p:txBody>
      </p:sp>
      <p:sp>
        <p:nvSpPr>
          <p:cNvPr id="3" name="Text 1"/>
          <p:cNvSpPr/>
          <p:nvPr/>
        </p:nvSpPr>
        <p:spPr>
          <a:xfrm>
            <a:off x="457200" y="548640"/>
            <a:ext cx="8229600" cy="4069080"/>
          </a:xfrm>
          <a:prstGeom prst="rect">
            <a:avLst/>
          </a:prstGeom>
          <a:noFill/>
          <a:ln/>
        </p:spPr>
        <p:txBody>
          <a:bodyPr wrap="square" rtlCol="0" anchor="ctr"/>
          <a:lstStyle/>
          <a:p>
            <a:pPr marL="0" indent="0">
              <a:spcBef>
                <a:spcPts val="800"/>
              </a:spcBef>
              <a:spcAft>
                <a:spcPts val="800"/>
              </a:spcAft>
              <a:buNone/>
            </a:pPr>
            <a:r>
              <a:rPr lang="en-US" sz="2800" b="1" dirty="0">
                <a:solidFill>
                  <a:srgbClr val="888888"/>
                </a:solidFill>
                <a:latin typeface="Aptos" pitchFamily="34" charset="0"/>
                <a:ea typeface="Aptos" pitchFamily="34" charset="-122"/>
                <a:cs typeface="Aptos" pitchFamily="34" charset="-120"/>
              </a:rPr>
              <a:t>1.  </a:t>
            </a:r>
            <a:r>
              <a:rPr lang="en-US" sz="2800" i="1" dirty="0">
                <a:solidFill>
                  <a:srgbClr val="0F6E4D"/>
                </a:solidFill>
                <a:latin typeface="Aptos" pitchFamily="34" charset="0"/>
                <a:ea typeface="Aptos" pitchFamily="34" charset="-122"/>
                <a:cs typeface="Aptos" pitchFamily="34" charset="-120"/>
              </a:rPr>
              <a:t>Add</a:t>
            </a:r>
            <a:r>
              <a:rPr lang="en-US" sz="2800" dirty="0">
                <a:solidFill>
                  <a:srgbClr val="000000"/>
                </a:solidFill>
                <a:latin typeface="Aptos" pitchFamily="34" charset="0"/>
                <a:ea typeface="Aptos" pitchFamily="34" charset="-122"/>
                <a:cs typeface="Aptos" pitchFamily="34" charset="-120"/>
              </a:rPr>
              <a:t> the cold eggs, one at a time, stirring well after each</a:t>
            </a:r>
            <a:endParaRPr lang="en-US" sz="2800" dirty="0"/>
          </a:p>
          <a:p>
            <a:pPr marL="0" indent="0">
              <a:spcBef>
                <a:spcPts val="800"/>
              </a:spcBef>
              <a:spcAft>
                <a:spcPts val="800"/>
              </a:spcAft>
              <a:buNone/>
            </a:pPr>
            <a:r>
              <a:rPr lang="en-US" sz="2800" b="1" dirty="0">
                <a:solidFill>
                  <a:srgbClr val="888888"/>
                </a:solidFill>
                <a:latin typeface="Aptos" pitchFamily="34" charset="0"/>
                <a:ea typeface="Aptos" pitchFamily="34" charset="-122"/>
                <a:cs typeface="Aptos" pitchFamily="34" charset="-120"/>
              </a:rPr>
              <a:t>2.  </a:t>
            </a:r>
            <a:r>
              <a:rPr lang="en-US" sz="2800" i="1" dirty="0">
                <a:solidFill>
                  <a:srgbClr val="0F6E4D"/>
                </a:solidFill>
                <a:latin typeface="Aptos" pitchFamily="34" charset="0"/>
                <a:ea typeface="Aptos" pitchFamily="34" charset="-122"/>
                <a:cs typeface="Aptos" pitchFamily="34" charset="-120"/>
              </a:rPr>
              <a:t>Sift</a:t>
            </a:r>
            <a:r>
              <a:rPr lang="en-US" sz="2800" dirty="0">
                <a:solidFill>
                  <a:srgbClr val="000000"/>
                </a:solidFill>
                <a:latin typeface="Aptos" pitchFamily="34" charset="0"/>
                <a:ea typeface="Aptos" pitchFamily="34" charset="-122"/>
                <a:cs typeface="Aptos" pitchFamily="34" charset="-120"/>
              </a:rPr>
              <a:t> in the plain flour and cocoa powder.</a:t>
            </a:r>
            <a:r>
              <a:rPr lang="en-US" sz="2800" i="1" dirty="0">
                <a:solidFill>
                  <a:srgbClr val="888888"/>
                </a:solidFill>
                <a:latin typeface="Aptos" pitchFamily="34" charset="0"/>
                <a:ea typeface="Aptos" pitchFamily="34" charset="-122"/>
                <a:cs typeface="Aptos" pitchFamily="34" charset="-120"/>
              </a:rPr>
              <a:t>   </a:t>
            </a:r>
            <a:endParaRPr lang="en-US" sz="2800" dirty="0"/>
          </a:p>
          <a:p>
            <a:pPr marL="0" indent="0">
              <a:spcBef>
                <a:spcPts val="800"/>
              </a:spcBef>
              <a:spcAft>
                <a:spcPts val="800"/>
              </a:spcAft>
              <a:buNone/>
            </a:pPr>
            <a:r>
              <a:rPr lang="en-US" sz="2800" b="1" dirty="0">
                <a:solidFill>
                  <a:srgbClr val="888888"/>
                </a:solidFill>
                <a:latin typeface="Aptos" pitchFamily="34" charset="0"/>
                <a:ea typeface="Aptos" pitchFamily="34" charset="-122"/>
                <a:cs typeface="Aptos" pitchFamily="34" charset="-120"/>
              </a:rPr>
              <a:t>3.  </a:t>
            </a:r>
            <a:r>
              <a:rPr lang="en-US" sz="2800" i="1" dirty="0">
                <a:solidFill>
                  <a:srgbClr val="0F6E4D"/>
                </a:solidFill>
                <a:latin typeface="Aptos" pitchFamily="34" charset="0"/>
                <a:ea typeface="Aptos" pitchFamily="34" charset="-122"/>
                <a:cs typeface="Aptos" pitchFamily="34" charset="-120"/>
              </a:rPr>
              <a:t>Cool</a:t>
            </a:r>
            <a:r>
              <a:rPr lang="en-US" sz="2800" dirty="0">
                <a:solidFill>
                  <a:srgbClr val="000000"/>
                </a:solidFill>
                <a:latin typeface="Aptos" pitchFamily="34" charset="0"/>
                <a:ea typeface="Aptos" pitchFamily="34" charset="-122"/>
                <a:cs typeface="Aptos" pitchFamily="34" charset="-120"/>
              </a:rPr>
              <a:t> completely before removing the brownies from the pan.</a:t>
            </a:r>
            <a:r>
              <a:rPr lang="en-US" sz="2800" i="1" dirty="0">
                <a:solidFill>
                  <a:srgbClr val="888888"/>
                </a:solidFill>
                <a:latin typeface="Aptos" pitchFamily="34" charset="0"/>
                <a:ea typeface="Aptos" pitchFamily="34" charset="-122"/>
                <a:cs typeface="Aptos" pitchFamily="34" charset="-120"/>
              </a:rPr>
              <a:t>   </a:t>
            </a:r>
            <a:endParaRPr lang="en-US" sz="2800" dirty="0"/>
          </a:p>
        </p:txBody>
      </p:sp>
      <p:sp>
        <p:nvSpPr>
          <p:cNvPr id="4" name="Text 2"/>
          <p:cNvSpPr/>
          <p:nvPr/>
        </p:nvSpPr>
        <p:spPr>
          <a:xfrm>
            <a:off x="457200" y="4754880"/>
            <a:ext cx="8229600" cy="228600"/>
          </a:xfrm>
          <a:prstGeom prst="rect">
            <a:avLst/>
          </a:prstGeom>
          <a:noFill/>
          <a:ln/>
        </p:spPr>
        <p:txBody>
          <a:bodyPr wrap="square" rtlCol="0" anchor="ctr"/>
          <a:lstStyle/>
          <a:p>
            <a:pPr marL="0" indent="0">
              <a:buNone/>
            </a:pPr>
            <a:r>
              <a:rPr lang="en-US" sz="1600" b="1" dirty="0">
                <a:solidFill>
                  <a:srgbClr val="A24800"/>
                </a:solidFill>
                <a:latin typeface="Aptos" pitchFamily="34" charset="0"/>
                <a:ea typeface="Aptos" pitchFamily="34" charset="-122"/>
                <a:cs typeface="Aptos" pitchFamily="34" charset="-120"/>
              </a:rPr>
              <a:t>Subject </a:t>
            </a:r>
            <a:r>
              <a:rPr lang="en-US" sz="1600" b="1" i="1" dirty="0">
                <a:solidFill>
                  <a:srgbClr val="0F6E4D"/>
                </a:solidFill>
                <a:latin typeface="Aptos" pitchFamily="34" charset="0"/>
                <a:ea typeface="Aptos" pitchFamily="34" charset="-122"/>
                <a:cs typeface="Aptos" pitchFamily="34" charset="-120"/>
              </a:rPr>
              <a:t>   Verb </a:t>
            </a:r>
            <a:r>
              <a:rPr lang="en-US" sz="1600" b="1" dirty="0">
                <a:solidFill>
                  <a:srgbClr val="1F5FA8"/>
                </a:solidFill>
                <a:latin typeface="Aptos" pitchFamily="34" charset="0"/>
                <a:ea typeface="Aptos" pitchFamily="34" charset="-122"/>
                <a:cs typeface="Aptos" pitchFamily="34" charset="-120"/>
              </a:rPr>
              <a:t>   Prep phrase </a:t>
            </a:r>
            <a:r>
              <a:rPr lang="en-US" sz="1600" b="1" u="sng" dirty="0">
                <a:solidFill>
                  <a:srgbClr val="000000"/>
                </a:solidFill>
                <a:latin typeface="Aptos" pitchFamily="34" charset="0"/>
                <a:ea typeface="Aptos" pitchFamily="34" charset="-122"/>
                <a:cs typeface="Aptos" pitchFamily="34" charset="-120"/>
              </a:rPr>
              <a:t>   Conjunction</a:t>
            </a:r>
            <a:endParaRPr lang="en-US" sz="1600" dirty="0"/>
          </a:p>
        </p:txBody>
      </p:sp>
      <p:sp>
        <p:nvSpPr>
          <p:cNvPr id="5" name="Text 3"/>
          <p:cNvSpPr/>
          <p:nvPr/>
        </p:nvSpPr>
        <p:spPr>
          <a:xfrm>
            <a:off x="8412480" y="4754880"/>
            <a:ext cx="548640" cy="256032"/>
          </a:xfrm>
          <a:prstGeom prst="rect">
            <a:avLst/>
          </a:prstGeom>
          <a:noFill/>
          <a:ln/>
        </p:spPr>
        <p:txBody>
          <a:bodyPr wrap="square" rtlCol="0" anchor="ctr"/>
          <a:lstStyle/>
          <a:p>
            <a:pPr marL="0" indent="0">
              <a:buNone/>
            </a:pPr>
            <a:r>
              <a:rPr lang="en-US" sz="1100" dirty="0">
                <a:solidFill>
                  <a:srgbClr val="888888"/>
                </a:solidFill>
                <a:latin typeface="Aptos" pitchFamily="34" charset="0"/>
                <a:ea typeface="Aptos" pitchFamily="34" charset="-122"/>
                <a:cs typeface="Aptos" pitchFamily="34" charset="-120"/>
              </a:rPr>
              <a:t>S03</a:t>
            </a:r>
            <a:endParaRPr lang="en-US" sz="1100" dirty="0"/>
          </a:p>
        </p:txBody>
      </p:sp>
      <p:pic>
        <p:nvPicPr>
          <p:cNvPr id="7" name="Graphic 6">
            <a:extLst>
              <a:ext uri="{FF2B5EF4-FFF2-40B4-BE49-F238E27FC236}">
                <a16:creationId xmlns:a16="http://schemas.microsoft.com/office/drawing/2014/main" id="{BA5952B0-8C98-0157-C648-AE5A8E7254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80868" y="142875"/>
            <a:ext cx="746125" cy="7461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0F1"/>
          </a:solidFill>
          <a:ln/>
        </p:spPr>
        <p:txBody>
          <a:bodyPr/>
          <a:lstStyle/>
          <a:p>
            <a:endParaRPr lang="en-AU"/>
          </a:p>
        </p:txBody>
      </p:sp>
      <p:sp>
        <p:nvSpPr>
          <p:cNvPr id="3" name="Text 1"/>
          <p:cNvSpPr/>
          <p:nvPr/>
        </p:nvSpPr>
        <p:spPr>
          <a:xfrm>
            <a:off x="457200" y="137160"/>
            <a:ext cx="8229600" cy="411480"/>
          </a:xfrm>
          <a:prstGeom prst="rect">
            <a:avLst/>
          </a:prstGeom>
          <a:noFill/>
          <a:ln/>
        </p:spPr>
        <p:txBody>
          <a:bodyPr wrap="square" rtlCol="0" anchor="ctr"/>
          <a:lstStyle/>
          <a:p>
            <a:pPr marL="0" indent="0">
              <a:buNone/>
            </a:pPr>
            <a:r>
              <a:rPr lang="en-US" sz="2400" b="1" dirty="0">
                <a:solidFill>
                  <a:srgbClr val="8C072D"/>
                </a:solidFill>
                <a:latin typeface="Aptos" pitchFamily="34" charset="0"/>
                <a:ea typeface="Aptos" pitchFamily="34" charset="-122"/>
                <a:cs typeface="Aptos" pitchFamily="34" charset="-120"/>
              </a:rPr>
              <a:t>Exit task</a:t>
            </a:r>
            <a:endParaRPr lang="en-US" sz="2400" dirty="0"/>
          </a:p>
        </p:txBody>
      </p:sp>
      <p:sp>
        <p:nvSpPr>
          <p:cNvPr id="4" name="Text 2"/>
          <p:cNvSpPr/>
          <p:nvPr/>
        </p:nvSpPr>
        <p:spPr>
          <a:xfrm>
            <a:off x="457200" y="1073866"/>
            <a:ext cx="8229600" cy="384048"/>
          </a:xfrm>
          <a:prstGeom prst="rect">
            <a:avLst/>
          </a:prstGeom>
          <a:noFill/>
          <a:ln/>
        </p:spPr>
        <p:txBody>
          <a:bodyPr wrap="square" rtlCol="0" anchor="ctr"/>
          <a:lstStyle/>
          <a:p>
            <a:pPr marL="0" indent="0">
              <a:buNone/>
            </a:pPr>
            <a:r>
              <a:rPr lang="en-US" sz="1800" b="1" dirty="0">
                <a:solidFill>
                  <a:srgbClr val="000000"/>
                </a:solidFill>
                <a:latin typeface="Aptos" pitchFamily="34" charset="0"/>
                <a:ea typeface="Aptos" pitchFamily="34" charset="-122"/>
                <a:cs typeface="Aptos" pitchFamily="34" charset="-120"/>
              </a:rPr>
              <a:t>1 = Declarative   ·   2 = Imperative   ·   3 = Interrogative   ·   4 = Exclamative</a:t>
            </a:r>
            <a:endParaRPr lang="en-US" sz="1800" dirty="0"/>
          </a:p>
        </p:txBody>
      </p:sp>
      <p:sp>
        <p:nvSpPr>
          <p:cNvPr id="5" name="Text 3"/>
          <p:cNvSpPr/>
          <p:nvPr/>
        </p:nvSpPr>
        <p:spPr>
          <a:xfrm>
            <a:off x="457200" y="1773382"/>
            <a:ext cx="8229600" cy="3054650"/>
          </a:xfrm>
          <a:prstGeom prst="rect">
            <a:avLst/>
          </a:prstGeom>
          <a:noFill/>
          <a:ln/>
        </p:spPr>
        <p:txBody>
          <a:bodyPr wrap="square" rtlCol="0" anchor="t"/>
          <a:lstStyle/>
          <a:p>
            <a:pPr marL="0" indent="0">
              <a:buNone/>
            </a:pPr>
            <a:r>
              <a:rPr lang="en-US" sz="2400" dirty="0">
                <a:solidFill>
                  <a:srgbClr val="000000"/>
                </a:solidFill>
                <a:latin typeface="Aptos" pitchFamily="34" charset="0"/>
                <a:ea typeface="Aptos" pitchFamily="34" charset="-122"/>
                <a:cs typeface="Aptos" pitchFamily="34" charset="-120"/>
              </a:rPr>
              <a:t>Preheat the oven to 200°C.</a:t>
            </a:r>
            <a:endParaRPr lang="en-US" sz="2400" dirty="0"/>
          </a:p>
          <a:p>
            <a:pPr marL="0" indent="0">
              <a:buNone/>
            </a:pPr>
            <a:endParaRPr lang="en-US" sz="2400" dirty="0"/>
          </a:p>
          <a:p>
            <a:pPr marL="0" indent="0">
              <a:buNone/>
            </a:pPr>
            <a:r>
              <a:rPr lang="en-US" sz="2400" dirty="0">
                <a:solidFill>
                  <a:srgbClr val="000000"/>
                </a:solidFill>
                <a:latin typeface="Aptos" pitchFamily="34" charset="0"/>
                <a:ea typeface="Aptos" pitchFamily="34" charset="-122"/>
                <a:cs typeface="Aptos" pitchFamily="34" charset="-120"/>
              </a:rPr>
              <a:t>Does this dough need to rest before baking?</a:t>
            </a:r>
            <a:endParaRPr lang="en-US" sz="2400" dirty="0"/>
          </a:p>
          <a:p>
            <a:pPr marL="0" indent="0">
              <a:buNone/>
            </a:pPr>
            <a:endParaRPr lang="en-US" sz="2400" dirty="0"/>
          </a:p>
          <a:p>
            <a:pPr marL="0" indent="0">
              <a:buNone/>
            </a:pPr>
            <a:r>
              <a:rPr lang="en-US" sz="2400" dirty="0">
                <a:solidFill>
                  <a:srgbClr val="000000"/>
                </a:solidFill>
                <a:latin typeface="Aptos" pitchFamily="34" charset="0"/>
                <a:ea typeface="Aptos" pitchFamily="34" charset="-122"/>
                <a:cs typeface="Aptos" pitchFamily="34" charset="-120"/>
              </a:rPr>
              <a:t>This method works best with room-temperature butter.</a:t>
            </a:r>
            <a:endParaRPr lang="en-US" sz="2400" dirty="0"/>
          </a:p>
          <a:p>
            <a:pPr marL="0" indent="0">
              <a:buNone/>
            </a:pPr>
            <a:endParaRPr lang="en-US" sz="2400" dirty="0"/>
          </a:p>
          <a:p>
            <a:pPr marL="0" indent="0">
              <a:buNone/>
            </a:pPr>
            <a:r>
              <a:rPr lang="en-US" sz="2400" dirty="0">
                <a:solidFill>
                  <a:srgbClr val="000000"/>
                </a:solidFill>
                <a:latin typeface="Aptos" pitchFamily="34" charset="0"/>
                <a:ea typeface="Aptos" pitchFamily="34" charset="-122"/>
                <a:cs typeface="Aptos" pitchFamily="34" charset="-120"/>
              </a:rPr>
              <a:t>What an extraordinary piece of cooking!</a:t>
            </a:r>
            <a:endParaRPr lang="en-US" sz="2400" dirty="0"/>
          </a:p>
        </p:txBody>
      </p:sp>
      <p:sp>
        <p:nvSpPr>
          <p:cNvPr id="6" name="Text 4"/>
          <p:cNvSpPr/>
          <p:nvPr/>
        </p:nvSpPr>
        <p:spPr>
          <a:xfrm>
            <a:off x="457200" y="4736592"/>
            <a:ext cx="7772400" cy="256032"/>
          </a:xfrm>
          <a:prstGeom prst="rect">
            <a:avLst/>
          </a:prstGeom>
          <a:noFill/>
          <a:ln/>
        </p:spPr>
        <p:txBody>
          <a:bodyPr wrap="square" rtlCol="0" anchor="ctr"/>
          <a:lstStyle/>
          <a:p>
            <a:pPr marL="0" indent="0">
              <a:buNone/>
            </a:pPr>
            <a:r>
              <a:rPr lang="en-US" sz="1100" i="1" dirty="0">
                <a:solidFill>
                  <a:srgbClr val="888888"/>
                </a:solidFill>
                <a:latin typeface="Aptos" pitchFamily="34" charset="0"/>
                <a:ea typeface="Aptos" pitchFamily="34" charset="-122"/>
                <a:cs typeface="Aptos" pitchFamily="34" charset="-120"/>
              </a:rPr>
              <a:t>Vote with your fingers — scan the room before revealing.</a:t>
            </a:r>
            <a:endParaRPr lang="en-US" sz="1100" dirty="0"/>
          </a:p>
        </p:txBody>
      </p:sp>
      <p:sp>
        <p:nvSpPr>
          <p:cNvPr id="7" name="Text 5"/>
          <p:cNvSpPr/>
          <p:nvPr/>
        </p:nvSpPr>
        <p:spPr>
          <a:xfrm>
            <a:off x="8412480" y="4754880"/>
            <a:ext cx="548640" cy="256032"/>
          </a:xfrm>
          <a:prstGeom prst="rect">
            <a:avLst/>
          </a:prstGeom>
          <a:noFill/>
          <a:ln/>
        </p:spPr>
        <p:txBody>
          <a:bodyPr wrap="square" rtlCol="0" anchor="ctr"/>
          <a:lstStyle/>
          <a:p>
            <a:pPr marL="0" indent="0">
              <a:buNone/>
            </a:pPr>
            <a:r>
              <a:rPr lang="en-US" sz="1100" dirty="0">
                <a:solidFill>
                  <a:srgbClr val="888888"/>
                </a:solidFill>
                <a:latin typeface="Aptos" pitchFamily="34" charset="0"/>
                <a:ea typeface="Aptos" pitchFamily="34" charset="-122"/>
                <a:cs typeface="Aptos" pitchFamily="34" charset="-120"/>
              </a:rPr>
              <a:t>S03</a:t>
            </a:r>
            <a:endParaRPr lang="en-US" sz="1100" dirty="0"/>
          </a:p>
        </p:txBody>
      </p:sp>
      <p:grpSp>
        <p:nvGrpSpPr>
          <p:cNvPr id="18" name="Group 17">
            <a:extLst>
              <a:ext uri="{FF2B5EF4-FFF2-40B4-BE49-F238E27FC236}">
                <a16:creationId xmlns:a16="http://schemas.microsoft.com/office/drawing/2014/main" id="{E0188C31-5C20-D940-CA7C-52AC7279C28E}"/>
              </a:ext>
            </a:extLst>
          </p:cNvPr>
          <p:cNvGrpSpPr/>
          <p:nvPr/>
        </p:nvGrpSpPr>
        <p:grpSpPr>
          <a:xfrm>
            <a:off x="5744633" y="137160"/>
            <a:ext cx="2652183" cy="609600"/>
            <a:chOff x="5744633" y="137160"/>
            <a:chExt cx="2652183" cy="609600"/>
          </a:xfrm>
        </p:grpSpPr>
        <p:pic>
          <p:nvPicPr>
            <p:cNvPr id="10" name="Graphic 9">
              <a:extLst>
                <a:ext uri="{FF2B5EF4-FFF2-40B4-BE49-F238E27FC236}">
                  <a16:creationId xmlns:a16="http://schemas.microsoft.com/office/drawing/2014/main" id="{A2F8E7E2-F516-619D-F2DC-53EF422296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87216" y="137160"/>
              <a:ext cx="609600" cy="609600"/>
            </a:xfrm>
            <a:prstGeom prst="rect">
              <a:avLst/>
            </a:prstGeom>
          </p:spPr>
        </p:pic>
        <p:pic>
          <p:nvPicPr>
            <p:cNvPr id="13" name="Graphic 12">
              <a:extLst>
                <a:ext uri="{FF2B5EF4-FFF2-40B4-BE49-F238E27FC236}">
                  <a16:creationId xmlns:a16="http://schemas.microsoft.com/office/drawing/2014/main" id="{E5A2119F-2F59-B19A-B642-748AA2711E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44633" y="137160"/>
              <a:ext cx="609600" cy="609600"/>
            </a:xfrm>
            <a:prstGeom prst="rect">
              <a:avLst/>
            </a:prstGeom>
          </p:spPr>
        </p:pic>
        <p:pic>
          <p:nvPicPr>
            <p:cNvPr id="15" name="Graphic 14">
              <a:extLst>
                <a:ext uri="{FF2B5EF4-FFF2-40B4-BE49-F238E27FC236}">
                  <a16:creationId xmlns:a16="http://schemas.microsoft.com/office/drawing/2014/main" id="{A03C0D58-EE30-20CA-8DAC-FE942560ACC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30433" y="137160"/>
              <a:ext cx="609600" cy="609600"/>
            </a:xfrm>
            <a:prstGeom prst="rect">
              <a:avLst/>
            </a:prstGeom>
          </p:spPr>
        </p:pic>
        <p:pic>
          <p:nvPicPr>
            <p:cNvPr id="17" name="Graphic 16">
              <a:extLst>
                <a:ext uri="{FF2B5EF4-FFF2-40B4-BE49-F238E27FC236}">
                  <a16:creationId xmlns:a16="http://schemas.microsoft.com/office/drawing/2014/main" id="{62E3FB48-1F98-A03F-03B5-AED52F83A1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16233" y="137160"/>
              <a:ext cx="600075" cy="600075"/>
            </a:xfrm>
            <a:prstGeom prst="rect">
              <a:avLst/>
            </a:prstGeom>
          </p:spPr>
        </p:pic>
      </p:grpSp>
    </p:spTree>
  </p:cSld>
  <p:clrMapOvr>
    <a:masterClrMapping/>
  </p:clrMapOvr>
</p:sld>
</file>

<file path=ppt/theme/theme1.xml><?xml version="1.0" encoding="utf-8"?>
<a:theme xmlns:a="http://schemas.openxmlformats.org/drawingml/2006/main" name="Office Theme">
  <a:themeElements>
    <a:clrScheme name="KHS grammar">
      <a:dk1>
        <a:sysClr val="windowText" lastClr="000000"/>
      </a:dk1>
      <a:lt1>
        <a:sysClr val="window" lastClr="FFFFFF"/>
      </a:lt1>
      <a:dk2>
        <a:srgbClr val="0E2841"/>
      </a:dk2>
      <a:lt2>
        <a:srgbClr val="E8E8E8"/>
      </a:lt2>
      <a:accent1>
        <a:srgbClr val="7A0101"/>
      </a:accent1>
      <a:accent2>
        <a:srgbClr val="0DC3A5"/>
      </a:accent2>
      <a:accent3>
        <a:srgbClr val="0072B2"/>
      </a:accent3>
      <a:accent4>
        <a:srgbClr val="0F9ED5"/>
      </a:accent4>
      <a:accent5>
        <a:srgbClr val="8C072D"/>
      </a:accent5>
      <a:accent6>
        <a:srgbClr val="4EA72E"/>
      </a:accent6>
      <a:hlink>
        <a:srgbClr val="467886"/>
      </a:hlink>
      <a:folHlink>
        <a:srgbClr val="9660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5A3D4F247C9741BCA78F26B98D0AB7" ma:contentTypeVersion="17" ma:contentTypeDescription="Create a new document." ma:contentTypeScope="" ma:versionID="9f09437d8d02a1e3f0770c32ba2175b3">
  <xsd:schema xmlns:xsd="http://www.w3.org/2001/XMLSchema" xmlns:xs="http://www.w3.org/2001/XMLSchema" xmlns:p="http://schemas.microsoft.com/office/2006/metadata/properties" xmlns:ns2="46846ff6-a39a-4f56-aca6-b2ea1af70d2e" xmlns:ns3="a8299878-b215-4b71-83d0-6b3d83d7e5d9" targetNamespace="http://schemas.microsoft.com/office/2006/metadata/properties" ma:root="true" ma:fieldsID="555cb06902e6186cbfcc866e1dbcbb82" ns2:_="" ns3:_="">
    <xsd:import namespace="46846ff6-a39a-4f56-aca6-b2ea1af70d2e"/>
    <xsd:import namespace="a8299878-b215-4b71-83d0-6b3d83d7e5d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KeyPoints" minOccurs="0"/>
                <xsd:element ref="ns2:MediaServiceKeyPoints"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ObjectDetectorVersion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846ff6-a39a-4f56-aca6-b2ea1af70d2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94073e9b-c14b-4f43-8554-77a15894e20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8299878-b215-4b71-83d0-6b3d83d7e5d9"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19187b04-ede7-4ab0-a3a9-aa9f31dff0a7}" ma:internalName="TaxCatchAll" ma:showField="CatchAllData" ma:web="a8299878-b215-4b71-83d0-6b3d83d7e5d9">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6846ff6-a39a-4f56-aca6-b2ea1af70d2e">
      <Terms xmlns="http://schemas.microsoft.com/office/infopath/2007/PartnerControls"/>
    </lcf76f155ced4ddcb4097134ff3c332f>
    <TaxCatchAll xmlns="a8299878-b215-4b71-83d0-6b3d83d7e5d9" xsi:nil="true"/>
  </documentManagement>
</p:properties>
</file>

<file path=customXml/itemProps1.xml><?xml version="1.0" encoding="utf-8"?>
<ds:datastoreItem xmlns:ds="http://schemas.openxmlformats.org/officeDocument/2006/customXml" ds:itemID="{530AFA60-2C3D-451C-8936-4C1537C2A03F}"/>
</file>

<file path=customXml/itemProps2.xml><?xml version="1.0" encoding="utf-8"?>
<ds:datastoreItem xmlns:ds="http://schemas.openxmlformats.org/officeDocument/2006/customXml" ds:itemID="{1C73CE94-B235-49DA-86A3-70AF8A648FD7}"/>
</file>

<file path=customXml/itemProps3.xml><?xml version="1.0" encoding="utf-8"?>
<ds:datastoreItem xmlns:ds="http://schemas.openxmlformats.org/officeDocument/2006/customXml" ds:itemID="{E05815A1-E77B-490E-AB8E-119F3DDB18DD}"/>
</file>

<file path=docProps/app.xml><?xml version="1.0" encoding="utf-8"?>
<Properties xmlns="http://schemas.openxmlformats.org/officeDocument/2006/extended-properties" xmlns:vt="http://schemas.openxmlformats.org/officeDocument/2006/docPropsVTypes">
  <TotalTime>15</TotalTime>
  <Words>728</Words>
  <Application>Microsoft Office PowerPoint</Application>
  <PresentationFormat>On-screen Show (16:9)</PresentationFormat>
  <Paragraphs>57</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Aptos</vt: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
  <cp:lastModifiedBy/>
  <cp:revision>4</cp:revision>
  <dcterms:created xsi:type="dcterms:W3CDTF">2026-08-14T04:38:46Z</dcterms:created>
  <dcterms:modified xsi:type="dcterms:W3CDTF">2026-10-05T05:43:50Z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0x010100AC5A3D4F247C9741BCA78F26B98D0AB7</vt:lpwstr>
  </property>
</Properties>
</file>