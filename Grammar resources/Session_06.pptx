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407" autoAdjust="0"/>
  </p:normalViewPr>
  <p:slideViewPr>
    <p:cSldViewPr snapToGrid="0" snapToObjects="1">
      <p:cViewPr varScale="1">
        <p:scale>
          <a:sx n="102" d="100"/>
          <a:sy n="102" d="100"/>
        </p:scale>
        <p:origin x="82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2109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Adverbial phrases are especially important in procedural writing because they specify the conditions for each step. "Bake for 20 to 25 minutes" means something very different from just "Bake." Without adverbial phrases, instructions are incomplete — the reader has to guess.
──
TIMING: 10 minutes total
Display + respond: 3–4 min  |  Reveal + model: 3–4 min  |  Teaching point discussion: 1–2 min  |  Exit task: 1–2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 SCRIPT — OPPORTUNITIES TO RESPOND
OTR — Quick identification
Write on the board: "Bake the brownies."
Ask: "What am I missing?" Elicit: where? how hot? for how long?
Add each adverbial phrase back in one by one.
Choral completion:
  "An adverbial phrase tells us ___." → [how / where / when]
  "In instructions, they specify the ___ for each step." → [conditions]
Turn and talk: "Which adverbial phrase in a recipe do you think is most important? The time, the temperature, or the technique?" No right answer — the point is that all three matter.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3–4 minutes for all students to respond independently. Circulate and observe — do not correct or prompt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 TEACHER NOTES
1. Verb: Add  |  Who? you — implied
   Text: Add the cold eggs, one at a time, stirring well after each egg.   → "one at a time" = HOW  ·  "after each egg" = WHEN
2. Verb: Bake  |  Who? you — implied
   Text: Bake in a 160°C oven for 20 to 25 minutes.   → "in a 160°C oven" = WHERE  ·  "for 20 to 25 minutes" = WHEN
3. Verb: Cool  |  Who? you — implied
   Text: Cool completely before removing the brownies from the pan.   → "before removing..." = WHEN (a condition)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TASK — ANSWERS
1. 2 — Imperative  (two adverbial phrases: for 3 min / until the sauce thickens)
2. 1 — Declarative  (adverbial phrase: after it has been refrigerated overnight)
3. 3 — Interrogative
4. 4 — Exclamative
──
After sentence 1, ask: "How many adverbial phrases does it have? What does each one add?"
Expected: two — "for three minutes" (when) and "until the sauce thickens" (condition/when).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C072D"/>
          </a:solidFill>
          <a:ln/>
        </p:spPr>
        <p:txBody>
          <a:bodyPr/>
          <a:lstStyle/>
          <a:p>
            <a:endParaRPr lang="en-AU"/>
          </a:p>
        </p:txBody>
      </p:sp>
      <p:sp>
        <p:nvSpPr>
          <p:cNvPr id="3" name="Text 1"/>
          <p:cNvSpPr/>
          <p:nvPr/>
        </p:nvSpPr>
        <p:spPr>
          <a:xfrm>
            <a:off x="457200" y="228600"/>
            <a:ext cx="8229600" cy="292608"/>
          </a:xfrm>
          <a:prstGeom prst="rect">
            <a:avLst/>
          </a:prstGeom>
          <a:noFill/>
          <a:ln/>
        </p:spPr>
        <p:txBody>
          <a:bodyPr wrap="square" rtlCol="0" anchor="ctr"/>
          <a:lstStyle/>
          <a:p>
            <a:pPr marL="0" indent="0">
              <a:buNone/>
            </a:pPr>
            <a:r>
              <a:rPr lang="en-US" sz="1400" i="1" dirty="0">
                <a:solidFill>
                  <a:srgbClr val="FFD0D0"/>
                </a:solidFill>
                <a:latin typeface="Aptos" pitchFamily="34" charset="0"/>
                <a:ea typeface="Aptos" pitchFamily="34" charset="-122"/>
                <a:cs typeface="Aptos" pitchFamily="34" charset="-120"/>
              </a:rPr>
              <a:t>Phase 2 — Procedural writing: imperative clauses</a:t>
            </a:r>
            <a:endParaRPr lang="en-US" sz="1400" dirty="0"/>
          </a:p>
        </p:txBody>
      </p:sp>
      <p:sp>
        <p:nvSpPr>
          <p:cNvPr id="4" name="Text 2"/>
          <p:cNvSpPr/>
          <p:nvPr/>
        </p:nvSpPr>
        <p:spPr>
          <a:xfrm>
            <a:off x="457200" y="548640"/>
            <a:ext cx="8229600" cy="384048"/>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Session 06</a:t>
            </a:r>
            <a:endParaRPr lang="en-US" sz="2000" dirty="0"/>
          </a:p>
        </p:txBody>
      </p:sp>
      <p:sp>
        <p:nvSpPr>
          <p:cNvPr id="5" name="Text 3"/>
          <p:cNvSpPr/>
          <p:nvPr/>
        </p:nvSpPr>
        <p:spPr>
          <a:xfrm>
            <a:off x="457200" y="1005840"/>
            <a:ext cx="8229600" cy="1554480"/>
          </a:xfrm>
          <a:prstGeom prst="rect">
            <a:avLst/>
          </a:prstGeom>
          <a:noFill/>
          <a:ln/>
        </p:spPr>
        <p:txBody>
          <a:bodyPr wrap="square" rtlCol="0" anchor="ctr"/>
          <a:lstStyle/>
          <a:p>
            <a:pPr marL="0" indent="0">
              <a:buNone/>
            </a:pPr>
            <a:r>
              <a:rPr lang="en-US" sz="4600" b="1" dirty="0">
                <a:solidFill>
                  <a:srgbClr val="FFFFFF"/>
                </a:solidFill>
                <a:latin typeface="Aptos" pitchFamily="34" charset="0"/>
                <a:ea typeface="Aptos" pitchFamily="34" charset="-122"/>
                <a:cs typeface="Aptos" pitchFamily="34" charset="-120"/>
              </a:rPr>
              <a:t>Prepositional phrases in instructions</a:t>
            </a:r>
            <a:endParaRPr lang="en-US" sz="4600" dirty="0"/>
          </a:p>
        </p:txBody>
      </p:sp>
      <p:sp>
        <p:nvSpPr>
          <p:cNvPr id="6" name="Text 4"/>
          <p:cNvSpPr/>
          <p:nvPr/>
        </p:nvSpPr>
        <p:spPr>
          <a:xfrm>
            <a:off x="457200" y="2743200"/>
            <a:ext cx="8229600" cy="256032"/>
          </a:xfrm>
          <a:prstGeom prst="rect">
            <a:avLst/>
          </a:prstGeom>
          <a:noFill/>
          <a:ln/>
        </p:spPr>
        <p:txBody>
          <a:bodyPr wrap="square" rtlCol="0" anchor="ctr"/>
          <a:lstStyle/>
          <a:p>
            <a:pPr marL="0" indent="0">
              <a:buNone/>
            </a:pPr>
            <a:r>
              <a:rPr lang="en-US" sz="1300" dirty="0">
                <a:solidFill>
                  <a:srgbClr val="FFD0D0"/>
                </a:solidFill>
                <a:latin typeface="Aptos" pitchFamily="34" charset="0"/>
                <a:ea typeface="Aptos" pitchFamily="34" charset="-122"/>
                <a:cs typeface="Aptos" pitchFamily="34" charset="-120"/>
              </a:rPr>
              <a:t>Learning intention</a:t>
            </a:r>
            <a:endParaRPr lang="en-US" sz="1300" dirty="0"/>
          </a:p>
        </p:txBody>
      </p:sp>
      <p:sp>
        <p:nvSpPr>
          <p:cNvPr id="7" name="Text 5"/>
          <p:cNvSpPr/>
          <p:nvPr/>
        </p:nvSpPr>
        <p:spPr>
          <a:xfrm>
            <a:off x="457200" y="3017520"/>
            <a:ext cx="8229600" cy="1005840"/>
          </a:xfrm>
          <a:prstGeom prst="rect">
            <a:avLst/>
          </a:prstGeom>
          <a:noFill/>
          <a:ln/>
        </p:spPr>
        <p:txBody>
          <a:bodyPr wrap="square" rtlCol="0" anchor="t"/>
          <a:lstStyle/>
          <a:p>
            <a:pPr marL="0" indent="0">
              <a:buNone/>
            </a:pPr>
            <a:r>
              <a:rPr lang="en-US" sz="1900" dirty="0">
                <a:solidFill>
                  <a:srgbClr val="FFE8E8"/>
                </a:solidFill>
                <a:latin typeface="Aptos" pitchFamily="34" charset="0"/>
                <a:ea typeface="Aptos" pitchFamily="34" charset="-122"/>
                <a:cs typeface="Aptos" pitchFamily="34" charset="-120"/>
              </a:rPr>
              <a:t>To identify prepositional phrases that specify where, when, or how each step is performed.</a:t>
            </a:r>
            <a:endParaRPr lang="en-US" sz="1900" dirty="0"/>
          </a:p>
        </p:txBody>
      </p:sp>
      <p:sp>
        <p:nvSpPr>
          <p:cNvPr id="8" name="Text 6"/>
          <p:cNvSpPr/>
          <p:nvPr/>
        </p:nvSpPr>
        <p:spPr>
          <a:xfrm>
            <a:off x="457200" y="4754880"/>
            <a:ext cx="7315200" cy="256032"/>
          </a:xfrm>
          <a:prstGeom prst="rect">
            <a:avLst/>
          </a:prstGeom>
          <a:noFill/>
          <a:ln/>
        </p:spPr>
        <p:txBody>
          <a:bodyPr wrap="square" rtlCol="0" anchor="ctr"/>
          <a:lstStyle/>
          <a:p>
            <a:pPr marL="0" indent="0">
              <a:buNone/>
            </a:pPr>
            <a:r>
              <a:rPr lang="en-US" sz="1200" i="1" dirty="0">
                <a:solidFill>
                  <a:srgbClr val="FF9090"/>
                </a:solidFill>
                <a:latin typeface="Aptos" pitchFamily="34" charset="0"/>
                <a:ea typeface="Aptos" pitchFamily="34" charset="-122"/>
                <a:cs typeface="Aptos" pitchFamily="34" charset="-120"/>
              </a:rPr>
              <a:t>Lessons 02–03 — Procedural writing</a:t>
            </a:r>
            <a:endParaRPr lang="en-US" sz="1200" dirty="0"/>
          </a:p>
        </p:txBody>
      </p:sp>
      <p:sp>
        <p:nvSpPr>
          <p:cNvPr id="9" name="Text 7"/>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FF9090"/>
                </a:solidFill>
                <a:latin typeface="Aptos" pitchFamily="34" charset="0"/>
                <a:ea typeface="Aptos" pitchFamily="34" charset="-122"/>
                <a:cs typeface="Aptos" pitchFamily="34" charset="-120"/>
              </a:rPr>
              <a:t>S06</a:t>
            </a:r>
            <a:endParaRPr lang="en-US" sz="1100" dirty="0"/>
          </a:p>
        </p:txBody>
      </p:sp>
      <p:sp>
        <p:nvSpPr>
          <p:cNvPr id="10" name="TextBox 9">
            <a:extLst>
              <a:ext uri="{FF2B5EF4-FFF2-40B4-BE49-F238E27FC236}">
                <a16:creationId xmlns:a16="http://schemas.microsoft.com/office/drawing/2014/main" id="{CA5E14D1-8441-DE28-CA45-5A133DD5E9F0}"/>
              </a:ext>
            </a:extLst>
          </p:cNvPr>
          <p:cNvSpPr txBox="1"/>
          <p:nvPr/>
        </p:nvSpPr>
        <p:spPr>
          <a:xfrm>
            <a:off x="0" y="5372100"/>
            <a:ext cx="9144000" cy="1292662"/>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TEACHING POINT
Adverbial phrases are especially important in procedural writing because they specify the conditions for each step. "Bake for 20 to 25 minutes" means something very different from just "Bake." Without adverbial phrases, instructions are incomplete — the reader has to guess.
──
TIMING: 10 minutes total
Display + respond: 3–4 min  |  Reveal + model: 3–4 min  |  Teaching point discussion: 1–2 min  |  Exit task: 1–2 min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p:cNvSpPr/>
          <p:nvPr/>
        </p:nvSpPr>
        <p:spPr>
          <a:xfrm>
            <a:off x="457200" y="1396652"/>
            <a:ext cx="8229600" cy="3403948"/>
          </a:xfrm>
          <a:prstGeom prst="rect">
            <a:avLst/>
          </a:prstGeom>
          <a:noFill/>
          <a:ln/>
        </p:spPr>
        <p:txBody>
          <a:bodyPr wrap="square" rtlCol="0" anchor="t"/>
          <a:lstStyle/>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A </a:t>
            </a:r>
            <a:r>
              <a:rPr lang="en-US" sz="2200" b="1" dirty="0">
                <a:solidFill>
                  <a:schemeClr val="accent3"/>
                </a:solidFill>
                <a:latin typeface="Aptos" pitchFamily="34" charset="0"/>
                <a:ea typeface="Aptos" pitchFamily="34" charset="-122"/>
                <a:cs typeface="Aptos" pitchFamily="34" charset="-120"/>
              </a:rPr>
              <a:t>prepositional phrase </a:t>
            </a:r>
            <a:r>
              <a:rPr lang="en-US" sz="2200" dirty="0">
                <a:solidFill>
                  <a:srgbClr val="000000"/>
                </a:solidFill>
                <a:latin typeface="Aptos" pitchFamily="34" charset="0"/>
                <a:ea typeface="Aptos" pitchFamily="34" charset="-122"/>
                <a:cs typeface="Aptos" pitchFamily="34" charset="-120"/>
              </a:rPr>
              <a:t>tells us </a:t>
            </a:r>
            <a:r>
              <a:rPr lang="en-US" sz="2200" b="1" dirty="0">
                <a:solidFill>
                  <a:srgbClr val="000000"/>
                </a:solidFill>
                <a:latin typeface="Aptos" pitchFamily="34" charset="0"/>
                <a:ea typeface="Aptos" pitchFamily="34" charset="-122"/>
                <a:cs typeface="Aptos" pitchFamily="34" charset="-120"/>
              </a:rPr>
              <a:t>how, where, or when</a:t>
            </a:r>
            <a:r>
              <a:rPr lang="en-US" sz="2200" dirty="0">
                <a:solidFill>
                  <a:srgbClr val="000000"/>
                </a:solidFill>
                <a:latin typeface="Aptos" pitchFamily="34" charset="0"/>
                <a:ea typeface="Aptos" pitchFamily="34" charset="-122"/>
                <a:cs typeface="Aptos" pitchFamily="34" charset="-120"/>
              </a:rPr>
              <a:t> an action happens.</a:t>
            </a:r>
            <a:endParaRPr lang="en-US" sz="2200" dirty="0"/>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In instructions, they specify the conditions for each step.</a:t>
            </a:r>
            <a:endParaRPr lang="en-US" sz="2200" dirty="0"/>
          </a:p>
          <a:p>
            <a:pPr marL="0" indent="0">
              <a:spcBef>
                <a:spcPts val="800"/>
              </a:spcBef>
              <a:spcAft>
                <a:spcPts val="800"/>
              </a:spcAft>
              <a:buNone/>
            </a:pPr>
            <a:r>
              <a:rPr lang="en-US" sz="2200" dirty="0">
                <a:solidFill>
                  <a:srgbClr val="000000"/>
                </a:solidFill>
                <a:latin typeface="Aptos" pitchFamily="34" charset="0"/>
                <a:ea typeface="Aptos" pitchFamily="34" charset="-122"/>
                <a:cs typeface="Aptos" pitchFamily="34" charset="-120"/>
              </a:rPr>
              <a:t>They often begin with a preposition: </a:t>
            </a:r>
          </a:p>
          <a:p>
            <a:pPr algn="ctr">
              <a:spcBef>
                <a:spcPts val="800"/>
              </a:spcBef>
              <a:spcAft>
                <a:spcPts val="800"/>
              </a:spcAft>
            </a:pPr>
            <a:r>
              <a:rPr lang="en-US" sz="2200" i="1" dirty="0">
                <a:solidFill>
                  <a:schemeClr val="accent3"/>
                </a:solidFill>
                <a:latin typeface="Aptos" pitchFamily="34" charset="0"/>
                <a:ea typeface="Aptos" pitchFamily="34" charset="-122"/>
                <a:cs typeface="Aptos" pitchFamily="34" charset="-120"/>
              </a:rPr>
              <a:t>in</a:t>
            </a:r>
            <a:r>
              <a:rPr lang="en-US" sz="2200" i="1" dirty="0">
                <a:solidFill>
                  <a:srgbClr val="888888"/>
                </a:solidFill>
                <a:latin typeface="Aptos" pitchFamily="34" charset="0"/>
                <a:ea typeface="Aptos" pitchFamily="34" charset="-122"/>
                <a:cs typeface="Aptos" pitchFamily="34" charset="-120"/>
              </a:rPr>
              <a:t>  ·  </a:t>
            </a:r>
            <a:r>
              <a:rPr lang="en-US" sz="2200" i="1" dirty="0">
                <a:solidFill>
                  <a:schemeClr val="accent3"/>
                </a:solidFill>
                <a:latin typeface="Aptos" pitchFamily="34" charset="0"/>
                <a:ea typeface="Aptos" pitchFamily="34" charset="-122"/>
                <a:cs typeface="Aptos" pitchFamily="34" charset="-120"/>
              </a:rPr>
              <a:t>at</a:t>
            </a:r>
            <a:r>
              <a:rPr lang="en-US" sz="2200" i="1" dirty="0">
                <a:solidFill>
                  <a:srgbClr val="888888"/>
                </a:solidFill>
                <a:latin typeface="Aptos" pitchFamily="34" charset="0"/>
                <a:ea typeface="Aptos" pitchFamily="34" charset="-122"/>
                <a:cs typeface="Aptos" pitchFamily="34" charset="-120"/>
              </a:rPr>
              <a:t>  ·  </a:t>
            </a:r>
            <a:r>
              <a:rPr lang="en-US" sz="2200" i="1" dirty="0">
                <a:solidFill>
                  <a:schemeClr val="accent3"/>
                </a:solidFill>
                <a:latin typeface="Aptos" pitchFamily="34" charset="0"/>
                <a:ea typeface="Aptos" pitchFamily="34" charset="-122"/>
                <a:cs typeface="Aptos" pitchFamily="34" charset="-120"/>
              </a:rPr>
              <a:t>for</a:t>
            </a:r>
            <a:r>
              <a:rPr lang="en-US" sz="2200" i="1" dirty="0">
                <a:solidFill>
                  <a:srgbClr val="888888"/>
                </a:solidFill>
                <a:latin typeface="Aptos" pitchFamily="34" charset="0"/>
                <a:ea typeface="Aptos" pitchFamily="34" charset="-122"/>
                <a:cs typeface="Aptos" pitchFamily="34" charset="-120"/>
              </a:rPr>
              <a:t>  ·  </a:t>
            </a:r>
            <a:r>
              <a:rPr lang="en-US" sz="2200" i="1" dirty="0">
                <a:solidFill>
                  <a:schemeClr val="accent3"/>
                </a:solidFill>
                <a:latin typeface="Aptos" pitchFamily="34" charset="0"/>
                <a:ea typeface="Aptos" pitchFamily="34" charset="-122"/>
                <a:cs typeface="Aptos" pitchFamily="34" charset="-120"/>
              </a:rPr>
              <a:t>until</a:t>
            </a:r>
            <a:r>
              <a:rPr lang="en-US" sz="2200" i="1" dirty="0">
                <a:solidFill>
                  <a:srgbClr val="888888"/>
                </a:solidFill>
                <a:latin typeface="Aptos" pitchFamily="34" charset="0"/>
                <a:ea typeface="Aptos" pitchFamily="34" charset="-122"/>
                <a:cs typeface="Aptos" pitchFamily="34" charset="-120"/>
              </a:rPr>
              <a:t>  ·  </a:t>
            </a:r>
            <a:r>
              <a:rPr lang="en-US" sz="2200" i="1" dirty="0">
                <a:solidFill>
                  <a:schemeClr val="accent3"/>
                </a:solidFill>
                <a:latin typeface="Aptos" pitchFamily="34" charset="0"/>
                <a:ea typeface="Aptos" pitchFamily="34" charset="-122"/>
                <a:cs typeface="Aptos" pitchFamily="34" charset="-120"/>
              </a:rPr>
              <a:t>before</a:t>
            </a:r>
            <a:r>
              <a:rPr lang="en-US" sz="2200" i="1" dirty="0">
                <a:solidFill>
                  <a:srgbClr val="888888"/>
                </a:solidFill>
                <a:latin typeface="Aptos" pitchFamily="34" charset="0"/>
                <a:ea typeface="Aptos" pitchFamily="34" charset="-122"/>
                <a:cs typeface="Aptos" pitchFamily="34" charset="-120"/>
              </a:rPr>
              <a:t>  ·  </a:t>
            </a:r>
            <a:r>
              <a:rPr lang="en-US" sz="2200" i="1" dirty="0">
                <a:solidFill>
                  <a:schemeClr val="accent3"/>
                </a:solidFill>
                <a:latin typeface="Aptos" pitchFamily="34" charset="0"/>
                <a:ea typeface="Aptos" pitchFamily="34" charset="-122"/>
                <a:cs typeface="Aptos" pitchFamily="34" charset="-120"/>
              </a:rPr>
              <a:t>after  </a:t>
            </a:r>
            <a:r>
              <a:rPr lang="en-US" sz="2200" i="1" dirty="0">
                <a:solidFill>
                  <a:srgbClr val="888888"/>
                </a:solidFill>
                <a:latin typeface="Aptos" pitchFamily="34" charset="0"/>
                <a:ea typeface="Aptos" pitchFamily="34" charset="-122"/>
                <a:cs typeface="Aptos" pitchFamily="34" charset="-120"/>
              </a:rPr>
              <a:t>·  </a:t>
            </a:r>
            <a:r>
              <a:rPr lang="en-US" sz="2200" i="1" dirty="0">
                <a:solidFill>
                  <a:schemeClr val="accent3"/>
                </a:solidFill>
                <a:latin typeface="Aptos" pitchFamily="34" charset="0"/>
                <a:ea typeface="Aptos" pitchFamily="34" charset="-122"/>
                <a:cs typeface="Aptos" pitchFamily="34" charset="-120"/>
              </a:rPr>
              <a:t>with</a:t>
            </a:r>
            <a:endParaRPr lang="en-US" sz="2200" i="1" dirty="0">
              <a:solidFill>
                <a:schemeClr val="accent3"/>
              </a:solidFill>
            </a:endParaRPr>
          </a:p>
          <a:p>
            <a:pPr marL="0" indent="0">
              <a:spcBef>
                <a:spcPts val="800"/>
              </a:spcBef>
              <a:spcAft>
                <a:spcPts val="800"/>
              </a:spcAft>
              <a:buNone/>
            </a:pPr>
            <a:r>
              <a:rPr lang="en-US" sz="2200" dirty="0">
                <a:solidFill>
                  <a:schemeClr val="bg1">
                    <a:lumMod val="50000"/>
                  </a:schemeClr>
                </a:solidFill>
                <a:latin typeface="Aptos" pitchFamily="34" charset="0"/>
                <a:ea typeface="Aptos" pitchFamily="34" charset="-122"/>
                <a:cs typeface="Aptos" pitchFamily="34" charset="-120"/>
              </a:rPr>
              <a:t>“</a:t>
            </a:r>
            <a:r>
              <a:rPr lang="en-US" sz="2200" b="1" i="1" dirty="0">
                <a:solidFill>
                  <a:schemeClr val="accent2">
                    <a:lumMod val="75000"/>
                  </a:schemeClr>
                </a:solidFill>
                <a:latin typeface="Aptos" pitchFamily="34" charset="0"/>
                <a:ea typeface="Aptos" pitchFamily="34" charset="-122"/>
                <a:cs typeface="Aptos" pitchFamily="34" charset="-120"/>
              </a:rPr>
              <a:t>Bake</a:t>
            </a:r>
            <a:r>
              <a:rPr lang="en-US" sz="2200" i="1" dirty="0">
                <a:solidFill>
                  <a:srgbClr val="888888"/>
                </a:solidFill>
                <a:latin typeface="Aptos" pitchFamily="34" charset="0"/>
                <a:ea typeface="Aptos" pitchFamily="34" charset="-122"/>
                <a:cs typeface="Aptos" pitchFamily="34" charset="-120"/>
              </a:rPr>
              <a:t> </a:t>
            </a:r>
            <a:r>
              <a:rPr lang="en-US" sz="2200" dirty="0">
                <a:solidFill>
                  <a:schemeClr val="accent3"/>
                </a:solidFill>
                <a:latin typeface="Aptos" pitchFamily="34" charset="0"/>
                <a:ea typeface="Aptos" pitchFamily="34" charset="-122"/>
                <a:cs typeface="Aptos" pitchFamily="34" charset="-120"/>
              </a:rPr>
              <a:t>for 25 minutes</a:t>
            </a:r>
            <a:r>
              <a:rPr lang="en-US" sz="2200" i="1" dirty="0">
                <a:solidFill>
                  <a:srgbClr val="888888"/>
                </a:solidFill>
                <a:latin typeface="Aptos" pitchFamily="34" charset="0"/>
                <a:ea typeface="Aptos" pitchFamily="34" charset="-122"/>
                <a:cs typeface="Aptos" pitchFamily="34" charset="-120"/>
              </a:rPr>
              <a:t>" tells us WHEN to stop. Without it, the instruction is incomplete.</a:t>
            </a:r>
            <a:endParaRPr lang="en-US" sz="2200" dirty="0"/>
          </a:p>
        </p:txBody>
      </p:sp>
      <p:sp>
        <p:nvSpPr>
          <p:cNvPr id="4" name="Text 2"/>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S06</a:t>
            </a:r>
            <a:endParaRPr lang="en-US" sz="1100" dirty="0"/>
          </a:p>
        </p:txBody>
      </p:sp>
      <p:sp>
        <p:nvSpPr>
          <p:cNvPr id="7" name="TextBox 6">
            <a:extLst>
              <a:ext uri="{FF2B5EF4-FFF2-40B4-BE49-F238E27FC236}">
                <a16:creationId xmlns:a16="http://schemas.microsoft.com/office/drawing/2014/main" id="{597A0209-1E7C-F153-ABD8-7AC907E0BFA5}"/>
              </a:ext>
            </a:extLst>
          </p:cNvPr>
          <p:cNvSpPr txBox="1"/>
          <p:nvPr/>
        </p:nvSpPr>
        <p:spPr>
          <a:xfrm>
            <a:off x="0" y="5372100"/>
            <a:ext cx="9144000" cy="2100575"/>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OTR SCRIPT — OPPORTUNITIES TO RESPOND
OTR — Quick identification
Write on the board: "Bake the brownies."
Ask: "What am I missing?" Elicit: where? how hot? for how long?
Add each adverbial phrase back in one by one.
Choral completion:
  "An adverbial phrase tells us ___." → [how / where / when]
  "In instructions, they specify the ___ for each step." → [conditions]
Turn and talk: "Which adverbial phrase in a recipe do you think is most important? The time, the temperature, or the technique?" No right answer — the point is that all three matter.</a:t>
            </a:r>
          </a:p>
        </p:txBody>
      </p:sp>
      <p:pic>
        <p:nvPicPr>
          <p:cNvPr id="8" name="Graphic 7">
            <a:extLst>
              <a:ext uri="{FF2B5EF4-FFF2-40B4-BE49-F238E27FC236}">
                <a16:creationId xmlns:a16="http://schemas.microsoft.com/office/drawing/2014/main" id="{42B10044-4CF7-EDDC-27E6-F5451C93A7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0868" y="142875"/>
            <a:ext cx="746125" cy="746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2286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Turn and talk</a:t>
            </a:r>
            <a:endParaRPr lang="en-US" sz="2000" dirty="0"/>
          </a:p>
        </p:txBody>
      </p:sp>
      <p:sp>
        <p:nvSpPr>
          <p:cNvPr id="3" name="Text 1"/>
          <p:cNvSpPr/>
          <p:nvPr/>
        </p:nvSpPr>
        <p:spPr>
          <a:xfrm>
            <a:off x="457200" y="1051898"/>
            <a:ext cx="8229600" cy="438912"/>
          </a:xfrm>
          <a:prstGeom prst="rect">
            <a:avLst/>
          </a:prstGeom>
          <a:noFill/>
          <a:ln/>
        </p:spPr>
        <p:txBody>
          <a:bodyPr wrap="square" rtlCol="0" anchor="ctr"/>
          <a:lstStyle/>
          <a:p>
            <a:pPr marL="0" indent="0">
              <a:buNone/>
            </a:pPr>
            <a:r>
              <a:rPr lang="en-US" sz="1700" i="1" dirty="0">
                <a:solidFill>
                  <a:srgbClr val="888888"/>
                </a:solidFill>
                <a:latin typeface="Aptos" pitchFamily="34" charset="0"/>
                <a:ea typeface="Aptos" pitchFamily="34" charset="-122"/>
                <a:cs typeface="Aptos" pitchFamily="34" charset="-120"/>
              </a:rPr>
              <a:t>Find the prepositional phrase(s) in each instruction. What does each one tell us — WHERE, WHEN, or HOW?</a:t>
            </a:r>
            <a:endParaRPr lang="en-US" sz="1700" dirty="0"/>
          </a:p>
        </p:txBody>
      </p:sp>
      <p:sp>
        <p:nvSpPr>
          <p:cNvPr id="4" name="Text 2"/>
          <p:cNvSpPr/>
          <p:nvPr/>
        </p:nvSpPr>
        <p:spPr>
          <a:xfrm>
            <a:off x="457200" y="1623390"/>
            <a:ext cx="8229600" cy="3113201"/>
          </a:xfrm>
          <a:prstGeom prst="rect">
            <a:avLst/>
          </a:prstGeom>
          <a:noFill/>
          <a:ln/>
        </p:spPr>
        <p:txBody>
          <a:bodyPr wrap="square" rtlCol="0" anchor="t"/>
          <a:lstStyle/>
          <a:p>
            <a:pPr marL="0" indent="0">
              <a:buNone/>
            </a:pPr>
            <a:r>
              <a:rPr lang="en-US" sz="2600" b="1" i="1" dirty="0">
                <a:solidFill>
                  <a:schemeClr val="accent2">
                    <a:lumMod val="75000"/>
                  </a:schemeClr>
                </a:solidFill>
                <a:latin typeface="Aptos" pitchFamily="34" charset="0"/>
                <a:ea typeface="Aptos" pitchFamily="34" charset="-122"/>
                <a:cs typeface="Aptos" pitchFamily="34" charset="-120"/>
              </a:rPr>
              <a:t>Add</a:t>
            </a:r>
            <a:r>
              <a:rPr lang="en-US" sz="2600" dirty="0">
                <a:solidFill>
                  <a:srgbClr val="000000"/>
                </a:solidFill>
                <a:latin typeface="Aptos" pitchFamily="34" charset="0"/>
                <a:ea typeface="Aptos" pitchFamily="34" charset="-122"/>
                <a:cs typeface="Aptos" pitchFamily="34" charset="-120"/>
              </a:rPr>
              <a:t> the cold eggs, </a:t>
            </a:r>
            <a:r>
              <a:rPr lang="en-US" sz="2600" dirty="0">
                <a:latin typeface="Aptos" pitchFamily="34" charset="0"/>
                <a:ea typeface="Aptos" pitchFamily="34" charset="-122"/>
                <a:cs typeface="Aptos" pitchFamily="34" charset="-120"/>
              </a:rPr>
              <a:t>one at a time, stirring well after each egg.</a:t>
            </a:r>
            <a:endParaRPr lang="en-US" sz="2600" dirty="0"/>
          </a:p>
          <a:p>
            <a:pPr marL="0" indent="0">
              <a:buNone/>
            </a:pPr>
            <a:endParaRPr lang="en-US" sz="2600" dirty="0"/>
          </a:p>
          <a:p>
            <a:pPr marL="0" indent="0">
              <a:buNone/>
            </a:pPr>
            <a:r>
              <a:rPr lang="en-US" sz="2600" b="1" i="1" dirty="0">
                <a:solidFill>
                  <a:schemeClr val="accent2">
                    <a:lumMod val="75000"/>
                  </a:schemeClr>
                </a:solidFill>
                <a:latin typeface="Aptos" pitchFamily="34" charset="0"/>
                <a:ea typeface="Aptos" pitchFamily="34" charset="-122"/>
                <a:cs typeface="Aptos" pitchFamily="34" charset="-120"/>
              </a:rPr>
              <a:t>Bake</a:t>
            </a:r>
            <a:r>
              <a:rPr lang="en-US" sz="2600" dirty="0">
                <a:solidFill>
                  <a:srgbClr val="000000"/>
                </a:solidFill>
                <a:latin typeface="Aptos" pitchFamily="34" charset="0"/>
                <a:ea typeface="Aptos" pitchFamily="34" charset="-122"/>
                <a:cs typeface="Aptos" pitchFamily="34" charset="-120"/>
              </a:rPr>
              <a:t> in a 160°C oven </a:t>
            </a:r>
            <a:r>
              <a:rPr lang="en-US" sz="2600" dirty="0">
                <a:latin typeface="Aptos" pitchFamily="34" charset="0"/>
                <a:ea typeface="Aptos" pitchFamily="34" charset="-122"/>
                <a:cs typeface="Aptos" pitchFamily="34" charset="-120"/>
              </a:rPr>
              <a:t>for 20 to 25 minutes.</a:t>
            </a:r>
            <a:endParaRPr lang="en-US" sz="2600" dirty="0"/>
          </a:p>
          <a:p>
            <a:pPr marL="0" indent="0">
              <a:buNone/>
            </a:pPr>
            <a:endParaRPr lang="en-US" sz="2600" dirty="0"/>
          </a:p>
          <a:p>
            <a:pPr marL="0" indent="0">
              <a:buNone/>
            </a:pPr>
            <a:r>
              <a:rPr lang="en-US" sz="2600" b="1" i="1" dirty="0">
                <a:solidFill>
                  <a:schemeClr val="accent2">
                    <a:lumMod val="75000"/>
                  </a:schemeClr>
                </a:solidFill>
                <a:latin typeface="Aptos" pitchFamily="34" charset="0"/>
                <a:ea typeface="Aptos" pitchFamily="34" charset="-122"/>
                <a:cs typeface="Aptos" pitchFamily="34" charset="-120"/>
              </a:rPr>
              <a:t>Cool</a:t>
            </a:r>
            <a:r>
              <a:rPr lang="en-US" sz="2600" dirty="0">
                <a:solidFill>
                  <a:srgbClr val="000000"/>
                </a:solidFill>
                <a:latin typeface="Aptos" pitchFamily="34" charset="0"/>
                <a:ea typeface="Aptos" pitchFamily="34" charset="-122"/>
                <a:cs typeface="Aptos" pitchFamily="34" charset="-120"/>
              </a:rPr>
              <a:t> completely </a:t>
            </a:r>
            <a:r>
              <a:rPr lang="en-US" sz="2600" dirty="0">
                <a:latin typeface="Aptos" pitchFamily="34" charset="0"/>
                <a:ea typeface="Aptos" pitchFamily="34" charset="-122"/>
                <a:cs typeface="Aptos" pitchFamily="34" charset="-120"/>
              </a:rPr>
              <a:t>before removing the brownies from the pan.</a:t>
            </a:r>
            <a:endParaRPr lang="en-US" sz="2600" dirty="0"/>
          </a:p>
        </p:txBody>
      </p:sp>
      <p:sp>
        <p:nvSpPr>
          <p:cNvPr id="5" name="Text 3"/>
          <p:cNvSpPr/>
          <p:nvPr/>
        </p:nvSpPr>
        <p:spPr>
          <a:xfrm>
            <a:off x="5029200" y="4754880"/>
            <a:ext cx="3840480" cy="256032"/>
          </a:xfrm>
          <a:prstGeom prst="rect">
            <a:avLst/>
          </a:prstGeom>
          <a:noFill/>
          <a:ln/>
        </p:spPr>
        <p:txBody>
          <a:bodyPr wrap="square" rtlCol="0" anchor="ctr"/>
          <a:lstStyle/>
          <a:p>
            <a:pPr marL="0" indent="0" algn="r">
              <a:buNone/>
            </a:pPr>
            <a:r>
              <a:rPr lang="en-US" sz="1100" i="1" dirty="0">
                <a:solidFill>
                  <a:srgbClr val="888888"/>
                </a:solidFill>
                <a:latin typeface="Aptos" pitchFamily="34" charset="0"/>
                <a:ea typeface="Aptos" pitchFamily="34" charset="-122"/>
                <a:cs typeface="Aptos" pitchFamily="34" charset="-120"/>
              </a:rPr>
              <a:t>All students respond — 3–4 min</a:t>
            </a:r>
            <a:endParaRPr lang="en-US" sz="1100" dirty="0"/>
          </a:p>
        </p:txBody>
      </p:sp>
      <p:sp>
        <p:nvSpPr>
          <p:cNvPr id="6" name="Text 4"/>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S06</a:t>
            </a:r>
            <a:endParaRPr lang="en-US" sz="1100" dirty="0"/>
          </a:p>
        </p:txBody>
      </p:sp>
      <p:sp>
        <p:nvSpPr>
          <p:cNvPr id="11" name="TextBox 10">
            <a:extLst>
              <a:ext uri="{FF2B5EF4-FFF2-40B4-BE49-F238E27FC236}">
                <a16:creationId xmlns:a16="http://schemas.microsoft.com/office/drawing/2014/main" id="{58502B8E-9F27-9A9E-5CC7-DE67F0B7CBB4}"/>
              </a:ext>
            </a:extLst>
          </p:cNvPr>
          <p:cNvSpPr txBox="1"/>
          <p:nvPr/>
        </p:nvSpPr>
        <p:spPr>
          <a:xfrm>
            <a:off x="0" y="5372100"/>
            <a:ext cx="9144000" cy="16158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Allow 3–4 minutes for all students to respond independently. Circulate and observe — do not correct or prompt yet.</a:t>
            </a:r>
          </a:p>
        </p:txBody>
      </p:sp>
      <p:pic>
        <p:nvPicPr>
          <p:cNvPr id="8" name="Graphic 7">
            <a:extLst>
              <a:ext uri="{FF2B5EF4-FFF2-40B4-BE49-F238E27FC236}">
                <a16:creationId xmlns:a16="http://schemas.microsoft.com/office/drawing/2014/main" id="{6CD55024-6279-DAD7-4F0F-B4248B50A4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67782" y="207263"/>
            <a:ext cx="720437" cy="7204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p:cNvSpPr/>
          <p:nvPr/>
        </p:nvSpPr>
        <p:spPr>
          <a:xfrm>
            <a:off x="457200" y="1064302"/>
            <a:ext cx="8229600" cy="3553418"/>
          </a:xfrm>
          <a:prstGeom prst="rect">
            <a:avLst/>
          </a:prstGeom>
          <a:noFill/>
          <a:ln/>
        </p:spPr>
        <p:txBody>
          <a:bodyPr wrap="square" rtlCol="0" anchor="t"/>
          <a:lstStyle/>
          <a:p>
            <a:pPr marL="342900" indent="-342900">
              <a:buAutoNum type="arabicPeriod"/>
            </a:pPr>
            <a:r>
              <a:rPr lang="en-US" sz="2000" i="1" dirty="0">
                <a:solidFill>
                  <a:srgbClr val="0F6E4D"/>
                </a:solidFill>
                <a:latin typeface="Aptos" pitchFamily="34" charset="0"/>
                <a:ea typeface="Aptos" pitchFamily="34" charset="-122"/>
                <a:cs typeface="Aptos" pitchFamily="34" charset="-120"/>
              </a:rPr>
              <a:t>Add</a:t>
            </a:r>
            <a:r>
              <a:rPr lang="en-US" sz="2000" dirty="0">
                <a:solidFill>
                  <a:srgbClr val="000000"/>
                </a:solidFill>
                <a:latin typeface="Aptos" pitchFamily="34" charset="0"/>
                <a:ea typeface="Aptos" pitchFamily="34" charset="-122"/>
                <a:cs typeface="Aptos" pitchFamily="34" charset="-120"/>
              </a:rPr>
              <a:t> the cold eggs, </a:t>
            </a:r>
            <a:r>
              <a:rPr lang="en-US" sz="2000" dirty="0">
                <a:solidFill>
                  <a:srgbClr val="1F5FA8"/>
                </a:solidFill>
                <a:latin typeface="Aptos" pitchFamily="34" charset="0"/>
                <a:ea typeface="Aptos" pitchFamily="34" charset="-122"/>
                <a:cs typeface="Aptos" pitchFamily="34" charset="-120"/>
              </a:rPr>
              <a:t>one at a time</a:t>
            </a:r>
            <a:r>
              <a:rPr lang="en-US" sz="2000" dirty="0">
                <a:solidFill>
                  <a:srgbClr val="000000"/>
                </a:solidFill>
                <a:latin typeface="Aptos" pitchFamily="34" charset="0"/>
                <a:ea typeface="Aptos" pitchFamily="34" charset="-122"/>
                <a:cs typeface="Aptos" pitchFamily="34" charset="-120"/>
              </a:rPr>
              <a:t>, stirring well </a:t>
            </a:r>
            <a:r>
              <a:rPr lang="en-US" sz="2000" dirty="0">
                <a:solidFill>
                  <a:srgbClr val="1F5FA8"/>
                </a:solidFill>
                <a:latin typeface="Aptos" pitchFamily="34" charset="0"/>
                <a:ea typeface="Aptos" pitchFamily="34" charset="-122"/>
                <a:cs typeface="Aptos" pitchFamily="34" charset="-120"/>
              </a:rPr>
              <a:t>after each egg</a:t>
            </a:r>
            <a:r>
              <a:rPr lang="en-US" sz="2000" dirty="0">
                <a:solidFill>
                  <a:srgbClr val="000000"/>
                </a:solidFill>
                <a:latin typeface="Aptos" pitchFamily="34" charset="0"/>
                <a:ea typeface="Aptos" pitchFamily="34" charset="-122"/>
                <a:cs typeface="Aptos" pitchFamily="34" charset="-120"/>
              </a:rPr>
              <a:t>.</a:t>
            </a:r>
            <a:r>
              <a:rPr lang="en-US" sz="2000" i="1" dirty="0">
                <a:solidFill>
                  <a:srgbClr val="888888"/>
                </a:solidFill>
                <a:latin typeface="Aptos" pitchFamily="34" charset="0"/>
                <a:ea typeface="Aptos" pitchFamily="34" charset="-122"/>
                <a:cs typeface="Aptos" pitchFamily="34" charset="-120"/>
              </a:rPr>
              <a:t>   </a:t>
            </a: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r>
              <a:rPr lang="en-US" sz="2000" i="1" dirty="0">
                <a:solidFill>
                  <a:srgbClr val="888888"/>
                </a:solidFill>
                <a:latin typeface="Aptos" pitchFamily="34" charset="0"/>
                <a:ea typeface="Aptos" pitchFamily="34" charset="-122"/>
                <a:cs typeface="Aptos" pitchFamily="34" charset="-120"/>
              </a:rPr>
              <a:t>2. </a:t>
            </a:r>
            <a:r>
              <a:rPr lang="en-US" sz="2000" i="1" dirty="0">
                <a:solidFill>
                  <a:srgbClr val="0F6E4D"/>
                </a:solidFill>
                <a:latin typeface="Aptos" pitchFamily="34" charset="0"/>
                <a:ea typeface="Aptos" pitchFamily="34" charset="-122"/>
                <a:cs typeface="Aptos" pitchFamily="34" charset="-120"/>
              </a:rPr>
              <a:t>Bake</a:t>
            </a:r>
            <a:r>
              <a:rPr lang="en-US" sz="2000" dirty="0">
                <a:solidFill>
                  <a:srgbClr val="000000"/>
                </a:solidFill>
                <a:latin typeface="Aptos" pitchFamily="34" charset="0"/>
                <a:ea typeface="Aptos" pitchFamily="34" charset="-122"/>
                <a:cs typeface="Aptos" pitchFamily="34" charset="-120"/>
              </a:rPr>
              <a:t> </a:t>
            </a:r>
            <a:r>
              <a:rPr lang="en-US" sz="2000" dirty="0">
                <a:solidFill>
                  <a:srgbClr val="1F5FA8"/>
                </a:solidFill>
                <a:latin typeface="Aptos" pitchFamily="34" charset="0"/>
                <a:ea typeface="Aptos" pitchFamily="34" charset="-122"/>
                <a:cs typeface="Aptos" pitchFamily="34" charset="-120"/>
              </a:rPr>
              <a:t>in a 160°C oven</a:t>
            </a:r>
            <a:r>
              <a:rPr lang="en-US" sz="2000" dirty="0">
                <a:solidFill>
                  <a:srgbClr val="000000"/>
                </a:solidFill>
                <a:latin typeface="Aptos" pitchFamily="34" charset="0"/>
                <a:ea typeface="Aptos" pitchFamily="34" charset="-122"/>
                <a:cs typeface="Aptos" pitchFamily="34" charset="-120"/>
              </a:rPr>
              <a:t> </a:t>
            </a:r>
            <a:r>
              <a:rPr lang="en-US" sz="2000" dirty="0">
                <a:solidFill>
                  <a:srgbClr val="1F5FA8"/>
                </a:solidFill>
                <a:latin typeface="Aptos" pitchFamily="34" charset="0"/>
                <a:ea typeface="Aptos" pitchFamily="34" charset="-122"/>
                <a:cs typeface="Aptos" pitchFamily="34" charset="-120"/>
              </a:rPr>
              <a:t>for 20 to 25 minutes</a:t>
            </a:r>
            <a:r>
              <a:rPr lang="en-US" sz="2000" dirty="0">
                <a:solidFill>
                  <a:srgbClr val="000000"/>
                </a:solidFill>
                <a:latin typeface="Aptos" pitchFamily="34" charset="0"/>
                <a:ea typeface="Aptos" pitchFamily="34" charset="-122"/>
                <a:cs typeface="Aptos" pitchFamily="34" charset="-120"/>
              </a:rPr>
              <a:t>.</a:t>
            </a:r>
            <a:r>
              <a:rPr lang="en-US" sz="2000" i="1" dirty="0">
                <a:solidFill>
                  <a:srgbClr val="888888"/>
                </a:solidFill>
                <a:latin typeface="Aptos" pitchFamily="34" charset="0"/>
                <a:ea typeface="Aptos" pitchFamily="34" charset="-122"/>
                <a:cs typeface="Aptos" pitchFamily="34" charset="-120"/>
              </a:rPr>
              <a:t> </a:t>
            </a: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r>
              <a:rPr lang="en-US" sz="2000" i="1" dirty="0">
                <a:solidFill>
                  <a:srgbClr val="888888"/>
                </a:solidFill>
                <a:latin typeface="Aptos" pitchFamily="34" charset="0"/>
                <a:ea typeface="Aptos" pitchFamily="34" charset="-122"/>
                <a:cs typeface="Aptos" pitchFamily="34" charset="-120"/>
              </a:rPr>
              <a:t>3. </a:t>
            </a:r>
            <a:r>
              <a:rPr lang="en-US" sz="2000" b="1" i="1" dirty="0">
                <a:solidFill>
                  <a:schemeClr val="accent2">
                    <a:lumMod val="75000"/>
                  </a:schemeClr>
                </a:solidFill>
                <a:latin typeface="Aptos" pitchFamily="34" charset="0"/>
                <a:ea typeface="Aptos" pitchFamily="34" charset="-122"/>
                <a:cs typeface="Aptos" pitchFamily="34" charset="-120"/>
              </a:rPr>
              <a:t>Cool</a:t>
            </a:r>
            <a:r>
              <a:rPr lang="en-US" sz="2000" dirty="0">
                <a:solidFill>
                  <a:srgbClr val="000000"/>
                </a:solidFill>
                <a:latin typeface="Aptos" pitchFamily="34" charset="0"/>
                <a:ea typeface="Aptos" pitchFamily="34" charset="-122"/>
                <a:cs typeface="Aptos" pitchFamily="34" charset="-120"/>
              </a:rPr>
              <a:t> </a:t>
            </a:r>
            <a:r>
              <a:rPr lang="en-US" sz="2000" dirty="0">
                <a:solidFill>
                  <a:schemeClr val="accent3"/>
                </a:solidFill>
                <a:latin typeface="Aptos" pitchFamily="34" charset="0"/>
                <a:ea typeface="Aptos" pitchFamily="34" charset="-122"/>
                <a:cs typeface="Aptos" pitchFamily="34" charset="-120"/>
              </a:rPr>
              <a:t>completely</a:t>
            </a:r>
            <a:r>
              <a:rPr lang="en-US" sz="2000" dirty="0">
                <a:solidFill>
                  <a:srgbClr val="000000"/>
                </a:solidFill>
                <a:latin typeface="Aptos" pitchFamily="34" charset="0"/>
                <a:ea typeface="Aptos" pitchFamily="34" charset="-122"/>
                <a:cs typeface="Aptos" pitchFamily="34" charset="-120"/>
              </a:rPr>
              <a:t> </a:t>
            </a:r>
            <a:r>
              <a:rPr lang="en-US" sz="2000" dirty="0">
                <a:solidFill>
                  <a:schemeClr val="accent3"/>
                </a:solidFill>
                <a:latin typeface="Aptos" pitchFamily="34" charset="0"/>
                <a:ea typeface="Aptos" pitchFamily="34" charset="-122"/>
                <a:cs typeface="Aptos" pitchFamily="34" charset="-120"/>
              </a:rPr>
              <a:t>before removing the brownies from the pan</a:t>
            </a:r>
            <a:r>
              <a:rPr lang="en-US" sz="2000" dirty="0">
                <a:latin typeface="Aptos" pitchFamily="34" charset="0"/>
                <a:ea typeface="Aptos" pitchFamily="34" charset="-122"/>
                <a:cs typeface="Aptos" pitchFamily="34" charset="-120"/>
              </a:rPr>
              <a:t>.</a:t>
            </a:r>
            <a:endParaRPr lang="en-US" sz="2000" dirty="0"/>
          </a:p>
          <a:p>
            <a:endParaRPr lang="en-US" sz="2000" dirty="0"/>
          </a:p>
        </p:txBody>
      </p:sp>
      <p:sp>
        <p:nvSpPr>
          <p:cNvPr id="4" name="Text 2"/>
          <p:cNvSpPr/>
          <p:nvPr/>
        </p:nvSpPr>
        <p:spPr>
          <a:xfrm>
            <a:off x="457200" y="4754880"/>
            <a:ext cx="8229600" cy="228600"/>
          </a:xfrm>
          <a:prstGeom prst="rect">
            <a:avLst/>
          </a:prstGeom>
          <a:noFill/>
          <a:ln/>
        </p:spPr>
        <p:txBody>
          <a:bodyPr wrap="square" rtlCol="0" anchor="ctr"/>
          <a:lstStyle/>
          <a:p>
            <a:pPr marL="0" indent="0">
              <a:buNone/>
            </a:pPr>
            <a:r>
              <a:rPr lang="en-US" sz="1100" b="1" dirty="0">
                <a:solidFill>
                  <a:srgbClr val="A24800"/>
                </a:solidFill>
                <a:latin typeface="Aptos" pitchFamily="34" charset="0"/>
                <a:ea typeface="Aptos" pitchFamily="34" charset="-122"/>
                <a:cs typeface="Aptos" pitchFamily="34" charset="-120"/>
              </a:rPr>
              <a:t>Subject </a:t>
            </a:r>
            <a:r>
              <a:rPr lang="en-US" sz="1100" b="1" i="1" dirty="0">
                <a:solidFill>
                  <a:srgbClr val="0F6E4D"/>
                </a:solidFill>
                <a:latin typeface="Aptos" pitchFamily="34" charset="0"/>
                <a:ea typeface="Aptos" pitchFamily="34" charset="-122"/>
                <a:cs typeface="Aptos" pitchFamily="34" charset="-120"/>
              </a:rPr>
              <a:t>   Verb </a:t>
            </a:r>
            <a:r>
              <a:rPr lang="en-US" sz="1100" b="1" dirty="0">
                <a:solidFill>
                  <a:srgbClr val="1F5FA8"/>
                </a:solidFill>
                <a:latin typeface="Aptos" pitchFamily="34" charset="0"/>
                <a:ea typeface="Aptos" pitchFamily="34" charset="-122"/>
                <a:cs typeface="Aptos" pitchFamily="34" charset="-120"/>
              </a:rPr>
              <a:t>   Prep phrase </a:t>
            </a:r>
            <a:r>
              <a:rPr lang="en-US" sz="1100" b="1" u="sng" dirty="0">
                <a:solidFill>
                  <a:srgbClr val="000000"/>
                </a:solidFill>
                <a:latin typeface="Aptos" pitchFamily="34" charset="0"/>
                <a:ea typeface="Aptos" pitchFamily="34" charset="-122"/>
                <a:cs typeface="Aptos" pitchFamily="34" charset="-120"/>
              </a:rPr>
              <a:t>   Conjunction</a:t>
            </a:r>
            <a:endParaRPr lang="en-US" sz="1100" dirty="0"/>
          </a:p>
        </p:txBody>
      </p:sp>
      <p:sp>
        <p:nvSpPr>
          <p:cNvPr id="5" name="Text 3"/>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S06</a:t>
            </a:r>
            <a:endParaRPr lang="en-US" sz="1100" dirty="0"/>
          </a:p>
        </p:txBody>
      </p:sp>
      <p:sp>
        <p:nvSpPr>
          <p:cNvPr id="10" name="TextBox 9">
            <a:extLst>
              <a:ext uri="{FF2B5EF4-FFF2-40B4-BE49-F238E27FC236}">
                <a16:creationId xmlns:a16="http://schemas.microsoft.com/office/drawing/2014/main" id="{D55742F4-F2C7-FCAC-C0DA-040AEBA16021}"/>
              </a:ext>
            </a:extLst>
          </p:cNvPr>
          <p:cNvSpPr txBox="1"/>
          <p:nvPr/>
        </p:nvSpPr>
        <p:spPr>
          <a:xfrm>
            <a:off x="0" y="5372100"/>
            <a:ext cx="9144000" cy="2585323"/>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REVEAL — TEACHER NOTES
1. Verb: Add  |  Who? you — implied
   Text: Add the cold eggs, one at a time, stirring well after each egg.   → "one at a time" = HOW  ·  "after each egg" = WHEN
2. Verb: Bake  |  Who? you — implied
   Text: Bake in a 160°C oven for 20 to 25 minutes.   → "in a 160°C oven" = WHERE  ·  "for 20 to 25 minutes" = WHEN
3. Verb: Cool  |  Who? you — implied
   Text: Cool completely before removing the brownies from the pan.   → "before removing..." = WHEN (a condition)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8" name="TextBox 7">
            <a:extLst>
              <a:ext uri="{FF2B5EF4-FFF2-40B4-BE49-F238E27FC236}">
                <a16:creationId xmlns:a16="http://schemas.microsoft.com/office/drawing/2014/main" id="{4CEA5FC2-645E-A99A-43A0-8E570A33EC1B}"/>
              </a:ext>
            </a:extLst>
          </p:cNvPr>
          <p:cNvSpPr txBox="1"/>
          <p:nvPr/>
        </p:nvSpPr>
        <p:spPr>
          <a:xfrm>
            <a:off x="457200" y="1423445"/>
            <a:ext cx="6011056" cy="3477875"/>
          </a:xfrm>
          <a:prstGeom prst="rect">
            <a:avLst/>
          </a:prstGeom>
          <a:noFill/>
        </p:spPr>
        <p:txBody>
          <a:bodyPr wrap="square">
            <a:spAutoFit/>
          </a:bodyPr>
          <a:lstStyle/>
          <a:p>
            <a:pPr marL="630238"/>
            <a:r>
              <a:rPr lang="en-US" sz="2000" i="1" dirty="0">
                <a:solidFill>
                  <a:srgbClr val="888888"/>
                </a:solidFill>
                <a:latin typeface="Aptos" pitchFamily="34" charset="0"/>
                <a:ea typeface="Aptos" pitchFamily="34" charset="-122"/>
                <a:cs typeface="Aptos" pitchFamily="34" charset="-120"/>
              </a:rPr>
              <a:t>HOW: one at a time</a:t>
            </a:r>
            <a:br>
              <a:rPr lang="en-US" sz="2000" i="1" dirty="0">
                <a:solidFill>
                  <a:srgbClr val="888888"/>
                </a:solidFill>
                <a:latin typeface="Aptos" pitchFamily="34" charset="0"/>
                <a:ea typeface="Aptos" pitchFamily="34" charset="-122"/>
                <a:cs typeface="Aptos" pitchFamily="34" charset="-120"/>
              </a:rPr>
            </a:br>
            <a:r>
              <a:rPr lang="en-US" sz="2000" i="1" dirty="0">
                <a:solidFill>
                  <a:srgbClr val="888888"/>
                </a:solidFill>
                <a:latin typeface="Aptos" pitchFamily="34" charset="0"/>
                <a:ea typeface="Aptos" pitchFamily="34" charset="-122"/>
                <a:cs typeface="Aptos" pitchFamily="34" charset="-120"/>
              </a:rPr>
              <a:t>WHEN: after each egg</a:t>
            </a: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pPr marL="630238"/>
            <a:r>
              <a:rPr lang="en-US" sz="2000" i="1" dirty="0">
                <a:solidFill>
                  <a:srgbClr val="888888"/>
                </a:solidFill>
                <a:latin typeface="Aptos" pitchFamily="34" charset="0"/>
                <a:ea typeface="Aptos" pitchFamily="34" charset="-122"/>
                <a:cs typeface="Aptos" pitchFamily="34" charset="-120"/>
              </a:rPr>
              <a:t>WHERE: in an oven set to 160 degrees</a:t>
            </a:r>
            <a:br>
              <a:rPr lang="en-US" sz="2000" i="1" dirty="0">
                <a:solidFill>
                  <a:srgbClr val="888888"/>
                </a:solidFill>
                <a:latin typeface="Aptos" pitchFamily="34" charset="0"/>
                <a:ea typeface="Aptos" pitchFamily="34" charset="-122"/>
                <a:cs typeface="Aptos" pitchFamily="34" charset="-120"/>
              </a:rPr>
            </a:br>
            <a:r>
              <a:rPr lang="en-US" sz="2000" i="1" dirty="0">
                <a:solidFill>
                  <a:srgbClr val="888888"/>
                </a:solidFill>
                <a:latin typeface="Aptos" pitchFamily="34" charset="0"/>
                <a:ea typeface="Aptos" pitchFamily="34" charset="-122"/>
                <a:cs typeface="Aptos" pitchFamily="34" charset="-120"/>
              </a:rPr>
              <a:t>WHEN: for 20-25 minutes</a:t>
            </a:r>
          </a:p>
          <a:p>
            <a:pPr marL="630238"/>
            <a:endParaRPr lang="en-US" sz="2000" i="1" dirty="0">
              <a:solidFill>
                <a:srgbClr val="888888"/>
              </a:solidFill>
              <a:latin typeface="Aptos" pitchFamily="34" charset="0"/>
              <a:ea typeface="Aptos" pitchFamily="34" charset="-122"/>
              <a:cs typeface="Aptos" pitchFamily="34" charset="-120"/>
            </a:endParaRPr>
          </a:p>
          <a:p>
            <a:pPr marL="630238"/>
            <a:endParaRPr lang="en-US" sz="2000" i="1" dirty="0">
              <a:solidFill>
                <a:srgbClr val="888888"/>
              </a:solidFill>
              <a:latin typeface="Aptos" pitchFamily="34" charset="0"/>
              <a:ea typeface="Aptos" pitchFamily="34" charset="-122"/>
              <a:cs typeface="Aptos" pitchFamily="34" charset="-120"/>
            </a:endParaRPr>
          </a:p>
          <a:p>
            <a:pPr marL="630238"/>
            <a:r>
              <a:rPr lang="en-US" sz="2000" i="1" dirty="0">
                <a:solidFill>
                  <a:srgbClr val="888888"/>
                </a:solidFill>
                <a:latin typeface="Aptos" pitchFamily="34" charset="0"/>
                <a:ea typeface="Aptos" pitchFamily="34" charset="-122"/>
                <a:cs typeface="Aptos" pitchFamily="34" charset="-120"/>
              </a:rPr>
              <a:t>HOW: completely</a:t>
            </a:r>
            <a:br>
              <a:rPr lang="en-US" sz="2000" i="1" dirty="0">
                <a:solidFill>
                  <a:srgbClr val="888888"/>
                </a:solidFill>
                <a:latin typeface="Aptos" pitchFamily="34" charset="0"/>
                <a:ea typeface="Aptos" pitchFamily="34" charset="-122"/>
                <a:cs typeface="Aptos" pitchFamily="34" charset="-120"/>
              </a:rPr>
            </a:br>
            <a:r>
              <a:rPr lang="en-US" sz="2000" i="1" dirty="0">
                <a:solidFill>
                  <a:srgbClr val="888888"/>
                </a:solidFill>
                <a:latin typeface="Aptos" pitchFamily="34" charset="0"/>
                <a:ea typeface="Aptos" pitchFamily="34" charset="-122"/>
                <a:cs typeface="Aptos" pitchFamily="34" charset="-120"/>
              </a:rPr>
              <a:t>WHEN: before removing them from the pan</a:t>
            </a:r>
          </a:p>
          <a:p>
            <a:pPr marL="630238"/>
            <a:endParaRPr lang="en-US" sz="2000" i="1" dirty="0">
              <a:solidFill>
                <a:srgbClr val="888888"/>
              </a:solidFill>
              <a:latin typeface="Aptos" pitchFamily="34" charset="0"/>
              <a:ea typeface="Aptos" pitchFamily="34" charset="-122"/>
              <a:cs typeface="Aptos" pitchFamily="34" charset="-120"/>
            </a:endParaRPr>
          </a:p>
        </p:txBody>
      </p:sp>
      <p:pic>
        <p:nvPicPr>
          <p:cNvPr id="11" name="Graphic 10">
            <a:extLst>
              <a:ext uri="{FF2B5EF4-FFF2-40B4-BE49-F238E27FC236}">
                <a16:creationId xmlns:a16="http://schemas.microsoft.com/office/drawing/2014/main" id="{CE739A76-FABC-E60B-F991-DC3CD5B34F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47466" y="207264"/>
            <a:ext cx="609600" cy="609600"/>
          </a:xfrm>
          <a:prstGeom prst="rect">
            <a:avLst/>
          </a:prstGeom>
        </p:spPr>
      </p:pic>
      <p:pic>
        <p:nvPicPr>
          <p:cNvPr id="13" name="Graphic 12">
            <a:extLst>
              <a:ext uri="{FF2B5EF4-FFF2-40B4-BE49-F238E27FC236}">
                <a16:creationId xmlns:a16="http://schemas.microsoft.com/office/drawing/2014/main" id="{C4DE2AD6-7961-9438-E4F2-A6E0C0241C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7133" y="207264"/>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anim calcmode="lin" valueType="num">
                                      <p:cBhvr additive="base">
                                        <p:cTn id="19" dur="500" fill="hold"/>
                                        <p:tgtEl>
                                          <p:spTgt spid="8">
                                            <p:txEl>
                                              <p:pRg st="6" end="6"/>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0F1"/>
          </a:solidFill>
          <a:ln/>
        </p:spPr>
        <p:txBody>
          <a:bodyPr/>
          <a:lstStyle/>
          <a:p>
            <a:endParaRPr lang="en-AU"/>
          </a:p>
        </p:txBody>
      </p:sp>
      <p:sp>
        <p:nvSpPr>
          <p:cNvPr id="3" name="Text 1"/>
          <p:cNvSpPr/>
          <p:nvPr/>
        </p:nvSpPr>
        <p:spPr>
          <a:xfrm>
            <a:off x="457200" y="137160"/>
            <a:ext cx="8229600" cy="411480"/>
          </a:xfrm>
          <a:prstGeom prst="rect">
            <a:avLst/>
          </a:prstGeom>
          <a:noFill/>
          <a:ln/>
        </p:spPr>
        <p:txBody>
          <a:bodyPr wrap="square" rtlCol="0" anchor="ctr"/>
          <a:lstStyle/>
          <a:p>
            <a:pPr marL="0" indent="0">
              <a:buNone/>
            </a:pPr>
            <a:r>
              <a:rPr lang="en-US" sz="2400" b="1" dirty="0">
                <a:solidFill>
                  <a:srgbClr val="8C072D"/>
                </a:solidFill>
                <a:latin typeface="Aptos" pitchFamily="34" charset="0"/>
                <a:ea typeface="Aptos" pitchFamily="34" charset="-122"/>
                <a:cs typeface="Aptos" pitchFamily="34" charset="-120"/>
              </a:rPr>
              <a:t>Exit task</a:t>
            </a:r>
            <a:endParaRPr lang="en-US" sz="2400" dirty="0"/>
          </a:p>
        </p:txBody>
      </p:sp>
      <p:sp>
        <p:nvSpPr>
          <p:cNvPr id="4" name="Text 2"/>
          <p:cNvSpPr/>
          <p:nvPr/>
        </p:nvSpPr>
        <p:spPr>
          <a:xfrm>
            <a:off x="457200" y="1317427"/>
            <a:ext cx="8229600" cy="384048"/>
          </a:xfrm>
          <a:prstGeom prst="rect">
            <a:avLst/>
          </a:prstGeom>
          <a:noFill/>
          <a:ln/>
        </p:spPr>
        <p:txBody>
          <a:bodyPr wrap="square" rtlCol="0" anchor="ctr"/>
          <a:lstStyle/>
          <a:p>
            <a:pPr marL="0" indent="0">
              <a:buNone/>
            </a:pPr>
            <a:r>
              <a:rPr lang="en-US" sz="1800" b="1" dirty="0">
                <a:solidFill>
                  <a:srgbClr val="000000"/>
                </a:solidFill>
                <a:latin typeface="Aptos" pitchFamily="34" charset="0"/>
                <a:ea typeface="Aptos" pitchFamily="34" charset="-122"/>
                <a:cs typeface="Aptos" pitchFamily="34" charset="-120"/>
              </a:rPr>
              <a:t>1 = Declarative   ·   2 = Imperative   ·   3 = Interrogative   ·   4 = Exclamative</a:t>
            </a:r>
            <a:endParaRPr lang="en-US" sz="1800" dirty="0"/>
          </a:p>
        </p:txBody>
      </p:sp>
      <p:sp>
        <p:nvSpPr>
          <p:cNvPr id="5" name="Text 3"/>
          <p:cNvSpPr/>
          <p:nvPr/>
        </p:nvSpPr>
        <p:spPr>
          <a:xfrm>
            <a:off x="457200" y="1895716"/>
            <a:ext cx="8229600" cy="2932315"/>
          </a:xfrm>
          <a:prstGeom prst="rect">
            <a:avLst/>
          </a:prstGeom>
          <a:noFill/>
          <a:ln/>
        </p:spPr>
        <p:txBody>
          <a:bodyPr wrap="square" rtlCol="0" anchor="t"/>
          <a:lstStyle/>
          <a:p>
            <a:pPr marL="0" indent="0">
              <a:buNone/>
            </a:pPr>
            <a:r>
              <a:rPr lang="en-US" sz="2200" dirty="0">
                <a:solidFill>
                  <a:srgbClr val="000000"/>
                </a:solidFill>
                <a:latin typeface="Aptos" pitchFamily="34" charset="0"/>
                <a:ea typeface="Aptos" pitchFamily="34" charset="-122"/>
                <a:cs typeface="Aptos" pitchFamily="34" charset="-120"/>
              </a:rPr>
              <a:t>Stir continuously for three minutes until the sauce thickens.</a:t>
            </a:r>
            <a:endParaRPr lang="en-US" sz="2200" dirty="0"/>
          </a:p>
          <a:p>
            <a:pPr marL="0" indent="0">
              <a:buNone/>
            </a:pPr>
            <a:endParaRPr lang="en-US" sz="2200" dirty="0"/>
          </a:p>
          <a:p>
            <a:pPr marL="0" indent="0">
              <a:buNone/>
            </a:pPr>
            <a:r>
              <a:rPr lang="en-US" sz="2200" dirty="0">
                <a:solidFill>
                  <a:srgbClr val="000000"/>
                </a:solidFill>
                <a:latin typeface="Aptos" pitchFamily="34" charset="0"/>
                <a:ea typeface="Aptos" pitchFamily="34" charset="-122"/>
                <a:cs typeface="Aptos" pitchFamily="34" charset="-120"/>
              </a:rPr>
              <a:t>This sauce tastes better after it has been refrigerated overnight.</a:t>
            </a:r>
            <a:endParaRPr lang="en-US" sz="2200" dirty="0"/>
          </a:p>
          <a:p>
            <a:pPr marL="0" indent="0">
              <a:buNone/>
            </a:pPr>
            <a:endParaRPr lang="en-US" sz="2200" dirty="0"/>
          </a:p>
          <a:p>
            <a:pPr marL="0" indent="0">
              <a:buNone/>
            </a:pPr>
            <a:r>
              <a:rPr lang="en-US" sz="2200" dirty="0">
                <a:solidFill>
                  <a:srgbClr val="000000"/>
                </a:solidFill>
                <a:latin typeface="Aptos" pitchFamily="34" charset="0"/>
                <a:ea typeface="Aptos" pitchFamily="34" charset="-122"/>
                <a:cs typeface="Aptos" pitchFamily="34" charset="-120"/>
              </a:rPr>
              <a:t>Should we add the spices before or after frying the onions?</a:t>
            </a:r>
            <a:endParaRPr lang="en-US" sz="2200" dirty="0"/>
          </a:p>
          <a:p>
            <a:pPr marL="0" indent="0">
              <a:buNone/>
            </a:pPr>
            <a:endParaRPr lang="en-US" sz="2200" dirty="0"/>
          </a:p>
          <a:p>
            <a:pPr marL="0" indent="0">
              <a:buNone/>
            </a:pPr>
            <a:r>
              <a:rPr lang="en-US" sz="2200" dirty="0">
                <a:solidFill>
                  <a:srgbClr val="000000"/>
                </a:solidFill>
                <a:latin typeface="Aptos" pitchFamily="34" charset="0"/>
                <a:ea typeface="Aptos" pitchFamily="34" charset="-122"/>
                <a:cs typeface="Aptos" pitchFamily="34" charset="-120"/>
              </a:rPr>
              <a:t>What a difference a pinch of salt makes!</a:t>
            </a:r>
            <a:endParaRPr lang="en-US" sz="2200" dirty="0"/>
          </a:p>
        </p:txBody>
      </p:sp>
      <p:sp>
        <p:nvSpPr>
          <p:cNvPr id="6" name="Text 4"/>
          <p:cNvSpPr/>
          <p:nvPr/>
        </p:nvSpPr>
        <p:spPr>
          <a:xfrm>
            <a:off x="457200" y="4736592"/>
            <a:ext cx="7772400" cy="256032"/>
          </a:xfrm>
          <a:prstGeom prst="rect">
            <a:avLst/>
          </a:prstGeom>
          <a:noFill/>
          <a:ln/>
        </p:spPr>
        <p:txBody>
          <a:bodyPr wrap="square" rtlCol="0" anchor="ctr"/>
          <a:lstStyle/>
          <a:p>
            <a:pPr marL="0" indent="0">
              <a:buNone/>
            </a:pPr>
            <a:r>
              <a:rPr lang="en-US" sz="1100" i="1" dirty="0">
                <a:solidFill>
                  <a:srgbClr val="888888"/>
                </a:solidFill>
                <a:latin typeface="Aptos" pitchFamily="34" charset="0"/>
                <a:ea typeface="Aptos" pitchFamily="34" charset="-122"/>
                <a:cs typeface="Aptos" pitchFamily="34" charset="-120"/>
              </a:rPr>
              <a:t>Vote with your fingers — scan the room before revealing.</a:t>
            </a:r>
            <a:endParaRPr lang="en-US" sz="1100" dirty="0"/>
          </a:p>
        </p:txBody>
      </p:sp>
      <p:sp>
        <p:nvSpPr>
          <p:cNvPr id="7" name="Text 5"/>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S06</a:t>
            </a:r>
            <a:endParaRPr lang="en-US" sz="1100" dirty="0"/>
          </a:p>
        </p:txBody>
      </p:sp>
      <p:sp>
        <p:nvSpPr>
          <p:cNvPr id="12" name="TextBox 11">
            <a:extLst>
              <a:ext uri="{FF2B5EF4-FFF2-40B4-BE49-F238E27FC236}">
                <a16:creationId xmlns:a16="http://schemas.microsoft.com/office/drawing/2014/main" id="{D22BFE13-5034-4261-E57C-166EE5A831A7}"/>
              </a:ext>
            </a:extLst>
          </p:cNvPr>
          <p:cNvSpPr txBox="1"/>
          <p:nvPr/>
        </p:nvSpPr>
        <p:spPr>
          <a:xfrm>
            <a:off x="0" y="5372100"/>
            <a:ext cx="9144000" cy="1615827"/>
          </a:xfrm>
          <a:prstGeom prst="rect">
            <a:avLst/>
          </a:prstGeom>
          <a:noFill/>
        </p:spPr>
        <p:txBody>
          <a:bodyPr vert="horz" wrap="square" lIns="0" tIns="0" rIns="0" bIns="0" rtlCol="0">
            <a:spAutoFit/>
          </a:bodyPr>
          <a:lstStyle/>
          <a:p>
            <a:r>
              <a:rPr lang="en-AU" sz="1050">
                <a:solidFill>
                  <a:srgbClr val="212121"/>
                </a:solidFill>
                <a:latin typeface="Aptos" panose="020B0004020202020204" pitchFamily="34" charset="0"/>
              </a:rPr>
              <a:t>EXIT TASK — ANSWERS
1. 2 — Imperative  (two adverbial phrases: for 3 min / until the sauce thickens)
2. 1 — Declarative  (adverbial phrase: after it has been refrigerated overnight)
3. 3 — Interrogative
4. 4 — Exclamative
──
After sentence 1, ask: "How many adverbial phrases does it have? What does each one add?"
Expected: two — "for three minutes" (when) and "until the sauce thickens" (condition/when).</a:t>
            </a:r>
          </a:p>
        </p:txBody>
      </p:sp>
      <p:grpSp>
        <p:nvGrpSpPr>
          <p:cNvPr id="8" name="Group 7">
            <a:extLst>
              <a:ext uri="{FF2B5EF4-FFF2-40B4-BE49-F238E27FC236}">
                <a16:creationId xmlns:a16="http://schemas.microsoft.com/office/drawing/2014/main" id="{0C91A252-82EC-4856-502C-4C8DB20161D1}"/>
              </a:ext>
            </a:extLst>
          </p:cNvPr>
          <p:cNvGrpSpPr/>
          <p:nvPr/>
        </p:nvGrpSpPr>
        <p:grpSpPr>
          <a:xfrm>
            <a:off x="5744633" y="137160"/>
            <a:ext cx="2652183" cy="609600"/>
            <a:chOff x="5744633" y="137160"/>
            <a:chExt cx="2652183" cy="609600"/>
          </a:xfrm>
        </p:grpSpPr>
        <p:pic>
          <p:nvPicPr>
            <p:cNvPr id="10" name="Graphic 9">
              <a:extLst>
                <a:ext uri="{FF2B5EF4-FFF2-40B4-BE49-F238E27FC236}">
                  <a16:creationId xmlns:a16="http://schemas.microsoft.com/office/drawing/2014/main" id="{C9B9D78E-4788-95C9-5F4A-EB9C4FFC7D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7216" y="137160"/>
              <a:ext cx="609600" cy="609600"/>
            </a:xfrm>
            <a:prstGeom prst="rect">
              <a:avLst/>
            </a:prstGeom>
          </p:spPr>
        </p:pic>
        <p:pic>
          <p:nvPicPr>
            <p:cNvPr id="13" name="Graphic 12">
              <a:extLst>
                <a:ext uri="{FF2B5EF4-FFF2-40B4-BE49-F238E27FC236}">
                  <a16:creationId xmlns:a16="http://schemas.microsoft.com/office/drawing/2014/main" id="{F9287A27-2928-FF09-41DC-6FFEFE8728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4633" y="137160"/>
              <a:ext cx="609600" cy="609600"/>
            </a:xfrm>
            <a:prstGeom prst="rect">
              <a:avLst/>
            </a:prstGeom>
          </p:spPr>
        </p:pic>
        <p:pic>
          <p:nvPicPr>
            <p:cNvPr id="14" name="Graphic 13">
              <a:extLst>
                <a:ext uri="{FF2B5EF4-FFF2-40B4-BE49-F238E27FC236}">
                  <a16:creationId xmlns:a16="http://schemas.microsoft.com/office/drawing/2014/main" id="{502BA8B1-AFFD-56DE-2C03-EB6AA0872D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0433" y="137160"/>
              <a:ext cx="609600" cy="609600"/>
            </a:xfrm>
            <a:prstGeom prst="rect">
              <a:avLst/>
            </a:prstGeom>
          </p:spPr>
        </p:pic>
        <p:pic>
          <p:nvPicPr>
            <p:cNvPr id="15" name="Graphic 14">
              <a:extLst>
                <a:ext uri="{FF2B5EF4-FFF2-40B4-BE49-F238E27FC236}">
                  <a16:creationId xmlns:a16="http://schemas.microsoft.com/office/drawing/2014/main" id="{EC221AAA-C367-6A68-1F39-14EBA064EC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233" y="137160"/>
              <a:ext cx="600075" cy="600075"/>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KHS grammar">
      <a:dk1>
        <a:sysClr val="windowText" lastClr="000000"/>
      </a:dk1>
      <a:lt1>
        <a:sysClr val="window" lastClr="FFFFFF"/>
      </a:lt1>
      <a:dk2>
        <a:srgbClr val="0E2841"/>
      </a:dk2>
      <a:lt2>
        <a:srgbClr val="E8E8E8"/>
      </a:lt2>
      <a:accent1>
        <a:srgbClr val="7A0101"/>
      </a:accent1>
      <a:accent2>
        <a:srgbClr val="0DC3A5"/>
      </a:accent2>
      <a:accent3>
        <a:srgbClr val="0072B2"/>
      </a:accent3>
      <a:accent4>
        <a:srgbClr val="0F9ED5"/>
      </a:accent4>
      <a:accent5>
        <a:srgbClr val="8C072D"/>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9f09437d8d02a1e3f0770c32ba2175b3">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555cb06902e6186cbfcc866e1dbcbb82"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CA4DEBCC-7003-436A-86B5-752C32B7CE79}"/>
</file>

<file path=customXml/itemProps2.xml><?xml version="1.0" encoding="utf-8"?>
<ds:datastoreItem xmlns:ds="http://schemas.openxmlformats.org/officeDocument/2006/customXml" ds:itemID="{7AE1CA56-0534-40B5-891D-A6232122F4DD}"/>
</file>

<file path=customXml/itemProps3.xml><?xml version="1.0" encoding="utf-8"?>
<ds:datastoreItem xmlns:ds="http://schemas.openxmlformats.org/officeDocument/2006/customXml" ds:itemID="{C5F65E30-40F5-46DC-AB5F-F621DAF91439}"/>
</file>

<file path=docProps/app.xml><?xml version="1.0" encoding="utf-8"?>
<Properties xmlns="http://schemas.openxmlformats.org/officeDocument/2006/extended-properties" xmlns:vt="http://schemas.openxmlformats.org/officeDocument/2006/docPropsVTypes">
  <TotalTime>12</TotalTime>
  <Words>1492</Words>
  <Application>Microsoft Office PowerPoint</Application>
  <PresentationFormat>On-screen Show (16:9)</PresentationFormat>
  <Paragraphs>68</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4</cp:revision>
  <dcterms:created xsi:type="dcterms:W3CDTF">2026-08-14T04:38:46Z</dcterms:created>
  <dcterms:modified xsi:type="dcterms:W3CDTF">2026-10-05T05:39:54Z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