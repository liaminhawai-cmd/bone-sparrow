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616" autoAdjust="0"/>
  </p:normalViewPr>
  <p:slideViewPr>
    <p:cSldViewPr snapToGrid="0" snapToObjects="1">
      <p:cViewPr varScale="1">
        <p:scale>
          <a:sx n="101" d="100"/>
          <a:sy n="101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359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
In procedural writing, the verb is the instruction. A vague verb (put, mix, do) makes the reader guess. A precise verb (fold, whisk, press) tells them exactly what action to take. The choice of verb carries technical meaning — "fold" tells a cook not to overmix; "beat" tells them to use force.
──
TIMING: 10 minutes total
Display + respond: 3–4 min  |  Reveal + model: 3–4 min  |  Teaching point discussion: 1–2 min  |  Exit task: 1–2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Quick fire
Call out a vague verb; students call back a precise alternative.
  "put" → [melt / add / tip / pour / drop]
  "mix" → [stir / fold / whisk / beat / blend]
  "do"  → [press / work / knead / fold]
Turn and talk (60 sec): "Why does it matter if you 'beat' instead of 'fold' egg whites?"
Expected: beating destroys the air you just whipped in; folding keeps it.
Cold call for a student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dirty="0">
                <a:solidFill>
                  <a:srgbClr val="212121"/>
                </a:solidFill>
                <a:latin typeface="Aptos" panose="020B0004020202020204" pitchFamily="34" charset="0"/>
              </a:rPr>
              <a:t>Allow 30 seconds for student A to respond independently, and then switch to student B. Circulate and observe — do not correct or prompt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1. put: melt  ·  add  ·  place  ·  drop  ·  tip  ·  pour
Each implies a different action and level of care.
2. mix: stir  ·  fold  ·  whisk  ·  beat  ·  blend
"Fold" = gentle.  "Beat" = vigorous.  "Whisk" = add air.
3. do: press  ·  push  ·  work  ·  knead
"Do" is too vague — any precise verb is an improvement.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— ANSWERS
1. 2 — Imperative  (note: "fold" = precise verb)
2. 3 — Interrogative
3. 1 — Declarative
4. 4 — Exclamative
──
After sentence 1, ask: "What does 'fold' tell you that 'mix' doesn't?" Consolidates the session's main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07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— Procedural writing: imperative clauses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 imperative verbs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E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understand that in procedural writing the verb carries the instruction, and to compare the effect of vague and precise verbs.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 02–03 — Procedural writing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S05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399C5-753F-911C-CEA2-B8416A5C05FE}"/>
              </a:ext>
            </a:extLst>
          </p:cNvPr>
          <p:cNvSpPr txBox="1"/>
          <p:nvPr/>
        </p:nvSpPr>
        <p:spPr>
          <a:xfrm>
            <a:off x="0" y="5372100"/>
            <a:ext cx="9144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TEACHING POINT
In procedural writing, the verb is the instruction. A vague verb (put, mix, do) makes the reader guess. A precise verb (fold, whisk, press) tells them exactly what action to take. The choice of verb carries technical meaning — "fold" tells a cook not to overmix; "beat" tells them to use force.
──
TIMING: 10 minutes total
Display + respond: 3–4 min  |  Reveal + model: 3–4 min  |  Teaching point discussion: 1–2 min  |  Exit task: 1–2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446756"/>
            <a:ext cx="8229600" cy="33538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giving instructions, we need to be as precise as possible.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verbs make readers have to guess:  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 ·  “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</a:t>
            </a:r>
            <a:r>
              <a:rPr lang="en-US" sz="2200" b="1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“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</a:t>
            </a: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</a:t>
            </a:r>
            <a:endParaRPr lang="en-US" sz="22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Precise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verbs tell them </a:t>
            </a:r>
            <a:r>
              <a:rPr lang="en-US" sz="22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what to do:  </a:t>
            </a:r>
          </a:p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sift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 ·  “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 ·  “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 between “putting" and “sifting" matters — one uses a sieve to remove unwanted things.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S05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680AA-7F4F-757C-E9B8-3E05EC7EE512}"/>
              </a:ext>
            </a:extLst>
          </p:cNvPr>
          <p:cNvSpPr txBox="1"/>
          <p:nvPr/>
        </p:nvSpPr>
        <p:spPr>
          <a:xfrm>
            <a:off x="0" y="5372100"/>
            <a:ext cx="9144000" cy="17774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Quick fire
Call out a vague verb; students call back a precise alternative.
  "put" → [melt / add / tip / pour / drop]
  "mix" → [stir / fold / whisk / beat / blend]
  "do"  → [press / work / knead / fold]
Turn and talk (60 sec): "Why does it matter if you 'beat' instead of 'fold' egg whites?"
Expected: beating destroys the air you just whipped in; folding keeps it.
Cold call for a student explanation.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4BCC12-C231-C9A1-0A25-67FBC0DF4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0868" y="142875"/>
            <a:ext cx="746125" cy="746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and talk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12746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vague verb with a more precise one. List as many alternatives as you can.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784958"/>
            <a:ext cx="8229600" cy="2951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6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butter into the pan.  [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→ ?]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26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ingredients together until smooth.  [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→ ?]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26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flour and the batter until it pulls away from the sides.  [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→ ?]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students respond — 3–4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S05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C4E95D-43A2-F223-9201-D8EB1BA7115A}"/>
              </a:ext>
            </a:extLst>
          </p:cNvPr>
          <p:cNvSpPr txBox="1"/>
          <p:nvPr/>
        </p:nvSpPr>
        <p:spPr>
          <a:xfrm>
            <a:off x="0" y="5372100"/>
            <a:ext cx="914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endParaRPr lang="en-AU" sz="105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CED1DAC-1470-5B6D-5F95-EDB6537A6A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7680" y="187158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Alternatives — discuss what each implies: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37902"/>
            <a:ext cx="8229600" cy="33798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</a:t>
            </a:r>
            <a:r>
              <a:rPr lang="en-US" sz="2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latin typeface="Aptos" pitchFamily="34" charset="0"/>
                <a:ea typeface="Aptos" pitchFamily="34" charset="-122"/>
                <a:cs typeface="Aptos" pitchFamily="34" charset="-120"/>
              </a:rPr>
              <a:t>    melt  ·  add  ·  place  ·  drop  ·  tip  ·  pour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Each implies a different action and level of care.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</a:t>
            </a:r>
            <a:r>
              <a:rPr lang="en-US" sz="2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latin typeface="Aptos" pitchFamily="34" charset="0"/>
                <a:ea typeface="Aptos" pitchFamily="34" charset="-122"/>
                <a:cs typeface="Aptos" pitchFamily="34" charset="-120"/>
              </a:rPr>
              <a:t>    stir  ·  fold  ·  whisk  ·  beat  ·  blend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"Fold" = gentle.  "Beat" = vigorous.  "Whisk" = add air.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</a:t>
            </a:r>
            <a:r>
              <a:rPr lang="en-US" sz="2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latin typeface="Aptos" pitchFamily="34" charset="0"/>
                <a:ea typeface="Aptos" pitchFamily="34" charset="-122"/>
                <a:cs typeface="Aptos" pitchFamily="34" charset="-120"/>
              </a:rPr>
              <a:t>    press  ·  push  ·  work  ·  knead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"Do" is too vague — any precise verb is an improvement.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S05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0DC8A7-CA31-6843-E94E-D62ABA2291C4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put: melt  ·  add  ·  place  ·  drop  ·  tip  ·  pour
Each implies a different action and level of care.
2. mix: stir  ·  fold  ·  whisk  ·  beat  ·  blend
"Fold" = gentle.  "Beat" = vigorous.  "Whisk" = add air.
3. do: press  ·  push  ·  work  ·  knead
"Do" is too vague — any precise verb is an improvement.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DACA33-227A-30C2-62F2-E18C726718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885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Declarative   ·   2 = Imperative   ·   3 = Interrogative   ·   4 = Exclamative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731502"/>
            <a:ext cx="8229600" cy="3096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 the egg whites gently into the batter.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you remember to sift the flour first?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precise verb makes an instruction clear and unambiguous.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perfectly that instruction describes the technique!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with your fingers — scan the room before revealing.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S05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9FA491-7098-4BD2-CE7A-67B4E9706E8B}"/>
              </a:ext>
            </a:extLst>
          </p:cNvPr>
          <p:cNvSpPr txBox="1"/>
          <p:nvPr/>
        </p:nvSpPr>
        <p:spPr>
          <a:xfrm>
            <a:off x="0" y="5372100"/>
            <a:ext cx="9144000" cy="14542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EXIT TASK — ANSWERS
1. 2 — Imperative  (note: "fold" = precise verb)
2. 3 — Interrogative
3. 1 — Declarative
4. 4 — Exclamative
──
After sentence 1, ask: "What does 'fold' tell you that 'mix' doesn't?" Consolidates the session's main point.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25BF7A7-A998-B7DA-6839-7145F7A777F9}"/>
              </a:ext>
            </a:extLst>
          </p:cNvPr>
          <p:cNvGrpSpPr/>
          <p:nvPr/>
        </p:nvGrpSpPr>
        <p:grpSpPr>
          <a:xfrm>
            <a:off x="5744633" y="137160"/>
            <a:ext cx="2652183" cy="609600"/>
            <a:chOff x="5744633" y="137160"/>
            <a:chExt cx="2652183" cy="609600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2FB11E4-C565-72A1-AFE7-073968271D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87216" y="137160"/>
              <a:ext cx="609600" cy="6096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55ECAF69-9749-3618-20AE-4A2B97C541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4633" y="137160"/>
              <a:ext cx="609600" cy="6096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A6CBB3D-241D-253F-3384-4EA7A88A9E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30433" y="137160"/>
              <a:ext cx="609600" cy="609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45F2510-20A7-39F8-E901-EDD76755AB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6233" y="137160"/>
              <a:ext cx="600075" cy="600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S grammar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7A0101"/>
      </a:accent1>
      <a:accent2>
        <a:srgbClr val="0DC3A5"/>
      </a:accent2>
      <a:accent3>
        <a:srgbClr val="0072B2"/>
      </a:accent3>
      <a:accent4>
        <a:srgbClr val="0F9ED5"/>
      </a:accent4>
      <a:accent5>
        <a:srgbClr val="8C072D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CB6EE371-7837-42E4-9163-36191167E84F}"/>
</file>

<file path=customXml/itemProps2.xml><?xml version="1.0" encoding="utf-8"?>
<ds:datastoreItem xmlns:ds="http://schemas.openxmlformats.org/officeDocument/2006/customXml" ds:itemID="{4C1E1538-DD0F-4487-9F85-9FA8ECC2ED29}"/>
</file>

<file path=customXml/itemProps3.xml><?xml version="1.0" encoding="utf-8"?>
<ds:datastoreItem xmlns:ds="http://schemas.openxmlformats.org/officeDocument/2006/customXml" ds:itemID="{3A472361-E668-4B13-AA7E-F9ACD4AE607D}"/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1344</Words>
  <Application>Microsoft Office PowerPoint</Application>
  <PresentationFormat>On-screen Show (16:9)</PresentationFormat>
  <Paragraphs>64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5</cp:revision>
  <dcterms:created xsi:type="dcterms:W3CDTF">2026-08-14T04:38:46Z</dcterms:created>
  <dcterms:modified xsi:type="dcterms:W3CDTF">2026-10-05T05:38:15Z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