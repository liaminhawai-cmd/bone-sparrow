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638" autoAdjust="0"/>
  </p:normalViewPr>
  <p:slideViewPr>
    <p:cSldViewPr snapToGrid="0" snapToObjects="1">
      <p:cViewPr varScale="1">
        <p:scale>
          <a:sx n="86" d="100"/>
          <a:sy n="86" d="100"/>
        </p:scale>
        <p:origin x="12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89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Procedural texts use almost entirely imperative sentences in the method section — every step is a direct instruction. Declarative sentences appear in the introduction and tip sections. Knowing why each sentence type is used is part of understanding how the text works.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Turn and talk (60 sec)
"You are reading a recipe. Which sentence type do you expect in: (a) the steps? (b) the intro?"
Take 2–3 responses.
Choral completion:
  "Every step in a method section is a/an ___." → [imperative]
  "The introduction uses ___ sentences." → [declarative]
Tip for remembering: "An imperative ORDERS you. A declarative TELLS you. A question ASKS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7063" lvl="0"/>
            <a:r>
              <a:rPr lang="en-US" dirty="0"/>
              <a:t>REVEAL — TEACHER NOTES</a:t>
            </a:r>
          </a:p>
          <a:p>
            <a:pPr marL="627063" lvl="0"/>
            <a:endParaRPr lang="en-US" sz="1200" i="1" dirty="0">
              <a:solidFill>
                <a:srgbClr val="88888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627063" lvl="0"/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Imperative. Direct instruction.</a:t>
            </a:r>
            <a:endParaRPr lang="en-US" sz="1200" dirty="0"/>
          </a:p>
          <a:p>
            <a:pPr marL="627063" lvl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Verb: </a:t>
            </a:r>
            <a:r>
              <a:rPr lang="en-US" sz="12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/ heat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you — implied</a:t>
            </a:r>
          </a:p>
          <a:p>
            <a:pPr marL="627063" lvl="0">
              <a:buNone/>
            </a:pPr>
            <a:endParaRPr lang="en-US" sz="1200" i="1" dirty="0">
              <a:solidFill>
                <a:srgbClr val="888888"/>
              </a:solidFill>
              <a:latin typeface="Aptos" pitchFamily="34" charset="0"/>
            </a:endParaRPr>
          </a:p>
          <a:p>
            <a:pPr lvl="0" indent="627063"/>
            <a:r>
              <a:rPr lang="en-US" sz="1200" i="1" dirty="0">
                <a:solidFill>
                  <a:srgbClr val="888888"/>
                </a:solidFill>
                <a:latin typeface="Aptos" pitchFamily="34" charset="0"/>
              </a:rPr>
              <a:t>2. 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Declarative. States an opinion.</a:t>
            </a:r>
            <a:endParaRPr lang="en-US" sz="1200" dirty="0">
              <a:latin typeface="Aptos" panose="020B0004020202020204" pitchFamily="34" charset="0"/>
            </a:endParaRPr>
          </a:p>
          <a:p>
            <a:pPr lvl="0" indent="627063">
              <a:buNone/>
            </a:pP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Verb: </a:t>
            </a:r>
            <a:r>
              <a:rPr lang="en-US" sz="1200" i="1" dirty="0">
                <a:solidFill>
                  <a:srgbClr val="0F6E4D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is</a:t>
            </a:r>
            <a:r>
              <a:rPr lang="en-US" sz="1200" i="1" dirty="0">
                <a:solidFill>
                  <a:srgbClr val="888888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  ·   Who's doing this?  →  This homemade brownie recipe</a:t>
            </a:r>
            <a:endParaRPr lang="en-US" sz="1200" dirty="0">
              <a:latin typeface="Aptos" panose="020B0004020202020204" pitchFamily="34" charset="0"/>
            </a:endParaRPr>
          </a:p>
          <a:p>
            <a:pPr marL="627063">
              <a:buNone/>
            </a:pPr>
            <a:endParaRPr lang="en-US" sz="1200" dirty="0"/>
          </a:p>
          <a:p>
            <a:r>
              <a:rPr lang="en-US" dirty="0"/>
              <a:t>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2681C-56C7-8900-B0F5-591F74E6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FC38D-8656-20DD-CA4D-EE39206C8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3A868-BB57-B77A-D967-23EE0FCD0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3. 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Interrogative tip + Imperative instruction.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/ Reduce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you</a:t>
            </a:r>
            <a:endParaRPr lang="en-US" sz="1200" dirty="0"/>
          </a:p>
          <a:p>
            <a:pPr marL="0" indent="0">
              <a:buNone/>
            </a:pPr>
            <a:r>
              <a:rPr lang="en-US" dirty="0"/>
              <a:t>
4. 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Fragment — an ingredient list item. Appropriate here.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No verb / no subject in this sentence type.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FB3CC-346F-BD84-07E1-4392CB46A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2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2 — Imperative  (verb-first: Sprinkle)
2. 1 — Declarative  (subject: This sauce)
3. 3 — Interrogative + 2 — Imperative  (tip format)
4. 4 — Exclamative
──
Sentence 3 is deliberately tricky — two sentence types. Ask: "Why does the recipe writer use a question here?"
Expected: it engages the reader; it feels conversational; it marks a tip rather than a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Sentence types: an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types in real texts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sentence types in an authentic procedural text and understand why writers choose each type.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02 — Procedural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64712"/>
            <a:ext cx="8229600" cy="3328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Writers choose sentence types deliberately for different purposes.</a:t>
            </a:r>
            <a:endParaRPr lang="en-US" sz="2200" dirty="0"/>
          </a:p>
          <a:p>
            <a:pPr marL="538163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/ context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declaratives. Sets up background information.</a:t>
            </a:r>
          </a:p>
          <a:p>
            <a:pPr marL="538163">
              <a:spcBef>
                <a:spcPts val="800"/>
              </a:spcBef>
              <a:spcAft>
                <a:spcPts val="800"/>
              </a:spcAft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steps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almost always imperatives. Each step is a direct instruction.</a:t>
            </a:r>
            <a:endParaRPr lang="en-US" sz="2200" dirty="0"/>
          </a:p>
          <a:p>
            <a:pPr marL="538163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Tips sections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often interrogatives ("Want extra-crispy chips?") to engage readers.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CAF2318-C6F1-D34F-E2F3-C4BF5AAE1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417" y="132588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678" y="193622"/>
            <a:ext cx="7052153" cy="584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sentence type is each of these? 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841293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an oven rack in the middle of the oven and heat to 160°C.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homemade brownie recipe is the best one I've made.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extra-fudgy brownies? Reduce the baking time by five minutes.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tablespoons (145 g) unsalted butter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47623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CAC312-53FE-4F32-EFE3-B7AF09026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D3C52AE-62DF-04B1-9E20-BAE79894A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>
              <a:buAutoNum type="arabicPeriod"/>
            </a:pPr>
            <a:r>
              <a:rPr lang="en-US" sz="28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 oven rack in the middle of the oven and </a:t>
            </a:r>
            <a:r>
              <a:rPr lang="en-US" sz="28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160°C.</a:t>
            </a:r>
            <a:r>
              <a:rPr lang="en-US" sz="2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 startAt="2"/>
            </a:pPr>
            <a:r>
              <a:rPr lang="en-US" sz="28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homemade brownie recipe </a:t>
            </a:r>
            <a:r>
              <a:rPr lang="en-US" sz="28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best one I've made.</a:t>
            </a:r>
            <a:endParaRPr lang="en-US" sz="2800" i="1" dirty="0">
              <a:solidFill>
                <a:srgbClr val="88888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6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6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6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251C0F-83FB-7493-5C10-B08E2D002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3014F81-6AEB-5E0F-FAA8-6C74093C6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C0F1-C833-CE42-55F0-0BBCCB3D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824867-84CB-BA8F-B9D5-19DAC520C6A9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7AF3FE-5446-8757-2B6B-12A7BFAB2EE8}"/>
              </a:ext>
            </a:extLst>
          </p:cNvPr>
          <p:cNvSpPr/>
          <p:nvPr/>
        </p:nvSpPr>
        <p:spPr>
          <a:xfrm>
            <a:off x="457200" y="54864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514350" indent="-514350">
              <a:buAutoNum type="arabicPeriod" startAt="3"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extra-fudgy brownies? </a:t>
            </a:r>
            <a:r>
              <a:rPr lang="en-US" sz="28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baking time by five minutes.</a:t>
            </a:r>
            <a:r>
              <a:rPr lang="en-US" sz="2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</a:p>
          <a:p>
            <a:r>
              <a:rPr lang="en-US" sz="2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800" dirty="0"/>
          </a:p>
          <a:p>
            <a:pPr marL="514350" indent="-514350">
              <a:buAutoNum type="arabicPeriod" startAt="4"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tablespoons (145 g) unsalted butter</a:t>
            </a:r>
          </a:p>
          <a:p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1F2BD6-D231-3B53-3D6C-066A098B8C34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58872C-E9A8-9527-EAAE-B9C8001A8836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1F2C9E5-AAF8-3161-4099-E71EC96543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EAB65CE-5C16-00BD-D9CB-C70881773C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9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4591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Declarative   ·   2 = Imperative   ·   3 = Interrogative   ·   4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24108"/>
            <a:ext cx="8229600" cy="2803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Sprinkle the topping evenly over the surface.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sauce has been made in Italian kitchens for centuries.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Fancy a shortcut? Use store-bought pastry.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clever little trick!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</a:t>
            </a:r>
            <a:endParaRPr lang="en-US" sz="11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B2415A-0F3F-E0BB-B8FC-657D3A26B321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F21CA48-1707-1F35-403D-15BFED1BC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58D1ED8-221A-CE40-B550-01FF7987A4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024530E-F404-E496-9C1C-D2730BE757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BA26139-9D7B-F3B3-BA0C-175C464D50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AAD587A7-E16D-4FCF-83B7-F339E6CE549E}"/>
</file>

<file path=customXml/itemProps2.xml><?xml version="1.0" encoding="utf-8"?>
<ds:datastoreItem xmlns:ds="http://schemas.openxmlformats.org/officeDocument/2006/customXml" ds:itemID="{632C68DF-23EB-4CF5-8E53-1414A7D02E4F}"/>
</file>

<file path=customXml/itemProps3.xml><?xml version="1.0" encoding="utf-8"?>
<ds:datastoreItem xmlns:ds="http://schemas.openxmlformats.org/officeDocument/2006/customXml" ds:itemID="{E58070FC-AA33-4F31-995B-5BBAAA753CCD}"/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866</Words>
  <Application>Microsoft Office PowerPoint</Application>
  <PresentationFormat>On-screen Show (16:9)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5</cp:revision>
  <dcterms:created xsi:type="dcterms:W3CDTF">2026-08-14T04:38:46Z</dcterms:created>
  <dcterms:modified xsi:type="dcterms:W3CDTF">2026-10-05T05:38:45Z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