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media/image4.svg" ContentType="image/svg+xml"/>
  <Override PartName="/ppt/notesSlides/notesSlide6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media/image5.svg" ContentType="image/svg+xml"/>
  <Override PartName="/ppt/slides/slide2.xml" ContentType="application/vnd.openxmlformats-officedocument.presentationml.slide+xml"/>
  <Override PartName="/ppt/media/image1.svg" ContentType="image/svg+xml"/>
  <Override PartName="/ppt/notesSlides/notesSlide2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media/image3.svg" ContentType="image/svg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media/image2.svg" ContentType="image/svg+xml"/>
  <Override PartName="/ppt/slides/slide8.xml" ContentType="application/vnd.openxmlformats-officedocument.presentationml.slide+xml"/>
  <Override PartName="/ppt/media/image6.svg" ContentType="image/svg+xml"/>
  <Override PartName="/ppt/notesSlides/notesSlide7.xml" ContentType="application/vnd.openxmlformats-officedocument.presentationml.notesSlide+xml"/>
  <Override PartName="/ppt/media/image9.svg" ContentType="image/svg+xml"/>
  <Override PartName="/ppt/media/image8.svg" ContentType="image/svg+xml"/>
  <Override PartName="/ppt/media/image7.svg" ContentType="image/svg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2" r:id="rId4"/>
    <p:sldId id="258" r:id="rId5"/>
    <p:sldId id="259" r:id="rId6"/>
    <p:sldId id="265" r:id="rId7"/>
    <p:sldId id="264" r:id="rId8"/>
    <p:sldId id="260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5254" autoAdjust="0"/>
  </p:normalViewPr>
  <p:slideViewPr>
    <p:cSldViewPr snapToGrid="0" snapToObjects="1">
      <p:cViewPr varScale="1">
        <p:scale>
          <a:sx n="90" d="100"/>
          <a:sy n="90" d="100"/>
        </p:scale>
        <p:origin x="11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819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POINT
Both facts and claims use declarative sentences. The difference is verifiability: facts can be independently checked; claims are arguments the writer wants you to accept. Good persuasive writing blends both — facts lend authority, claims carry the argument. Learning to spot the difference is essential for reading persuasion critically.
──
TIMING: 10 minutes total
Display + respond: 3–4 min  |  Reveal + model: 3–4 min  |  Teaching point discussion: 1–2 min  |  Exit task: 1–2 min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OTR SCRIPT — OPPORTUNITIES TO RESPOND
OTR — Quick vote
Show 2 sentences one at a time. Students: thumbs up = fact; thumbs down = claim.
  "Water boils at 100°C." → fact (up)
  "Grammar is the most important subject in school." → claim (down)
Turn and talk (60 sec): "How do you tell a fact from a claim? What do you look for?"
Expected: facts are checkable; claims have value words (important, harmful, necessary) or predictions.
Choral completion:
  "A fact can be independently ___." → [verified / checked]
  "A claim is the writer's ___." → [argument / opinion]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3–4 minutes for all students to respond independently. Circulate and observe — do not correct or prompt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REVEAL — TEACHER NOTES
1. </a:t>
            </a: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r>
              <a:rPr lang="en-US" sz="1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→ Fact. Can be independently verified.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Verb: </a:t>
            </a:r>
            <a:r>
              <a:rPr lang="en-US" sz="1050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introduced</a:t>
            </a:r>
            <a:r>
              <a:rPr lang="en-US" sz="1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·   Who's doing this?  →  Australia</a:t>
            </a:r>
            <a:endParaRPr lang="en-US" sz="1200" dirty="0"/>
          </a:p>
          <a:p>
            <a:r>
              <a:rPr lang="en-US" dirty="0"/>
              <a:t>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F700E-0A0A-CBC0-4F45-1765B814E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7EC0F6-4AF3-9D0D-764C-B8DA832C8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618469-2E73-A51F-A2B3-514F84A74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REVEAL — TEACHER NOTES
1. </a:t>
            </a: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r>
              <a:rPr lang="en-US" sz="1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→ Fact. Can be independently verified.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Verb: </a:t>
            </a:r>
            <a:r>
              <a:rPr lang="en-US" sz="1050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introduced</a:t>
            </a:r>
            <a:r>
              <a:rPr lang="en-US" sz="1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·   Who's doing this?  →  Australia</a:t>
            </a:r>
            <a:endParaRPr lang="en-US" sz="1200" dirty="0"/>
          </a:p>
          <a:p>
            <a:r>
              <a:rPr lang="en-US" dirty="0"/>
              <a:t>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46F55-22DE-A549-28F4-3F24E6B103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61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8C297-2B6A-C71A-1D7B-1BFA4CC15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47F934-F429-C758-4859-0238A9F4F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76E485-137B-DE82-3BEA-7A15EBEE2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REVEAL — TEACHER NOTES
1. </a:t>
            </a:r>
            <a:r>
              <a:rPr lang="en-US" sz="1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r>
              <a:rPr lang="en-US" sz="1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→ Fact. Can be independently verified.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   Verb: </a:t>
            </a:r>
            <a:r>
              <a:rPr lang="en-US" sz="1050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introduced</a:t>
            </a:r>
            <a:r>
              <a:rPr lang="en-US" sz="1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·   Who's doing this?  →  Australia</a:t>
            </a:r>
            <a:endParaRPr lang="en-US" sz="1200" dirty="0"/>
          </a:p>
          <a:p>
            <a:r>
              <a:rPr lang="en-US" dirty="0"/>
              <a:t>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7BCDA-7238-B51C-8298-A1CC619835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0656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TASK — ANSWERS
1. 1 — Fact  (verifiable from data)
2. 2 — Claim  (a prediction; not proven)
3. 1 — Fact  (research has been conducted — verifiable)
4. 2 — Claim  ("most important" = value judgement)
──
After each vote, ask: "What word or phrase gave it away?"
Key signal words for claims: "will", "most important", "seriously harmful", comparatives.
Sentence 3 is worth discussing: "Research has found links" — the link itself is evidence-based.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svg"/><Relationship Id="rId4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svg"/><Relationship Id="rId3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sv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svg"/><Relationship Id="rId4" Type="http://schemas.openxmlformats.org/officeDocument/2006/relationships/image" Target="../media/image5.svg"/><Relationship Id="rId5" Type="http://schemas.openxmlformats.org/officeDocument/2006/relationships/image" Target="../media/image13.png"/><Relationship Id="rId6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svg"/><Relationship Id="rId4" Type="http://schemas.openxmlformats.org/officeDocument/2006/relationships/image" Target="../media/image5.svg"/><Relationship Id="rId5" Type="http://schemas.openxmlformats.org/officeDocument/2006/relationships/image" Target="../media/image13.png"/><Relationship Id="rId6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svg"/><Relationship Id="rId4" Type="http://schemas.openxmlformats.org/officeDocument/2006/relationships/image" Target="../media/image5.svg"/><Relationship Id="rId5" Type="http://schemas.openxmlformats.org/officeDocument/2006/relationships/image" Target="../media/image13.png"/><Relationship Id="rId6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svg"/><Relationship Id="rId4" Type="http://schemas.openxmlformats.org/officeDocument/2006/relationships/image" Target="../media/image7.svg"/><Relationship Id="rId5" Type="http://schemas.openxmlformats.org/officeDocument/2006/relationships/image" Target="../media/image8.svg"/><Relationship Id="rId6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C072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 — Persuasive writing: argument and interrogative clauses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Declarative sentences in persuasive writing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D0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intention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FFE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identify declarative sentences that make claims and distinguish them from statements of verifiable fact.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9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04 — Persuasive writing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90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S08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3F94E3-7E9E-1DFD-A69E-B613018EB0B2}"/>
              </a:ext>
            </a:extLst>
          </p:cNvPr>
          <p:cNvSpPr txBox="1"/>
          <p:nvPr/>
        </p:nvSpPr>
        <p:spPr>
          <a:xfrm>
            <a:off x="0" y="5372100"/>
            <a:ext cx="9144000" cy="14542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TEACHING POINT
Both facts and claims use declarative sentences. The difference is verifiability: facts can be independently checked; claims are arguments the writer wants you to accept. Good persuasive writing blends both — facts lend authority, claims carry the argument. Learning to spot the difference is essential for reading persuasion critically.
──
TIMING: 10 minutes total
Display + respond: 3–4 min  |  Reveal + model: 3–4 min  |  Teaching point discussion: 1–2 min  |  Exit task: 1–2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need to know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146132"/>
            <a:ext cx="8229600" cy="36544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persuasive writing, a declarative sentence creates a </a:t>
            </a:r>
            <a:r>
              <a:rPr lang="en-US" sz="22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2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</a:t>
            </a:r>
            <a:r>
              <a:rPr lang="en-US" sz="2200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something verifiable. Someone else can check it.</a:t>
            </a:r>
          </a:p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"Australia introduced the ban in November 2024."</a:t>
            </a:r>
            <a:endParaRPr lang="en-US" sz="2200" dirty="0"/>
          </a:p>
          <a:p>
            <a:pPr marL="0" indent="0">
              <a:spcBef>
                <a:spcPts val="800"/>
              </a:spcBef>
              <a:buNone/>
            </a:pPr>
            <a:r>
              <a:rPr lang="en-US" sz="22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</a:t>
            </a:r>
            <a:r>
              <a:rPr lang="en-US" sz="2200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a statement that is presented as if it is true. It could either be proven or disproven.</a:t>
            </a:r>
          </a:p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"The ban will protect young people."</a:t>
            </a:r>
            <a:endParaRPr lang="en-US" sz="2200" dirty="0"/>
          </a:p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persuasive writing mixes both: facts lend authority, claims carry the argument.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S08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889AB6-4C91-45E0-7574-93CCE729687B}"/>
              </a:ext>
            </a:extLst>
          </p:cNvPr>
          <p:cNvSpPr txBox="1"/>
          <p:nvPr/>
        </p:nvSpPr>
        <p:spPr>
          <a:xfrm>
            <a:off x="0" y="5372100"/>
            <a:ext cx="9144000" cy="21005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OTR SCRIPT — OPPORTUNITIES TO RESPOND
OTR — Quick vote
Show 2 sentences one at a time. Students: thumbs up = fact; thumbs down = claim.
  "Water boils at 100°C." → fact (up)
  "Grammar is the most important subject in school." → claim (down)
Turn and talk (60 sec): "How do you tell a fact from a claim? What do you look for?"
Expected: facts are checkable; claims have value words (important, harmful, necessary) or predictions.
Choral completion:
  "A fact can be independently ___." → [verified / checked]
  "A claim is the writer's ___." → [argument / opinion]</a:t>
            </a:r>
          </a:p>
        </p:txBody>
      </p:sp>
      <p:pic>
        <p:nvPicPr>
          <p:cNvPr id="8" name="Picture 7" descr="Re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0868" y="142875"/>
            <a:ext cx="746125" cy="746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59FF7B0-54E2-CA21-2278-793C4FACB3C7}"/>
              </a:ext>
            </a:extLst>
          </p:cNvPr>
          <p:cNvSpPr/>
          <p:nvPr/>
        </p:nvSpPr>
        <p:spPr>
          <a:xfrm>
            <a:off x="457200" y="182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and Jot</a:t>
            </a:r>
            <a:endParaRPr lang="en-US" sz="2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2FA5E6E-CC0A-033E-18BC-4F8115CE40E9}"/>
              </a:ext>
            </a:extLst>
          </p:cNvPr>
          <p:cNvSpPr/>
          <p:nvPr/>
        </p:nvSpPr>
        <p:spPr>
          <a:xfrm>
            <a:off x="457200" y="1146133"/>
            <a:ext cx="8229600" cy="3043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800" i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your own words now:</a:t>
            </a:r>
          </a:p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Aptos" pitchFamily="34" charset="0"/>
              </a:rPr>
              <a:t>In persuasive writing, what is the difference between a </a:t>
            </a:r>
            <a:r>
              <a:rPr lang="en-US" sz="2800" b="1" dirty="0">
                <a:solidFill>
                  <a:schemeClr val="accent1"/>
                </a:solidFill>
                <a:latin typeface="Aptos" pitchFamily="34" charset="0"/>
              </a:rPr>
              <a:t>fact</a:t>
            </a:r>
            <a:r>
              <a:rPr lang="en-US" sz="2800" dirty="0">
                <a:solidFill>
                  <a:srgbClr val="000000"/>
                </a:solidFill>
                <a:latin typeface="Aptos" pitchFamily="34" charset="0"/>
              </a:rPr>
              <a:t> and a </a:t>
            </a:r>
            <a:r>
              <a:rPr lang="en-US" sz="2800" b="1" dirty="0">
                <a:solidFill>
                  <a:schemeClr val="accent1"/>
                </a:solidFill>
                <a:latin typeface="Aptos" pitchFamily="34" charset="0"/>
              </a:rPr>
              <a:t>claim</a:t>
            </a:r>
            <a:r>
              <a:rPr lang="en-US" sz="2800" dirty="0">
                <a:solidFill>
                  <a:srgbClr val="000000"/>
                </a:solidFill>
                <a:latin typeface="Aptos" pitchFamily="34" charset="0"/>
              </a:rPr>
              <a:t>?</a:t>
            </a:r>
            <a:endParaRPr lang="en-US" sz="28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C778C83-5813-C74F-0C3C-425C444209BB}"/>
              </a:ext>
            </a:extLst>
          </p:cNvPr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S08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4DD75A-1E29-D60B-33FD-4322D7EB6B10}"/>
              </a:ext>
            </a:extLst>
          </p:cNvPr>
          <p:cNvSpPr txBox="1"/>
          <p:nvPr/>
        </p:nvSpPr>
        <p:spPr>
          <a:xfrm>
            <a:off x="0" y="5372100"/>
            <a:ext cx="9144000" cy="21005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OTR SCRIPT — OPPORTUNITIES TO RESPOND
OTR — Quick vote
Show 2 sentences one at a time. Students: thumbs up = fact; thumbs down = claim.
  "Water boils at 100°C." → fact (up)
  "Grammar is the most important subject in school." → claim (down)
Turn and talk (60 sec): "How do you tell a fact from a claim? What do you look for?"
Expected: facts are checkable; claims have value words (important, harmful, necessary) or predictions.
Choral completion:
  "A fact can be independently ___." → [verified / checked]
  "A claim is the writer's ___." → [argument / opinion]</a:t>
            </a:r>
          </a:p>
        </p:txBody>
      </p:sp>
      <p:pic>
        <p:nvPicPr>
          <p:cNvPr id="12" name="Picture 11" descr="Stop_and_j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3923" y="164591"/>
            <a:ext cx="740477" cy="74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362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and talk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77342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this a fact or a claim, or something different? How can you tell?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473692"/>
            <a:ext cx="8229600" cy="32629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Australia introduced the social media ban for under-16s in November 2024.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social media ban will protect young people from serious harm.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we really prepared to sacrifice our mental health so companies can profit?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0" y="4754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students respond — 3–4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S08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612D27-A30F-B119-8BC6-6E88372364C5}"/>
              </a:ext>
            </a:extLst>
          </p:cNvPr>
          <p:cNvSpPr txBox="1"/>
          <p:nvPr/>
        </p:nvSpPr>
        <p:spPr>
          <a:xfrm>
            <a:off x="0" y="5372100"/>
            <a:ext cx="9144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Allow 3–4 minutes for all students to respond independently. Circulate and observe — do not correct or prompt yet.</a:t>
            </a:r>
          </a:p>
        </p:txBody>
      </p:sp>
      <p:pic>
        <p:nvPicPr>
          <p:cNvPr id="12" name="Picture 11" descr="Turn_and_tal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7680" y="187158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99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type of sentences are these?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46200"/>
            <a:ext cx="8229600" cy="28363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Australia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400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introduced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social media ban for under-16s </a:t>
            </a:r>
            <a:r>
              <a:rPr lang="en-US" sz="2400" dirty="0">
                <a:solidFill>
                  <a:srgbClr val="1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November 2024</a:t>
            </a:r>
            <a:r>
              <a:rPr lang="en-US" sz="2400" dirty="0"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</a:t>
            </a:r>
            <a:r>
              <a:rPr lang="en-US" sz="1400" b="1" dirty="0">
                <a:solidFill>
                  <a:srgbClr val="A24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b="1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Verb </a:t>
            </a:r>
            <a:r>
              <a:rPr lang="en-US" sz="1400" b="1" dirty="0">
                <a:solidFill>
                  <a:srgbClr val="1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Prep phrase </a:t>
            </a:r>
            <a:r>
              <a:rPr lang="en-US" sz="1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r>
              <a:rPr lang="en-US" sz="1400" b="1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Conjunction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S08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E2E6D2-4718-FB62-D7FB-E506D9D0C967}"/>
              </a:ext>
            </a:extLst>
          </p:cNvPr>
          <p:cNvSpPr txBox="1"/>
          <p:nvPr/>
        </p:nvSpPr>
        <p:spPr>
          <a:xfrm>
            <a:off x="0" y="5372100"/>
            <a:ext cx="9144000" cy="25853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REVEAL — TEACHER NOTES
1. Verb: introduced  |  Who? Australia
   Text: Australia introduced the social media ban for under-16s in November 2024.   → Fact. Can be independently verified.
2. Verb: will protect  |  Who? The social media ban
   Text: The social media ban will protect young people from serious harm.   → Claim. Cannot be proven; it is an argument.
3. Verb: profit  |  Who? Social media platforms
   Text: Social media platforms profit from the attention of vulnerable teenagers.   → Claim. "Vulnerable" reveals a value judgement.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51EC9F-46C7-0C8F-C259-2E2034092319}"/>
              </a:ext>
            </a:extLst>
          </p:cNvPr>
          <p:cNvSpPr txBox="1"/>
          <p:nvPr/>
        </p:nvSpPr>
        <p:spPr>
          <a:xfrm>
            <a:off x="951482" y="2229416"/>
            <a:ext cx="69215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i="1" dirty="0">
                <a:solidFill>
                  <a:srgbClr val="888888"/>
                </a:solidFill>
                <a:latin typeface="Aptos" pitchFamily="34" charset="0"/>
              </a:rPr>
              <a:t>Subject: </a:t>
            </a:r>
            <a:r>
              <a:rPr lang="en-US" sz="2000" i="1" dirty="0">
                <a:solidFill>
                  <a:schemeClr val="accent1"/>
                </a:solidFill>
                <a:latin typeface="Aptos" pitchFamily="34" charset="0"/>
              </a:rPr>
              <a:t>Australia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888888"/>
                </a:solidFill>
                <a:latin typeface="Aptos" pitchFamily="34" charset="0"/>
              </a:rPr>
              <a:t>Verb: </a:t>
            </a:r>
            <a:r>
              <a:rPr lang="en-US" sz="2000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</a:rPr>
              <a:t>introduced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888888"/>
                </a:solidFill>
                <a:latin typeface="Aptos" pitchFamily="34" charset="0"/>
              </a:rPr>
              <a:t>Prepositional phrase: WHEN – </a:t>
            </a:r>
            <a:r>
              <a:rPr lang="en-US" sz="2000" i="1" dirty="0">
                <a:solidFill>
                  <a:schemeClr val="accent3"/>
                </a:solidFill>
                <a:latin typeface="Aptos" pitchFamily="34" charset="0"/>
              </a:rPr>
              <a:t>in November 2024</a:t>
            </a:r>
          </a:p>
          <a:p>
            <a:pPr marL="0" indent="0">
              <a:buNone/>
            </a:pPr>
            <a:endParaRPr lang="en-US" sz="2000" i="1" dirty="0">
              <a:solidFill>
                <a:schemeClr val="accent3"/>
              </a:solidFill>
              <a:latin typeface="Aptos" pitchFamily="34" charset="0"/>
            </a:endParaRPr>
          </a:p>
          <a:p>
            <a:pPr marL="0" indent="0">
              <a:buNone/>
            </a:pPr>
            <a:r>
              <a:rPr lang="en-US" sz="2000" b="1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Declarative: </a:t>
            </a:r>
            <a:r>
              <a:rPr lang="en-US" sz="2000" i="1" dirty="0">
                <a:solidFill>
                  <a:schemeClr val="accent1"/>
                </a:solidFill>
                <a:latin typeface="Aptos" pitchFamily="34" charset="0"/>
              </a:rPr>
              <a:t>subject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 + </a:t>
            </a:r>
            <a:r>
              <a:rPr lang="en-US" sz="2000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</a:rPr>
              <a:t>verb</a:t>
            </a:r>
            <a:endParaRPr lang="en-US" sz="2000" b="1" i="1" dirty="0">
              <a:solidFill>
                <a:schemeClr val="accent2">
                  <a:lumMod val="75000"/>
                </a:schemeClr>
              </a:solidFill>
              <a:latin typeface="Aptos" pitchFamily="34" charset="0"/>
            </a:endParaRPr>
          </a:p>
          <a:p>
            <a:pPr marL="0" indent="0">
              <a:buNone/>
            </a:pPr>
            <a:endParaRPr lang="en-US" sz="2000" b="1" i="1" dirty="0">
              <a:solidFill>
                <a:schemeClr val="bg1">
                  <a:lumMod val="50000"/>
                </a:schemeClr>
              </a:solidFill>
              <a:latin typeface="Aptos" pitchFamily="34" charset="0"/>
            </a:endParaRPr>
          </a:p>
          <a:p>
            <a:pPr marL="0" indent="0">
              <a:buNone/>
            </a:pPr>
            <a:r>
              <a:rPr lang="en-US" sz="2000" b="1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FACT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: it is true. The information is documented.</a:t>
            </a: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5" name="Picture 24" descr="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7466" y="207264"/>
            <a:ext cx="609600" cy="609600"/>
          </a:xfrm>
          <a:prstGeom prst="rect">
            <a:avLst/>
          </a:prstGeom>
        </p:spPr>
      </p:pic>
      <p:pic>
        <p:nvPicPr>
          <p:cNvPr id="26" name="Picture 25" descr="Stop_and_j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7133" y="207264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ED1F1-A3B5-B871-0145-9495ED0DF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0FC7A4-69BB-9DD7-4A5A-D2697500271C}"/>
              </a:ext>
            </a:extLst>
          </p:cNvPr>
          <p:cNvSpPr/>
          <p:nvPr/>
        </p:nvSpPr>
        <p:spPr>
          <a:xfrm>
            <a:off x="457200" y="137160"/>
            <a:ext cx="599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type of sentences are these?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F5726F1-D5B1-D52C-166A-C2BD10F3070F}"/>
              </a:ext>
            </a:extLst>
          </p:cNvPr>
          <p:cNvSpPr/>
          <p:nvPr/>
        </p:nvSpPr>
        <p:spPr>
          <a:xfrm>
            <a:off x="457200" y="1346200"/>
            <a:ext cx="8229600" cy="28363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social media ban </a:t>
            </a:r>
            <a:r>
              <a:rPr lang="en-US" sz="2400" b="1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will protect 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young people from serious harm.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897A62F-D4A8-5747-DA08-094B34368594}"/>
              </a:ext>
            </a:extLst>
          </p:cNvPr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</a:t>
            </a:r>
            <a:r>
              <a:rPr lang="en-US" sz="1400" b="1" dirty="0">
                <a:solidFill>
                  <a:srgbClr val="A24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b="1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Verb </a:t>
            </a:r>
            <a:r>
              <a:rPr lang="en-US" sz="1400" b="1" dirty="0">
                <a:solidFill>
                  <a:srgbClr val="1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Prep phrase </a:t>
            </a:r>
            <a:r>
              <a:rPr lang="en-US" sz="1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r>
              <a:rPr lang="en-US" sz="1400" b="1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Conjunction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F3B15C1-C58C-BA3C-97C7-A90137D0D8EC}"/>
              </a:ext>
            </a:extLst>
          </p:cNvPr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S08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4C7A98-C495-EB7D-46DF-3B5C03F27D03}"/>
              </a:ext>
            </a:extLst>
          </p:cNvPr>
          <p:cNvSpPr txBox="1"/>
          <p:nvPr/>
        </p:nvSpPr>
        <p:spPr>
          <a:xfrm>
            <a:off x="0" y="5372100"/>
            <a:ext cx="9144000" cy="25853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REVEAL — TEACHER NOTES
1. Verb: introduced  |  Who? Australia
   Text: Australia introduced the social media ban for under-16s in November 2024.   → Fact. Can be independently verified.
2. Verb: will protect  |  Who? The social media ban
   Text: The social media ban will protect young people from serious harm.   → Claim. Cannot be proven; it is an argument.
3. Verb: profit  |  Who? Social media platforms
   Text: Social media platforms profit from the attention of vulnerable teenagers.   → Claim. "Vulnerable" reveals a value judgement.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724A26-ECE5-09B8-2E74-F608F94BF252}"/>
              </a:ext>
            </a:extLst>
          </p:cNvPr>
          <p:cNvSpPr txBox="1"/>
          <p:nvPr/>
        </p:nvSpPr>
        <p:spPr>
          <a:xfrm>
            <a:off x="951481" y="2257499"/>
            <a:ext cx="734585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i="1" dirty="0">
                <a:solidFill>
                  <a:srgbClr val="888888"/>
                </a:solidFill>
                <a:latin typeface="Aptos" pitchFamily="34" charset="0"/>
              </a:rPr>
              <a:t>Subject: </a:t>
            </a:r>
            <a:r>
              <a:rPr lang="en-US" sz="2000" i="1" dirty="0">
                <a:solidFill>
                  <a:schemeClr val="accent1"/>
                </a:solidFill>
                <a:latin typeface="Aptos" pitchFamily="34" charset="0"/>
              </a:rPr>
              <a:t>The social media ban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888888"/>
                </a:solidFill>
                <a:latin typeface="Aptos" pitchFamily="34" charset="0"/>
              </a:rPr>
              <a:t>Verb: </a:t>
            </a:r>
            <a:r>
              <a:rPr lang="en-US" sz="2000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</a:rPr>
              <a:t>will protect</a:t>
            </a:r>
          </a:p>
          <a:p>
            <a:endParaRPr lang="en-US" sz="2000" i="1" dirty="0">
              <a:solidFill>
                <a:schemeClr val="accent3"/>
              </a:solidFill>
              <a:latin typeface="Aptos" pitchFamily="34" charset="0"/>
            </a:endParaRPr>
          </a:p>
          <a:p>
            <a:r>
              <a:rPr lang="en-US" sz="2000" b="1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Declarative: </a:t>
            </a:r>
            <a:r>
              <a:rPr lang="en-US" sz="2000" i="1" dirty="0">
                <a:solidFill>
                  <a:schemeClr val="accent1"/>
                </a:solidFill>
                <a:latin typeface="Aptos" pitchFamily="34" charset="0"/>
              </a:rPr>
              <a:t>subject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 + </a:t>
            </a:r>
            <a:r>
              <a:rPr lang="en-US" sz="2000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</a:rPr>
              <a:t>verb</a:t>
            </a:r>
            <a:endParaRPr lang="en-US" sz="2000" b="1" i="1" dirty="0">
              <a:solidFill>
                <a:schemeClr val="accent2">
                  <a:lumMod val="75000"/>
                </a:schemeClr>
              </a:solidFill>
              <a:latin typeface="Aptos" pitchFamily="34" charset="0"/>
            </a:endParaRPr>
          </a:p>
          <a:p>
            <a:pPr marL="0" indent="0">
              <a:buNone/>
            </a:pPr>
            <a:endParaRPr lang="en-US" sz="2000" i="1" dirty="0">
              <a:solidFill>
                <a:schemeClr val="accent3"/>
              </a:solidFill>
              <a:latin typeface="Aptos" pitchFamily="34" charset="0"/>
            </a:endParaRPr>
          </a:p>
          <a:p>
            <a:pPr marL="0" indent="0">
              <a:buNone/>
            </a:pPr>
            <a:r>
              <a:rPr lang="en-US" sz="2000" b="1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CLAIM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: it could be proven or disproven, but there is no definite answer about how much or why.</a:t>
            </a:r>
            <a:endParaRPr lang="en-US" sz="2000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1" name="Picture 20" descr="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7466" y="207264"/>
            <a:ext cx="609600" cy="609600"/>
          </a:xfrm>
          <a:prstGeom prst="rect">
            <a:avLst/>
          </a:prstGeom>
        </p:spPr>
      </p:pic>
      <p:pic>
        <p:nvPicPr>
          <p:cNvPr id="22" name="Picture 21" descr="Stop_and_j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7133" y="20726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1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D7832-AC10-4A97-C1ED-A281BF4F9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A2A43FC-7AD9-5269-313F-CED1C8005CC0}"/>
              </a:ext>
            </a:extLst>
          </p:cNvPr>
          <p:cNvSpPr/>
          <p:nvPr/>
        </p:nvSpPr>
        <p:spPr>
          <a:xfrm>
            <a:off x="457200" y="137160"/>
            <a:ext cx="599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type of sentences are these?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60C778D-7D5B-A074-D32C-14C31E85CA53}"/>
              </a:ext>
            </a:extLst>
          </p:cNvPr>
          <p:cNvSpPr/>
          <p:nvPr/>
        </p:nvSpPr>
        <p:spPr>
          <a:xfrm>
            <a:off x="457200" y="1346200"/>
            <a:ext cx="8229600" cy="28363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b="1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400" b="1" i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2400" b="1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really prepared </a:t>
            </a:r>
            <a:r>
              <a:rPr lang="en-US" sz="24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sacrifice our mental health so companies can profit?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51FAFC9-9D9F-C078-87F4-80A72A743BDD}"/>
              </a:ext>
            </a:extLst>
          </p:cNvPr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</a:t>
            </a:r>
            <a:r>
              <a:rPr lang="en-US" sz="1400" b="1" dirty="0">
                <a:solidFill>
                  <a:srgbClr val="A248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b="1" i="1" dirty="0">
                <a:solidFill>
                  <a:srgbClr val="0F6E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Verb </a:t>
            </a:r>
            <a:r>
              <a:rPr lang="en-US" sz="1400" b="1" dirty="0">
                <a:solidFill>
                  <a:srgbClr val="1F5F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Prep phrase </a:t>
            </a:r>
            <a:r>
              <a:rPr lang="en-US" sz="14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r>
              <a:rPr lang="en-US" sz="1400" b="1" u="sng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Conjunction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A248E4-449F-1CD2-722E-2976F26A38D5}"/>
              </a:ext>
            </a:extLst>
          </p:cNvPr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S08</a:t>
            </a:r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C5A36E-43E7-57C2-6B02-6A14C4B8E349}"/>
              </a:ext>
            </a:extLst>
          </p:cNvPr>
          <p:cNvSpPr txBox="1"/>
          <p:nvPr/>
        </p:nvSpPr>
        <p:spPr>
          <a:xfrm>
            <a:off x="0" y="5372100"/>
            <a:ext cx="9144000" cy="258532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REVEAL — TEACHER NOTES
1. Verb: introduced  |  Who? Australia
   Text: Australia introduced the social media ban for under-16s in November 2024.   → Fact. Can be independently verified.
2. Verb: will protect  |  Who? The social media ban
   Text: The social media ban will protect young people from serious harm.   → Claim. Cannot be proven; it is an argument.
3. Verb: profit  |  Who? Social media platforms
   Text: Social media platforms profit from the attention of vulnerable teenagers.   → Claim. "Vulnerable" reveals a value judgement.
──
For each sentence, after confirming the type:
  "What is the verb?" (point to colour coding)
  "Who is doing that?" (for declaratives/interrogatives)
  For imperatives: "Who is doing this? — It's implied: you, the reader."
If students disagree: "What would need to change to make it [other type]?"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A0695A-76CA-803D-2636-8D41A10322F2}"/>
              </a:ext>
            </a:extLst>
          </p:cNvPr>
          <p:cNvSpPr txBox="1"/>
          <p:nvPr/>
        </p:nvSpPr>
        <p:spPr>
          <a:xfrm>
            <a:off x="951481" y="2229416"/>
            <a:ext cx="7345851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i="1" dirty="0">
                <a:solidFill>
                  <a:srgbClr val="888888"/>
                </a:solidFill>
                <a:latin typeface="Aptos" pitchFamily="34" charset="0"/>
              </a:rPr>
              <a:t>Subject: </a:t>
            </a:r>
            <a:r>
              <a:rPr lang="en-US" sz="2000" i="1" dirty="0">
                <a:solidFill>
                  <a:schemeClr val="accent1"/>
                </a:solidFill>
                <a:latin typeface="Aptos" pitchFamily="34" charset="0"/>
              </a:rPr>
              <a:t>we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888888"/>
                </a:solidFill>
                <a:latin typeface="Aptos" pitchFamily="34" charset="0"/>
              </a:rPr>
              <a:t>Verb: </a:t>
            </a:r>
            <a:r>
              <a:rPr lang="en-US" sz="2000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</a:rPr>
              <a:t>Are … really prepared</a:t>
            </a:r>
          </a:p>
          <a:p>
            <a:pPr marL="0" indent="0">
              <a:buNone/>
            </a:pPr>
            <a:endParaRPr lang="en-US" sz="2000" i="1" dirty="0">
              <a:solidFill>
                <a:schemeClr val="accent3"/>
              </a:solidFill>
              <a:latin typeface="Aptos" pitchFamily="34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2000" b="1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Interrogative: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 the </a:t>
            </a:r>
            <a:r>
              <a:rPr lang="en-US" sz="2000" i="1" dirty="0">
                <a:solidFill>
                  <a:schemeClr val="accent1"/>
                </a:solidFill>
                <a:latin typeface="Aptos" pitchFamily="34" charset="0"/>
              </a:rPr>
              <a:t>subject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 is in the middle of the </a:t>
            </a:r>
            <a:r>
              <a:rPr lang="en-US" sz="2000" i="1" dirty="0">
                <a:solidFill>
                  <a:schemeClr val="accent2">
                    <a:lumMod val="75000"/>
                  </a:schemeClr>
                </a:solidFill>
                <a:latin typeface="Aptos" pitchFamily="34" charset="0"/>
              </a:rPr>
              <a:t>verb group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.</a:t>
            </a:r>
          </a:p>
          <a:p>
            <a:pPr marL="0" indent="0">
              <a:buNone/>
            </a:pP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In this case, it’s a </a:t>
            </a:r>
            <a:r>
              <a:rPr lang="en-US" sz="2000" b="1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rhetorical question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Aptos" pitchFamily="34" charset="0"/>
              </a:rPr>
              <a:t> because the reader isn’t expected to give an answer.</a:t>
            </a:r>
            <a:endParaRPr lang="en-US" sz="2000" b="1" i="1" dirty="0">
              <a:solidFill>
                <a:schemeClr val="bg1">
                  <a:lumMod val="50000"/>
                </a:schemeClr>
              </a:solidFill>
              <a:latin typeface="Aptos" pitchFamily="34" charset="0"/>
            </a:endParaRPr>
          </a:p>
        </p:txBody>
      </p:sp>
      <p:pic>
        <p:nvPicPr>
          <p:cNvPr id="21" name="Picture 20" descr="Th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7466" y="207264"/>
            <a:ext cx="609600" cy="609600"/>
          </a:xfrm>
          <a:prstGeom prst="rect">
            <a:avLst/>
          </a:prstGeom>
        </p:spPr>
      </p:pic>
      <p:pic>
        <p:nvPicPr>
          <p:cNvPr id="22" name="Picture 21" descr="Stop_and_j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7133" y="20726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00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0F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C07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task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4190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= Fact   ·   2 = Claim   ·   3 = Neither   ·   4 = Not sure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49400"/>
            <a:ext cx="8229600" cy="3278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Australia has one of the highest rates of youth social media use in the world.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Restricting screen time will significantly improve the mental health of teenagers.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has found links between social media and disrupted sleep.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social media ban the most important piece of legislation in a decade?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736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Vote with your fingers — scan the room before revealing.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0" y="47548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S08</a:t>
            </a: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0F6E12-AC96-5611-5D52-E4E4AE55320C}"/>
              </a:ext>
            </a:extLst>
          </p:cNvPr>
          <p:cNvSpPr txBox="1"/>
          <p:nvPr/>
        </p:nvSpPr>
        <p:spPr>
          <a:xfrm>
            <a:off x="0" y="5372100"/>
            <a:ext cx="9144000" cy="17774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AU" sz="1050">
                <a:solidFill>
                  <a:srgbClr val="212121"/>
                </a:solidFill>
                <a:latin typeface="Aptos" panose="020B0004020202020204" pitchFamily="34" charset="0"/>
              </a:rPr>
              <a:t>EXIT TASK — ANSWERS
1. 1 — Fact  (verifiable from data)
2. 2 — Claim  (a prediction; not proven)
3. 1 — Fact  (research has been conducted — verifiable)
4. 2 — Claim  ("most important" = value judgement)
──
After each vote, ask: "What word or phrase gave it away?"
Key signal words for claims: "will", "most important", "seriously harmful", comparatives.
Sentence 3 is worth discussing: "Research has found links" — the link itself is evidence-based.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84685C3-669B-184D-FCE1-A9E8B8184697}"/>
              </a:ext>
            </a:extLst>
          </p:cNvPr>
          <p:cNvGrpSpPr/>
          <p:nvPr/>
        </p:nvGrpSpPr>
        <p:grpSpPr>
          <a:xfrm>
            <a:off x="5744633" y="137160"/>
            <a:ext cx="2652183" cy="609600"/>
            <a:chOff x="5744633" y="137160"/>
            <a:chExt cx="2652183" cy="6096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E9335306-1B17-C58D-3E1A-6D0375BDEA1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87216" y="137160"/>
              <a:ext cx="609600" cy="60960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F8526E3-ACF3-6D03-C239-18D93207EB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44633" y="137160"/>
              <a:ext cx="609600" cy="60960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4DBB33F2-953F-29DE-6B93-B919D3825E0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30433" y="137160"/>
              <a:ext cx="609600" cy="609600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DFE11A1F-2922-0416-C87F-F068EA067F5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116233" y="137160"/>
              <a:ext cx="600075" cy="6000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HS grammar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7A0101"/>
      </a:accent1>
      <a:accent2>
        <a:srgbClr val="0DC3A5"/>
      </a:accent2>
      <a:accent3>
        <a:srgbClr val="0072B2"/>
      </a:accent3>
      <a:accent4>
        <a:srgbClr val="0F9ED5"/>
      </a:accent4>
      <a:accent5>
        <a:srgbClr val="8C072D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A3D4F247C9741BCA78F26B98D0AB7" ma:contentTypeVersion="17" ma:contentTypeDescription="Create a new document." ma:contentTypeScope="" ma:versionID="9f09437d8d02a1e3f0770c32ba2175b3">
  <xsd:schema xmlns:xsd="http://www.w3.org/2001/XMLSchema" xmlns:xs="http://www.w3.org/2001/XMLSchema" xmlns:p="http://schemas.microsoft.com/office/2006/metadata/properties" xmlns:ns2="46846ff6-a39a-4f56-aca6-b2ea1af70d2e" xmlns:ns3="a8299878-b215-4b71-83d0-6b3d83d7e5d9" targetNamespace="http://schemas.microsoft.com/office/2006/metadata/properties" ma:root="true" ma:fieldsID="555cb06902e6186cbfcc866e1dbcbb82" ns2:_="" ns3:_="">
    <xsd:import namespace="46846ff6-a39a-4f56-aca6-b2ea1af70d2e"/>
    <xsd:import namespace="a8299878-b215-4b71-83d0-6b3d83d7e5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846ff6-a39a-4f56-aca6-b2ea1af70d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94073e9b-c14b-4f43-8554-77a15894e2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299878-b215-4b71-83d0-6b3d83d7e5d9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19187b04-ede7-4ab0-a3a9-aa9f31dff0a7}" ma:internalName="TaxCatchAll" ma:showField="CatchAllData" ma:web="a8299878-b215-4b71-83d0-6b3d83d7e5d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6846ff6-a39a-4f56-aca6-b2ea1af70d2e">
      <Terms xmlns="http://schemas.microsoft.com/office/infopath/2007/PartnerControls"/>
    </lcf76f155ced4ddcb4097134ff3c332f>
    <TaxCatchAll xmlns="a8299878-b215-4b71-83d0-6b3d83d7e5d9" xsi:nil="true"/>
  </documentManagement>
</p:properties>
</file>

<file path=customXml/itemProps1.xml><?xml version="1.0" encoding="utf-8"?>
<ds:datastoreItem xmlns:ds="http://schemas.openxmlformats.org/officeDocument/2006/customXml" ds:itemID="{39A06235-D43D-4CD3-9EB0-E451B0FD0F91}"/>
</file>

<file path=customXml/itemProps2.xml><?xml version="1.0" encoding="utf-8"?>
<ds:datastoreItem xmlns:ds="http://schemas.openxmlformats.org/officeDocument/2006/customXml" ds:itemID="{36FBFA8F-519E-4026-B4CC-3FF4DD3F4AA2}"/>
</file>

<file path=customXml/itemProps3.xml><?xml version="1.0" encoding="utf-8"?>
<ds:datastoreItem xmlns:ds="http://schemas.openxmlformats.org/officeDocument/2006/customXml" ds:itemID="{43A48CFE-81E8-4E6C-A7B2-47F5F8C3EC48}"/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2311</Words>
  <Application>Microsoft Office PowerPoint</Application>
  <PresentationFormat>On-screen Show (16:9)</PresentationFormat>
  <Paragraphs>97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/>
  <cp:lastModifiedBy/>
  <cp:revision>4</cp:revision>
  <dcterms:created xsi:type="dcterms:W3CDTF">2026-08-14T04:38:46Z</dcterms:created>
  <dcterms:modified xsi:type="dcterms:W3CDTF">2026-10-05T05:41:48Z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0x010100AC5A3D4F247C9741BCA78F26B98D0AB7</vt:lpwstr>
  </property>
</Properties>
</file>