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164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Pronoun choice is a register decision. "I" is honest but may seem subjective. "You" is direct but can feel accusatory. "We" builds solidarity. Skilled persuasive writers move between them — using "we" for calls to action and "you" to challenge the reader.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Effect test
Show the same sentence three times:
  "I believe the ban is necessary."
  "You need to support the ban."
  "We must support the ban."
Ask: "Which feels most persuasive? Which feels most formal?"
Choral completion:
  "'I' makes the argument sound ___." → [personal / subjective]
  "'You' addresses the ___." → [reader directly]
  "'We' creates ___." → [solidarity / shared responsibility]
Turn and talk: "Which pronoun would you use to challenge a reader? To call them to action? To show this is your personal view?"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1. "I": Personal; signals opinion; invites the reader to agree with an individual.
Honest but may seem subjective or self-centred.
2. "You": Direct; challenges or engages the reader.
Can feel confrontational — use carefully.
3. "We": Inclusive; builds solidarity and shared responsibility.
Best for calls to action: "We must act now."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9E4EC-62CD-5A91-ADBA-04D1AB066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4F1CF-28B1-8919-15D1-F5ADD611D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5EEFF-BA4F-60F6-4BDD-5E6841C48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1. "I": Personal; signals opinion; invites the reader to agree with an individual.
Honest but may seem subjective or self-centred.
2. "You": Direct; challenges or engages the reader.
Can feel confrontational — use carefully.
3. "We": Inclusive; builds solidarity and shared responsibility.
Best for calls to action: "We must act now."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A83A3-9704-8650-5C99-0AE6690492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48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1 — First person singular  (I)
2. 2 — Second person  (You, your)
3. 3 — First person plural  (We)
4. 4 — Third person  (The government)
──
After voting, ask: "Which is most persuasive? Which sounds most formal? Which feels most personal?"
There is no single right answer — the point is that the choice creates different effects.
Ask: "Which pronoun creates the most urgency in a call to action?" → [We]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Persuasive writing: argument and interrogative clauses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Pronoun choice in persuasion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identify first, second, and third person pronouns and understand the rhetorical effect of each choice in persuasive writing.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05 — Writing a persuasive 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S13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81F5BA-B93C-BBED-09D5-C025F658D59D}"/>
              </a:ext>
            </a:extLst>
          </p:cNvPr>
          <p:cNvSpPr txBox="1"/>
          <p:nvPr/>
        </p:nvSpPr>
        <p:spPr>
          <a:xfrm>
            <a:off x="0" y="5372100"/>
            <a:ext cx="9144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TEACHING POINT
Pronoun choice is a register decision. "I" is honest but may seem subjective. "You" is direct but can feel accusatory. "We" builds solidarity. Skilled persuasive writers move between them — using "we" for calls to action and "you" to challenge the reader.
──
TIMING: 10 minutes total
Display + respond: 3–4 min  |  Reveal + model: 3–4 min  |  Teaching point discussion: 1–2 min  |  Exit task: 1–2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Pronouns create different relationships with the reader.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"I"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personal; signals this is the writer's opinion.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"You"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direct; challenges or engages the reader.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"We"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inclusive; creates solidarity and shared responsibility.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Choose your pronoun deliberately — each one positions the reader differently.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S13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B79B7-FD1F-63A0-47B2-0DB49823C2A9}"/>
              </a:ext>
            </a:extLst>
          </p:cNvPr>
          <p:cNvSpPr txBox="1"/>
          <p:nvPr/>
        </p:nvSpPr>
        <p:spPr>
          <a:xfrm>
            <a:off x="0" y="5372100"/>
            <a:ext cx="9144000" cy="24237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Effect test
Show the same sentence three times:
  "I believe the ban is necessary."
  "You need to support the ban."
  "We must support the ban."
Ask: "Which feels most persuasive? Which feels most formal?"
Choral completion:
  "'I' makes the argument sound ___." → [personal / subjective]
  "'You' addresses the ___." → [reader directly]
  "'We' creates ___." → [solidarity / shared responsibility]
Turn and talk: "Which pronoun would you use to challenge a reader? To call them to action? To show this is your personal view?"</a:t>
            </a:r>
          </a:p>
        </p:txBody>
      </p:sp>
      <p:pic>
        <p:nvPicPr>
          <p:cNvPr id="8" name="Picture 7" descr="R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452" y="207941"/>
            <a:ext cx="726016" cy="7260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effect of each pronoun? Rewrite each sentence using a different person. What changes?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believe that the social media ban is long overdue.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need to think about what social media is doing to young people.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owe it to the next generation to take action now.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S13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A478CA-6A86-2843-BC34-9766B760297A}"/>
              </a:ext>
            </a:extLst>
          </p:cNvPr>
          <p:cNvSpPr txBox="1"/>
          <p:nvPr/>
        </p:nvSpPr>
        <p:spPr>
          <a:xfrm>
            <a:off x="0" y="5372100"/>
            <a:ext cx="914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Allow 3–4 minutes for all students to respond independently. Circulate and observe — do not correct or prompt yet.</a:t>
            </a:r>
          </a:p>
        </p:txBody>
      </p:sp>
      <p:pic>
        <p:nvPicPr>
          <p:cNvPr id="12" name="Picture 11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13" name="Picture 12" descr="Stop_and_j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of each pronoun choice: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"I"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Personal; signals opinion; invites the reader to agree with an individual.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Honest but may seem subjective or self-centred.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"You"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Direct; challenges or engages the reader.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Can feel confrontational — use carefully.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"We"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Inclusive; builds solidarity and shared responsibility.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Best for calls to action: "We must act now."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Conjunction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S13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5D11C3-E373-68F9-BCE9-C9951F10A668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"I": Personal; signals opinion; invites the reader to agree with an individual.
Honest but may seem subjective or self-centred.
2. "You": Direct; challenges or engages the reader.
Can feel confrontational — use carefully.
3. "We": Inclusive; builds solidarity and shared responsibility.
Best for calls to action: "We must act now."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pic>
        <p:nvPicPr>
          <p:cNvPr id="12" name="Picture 11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13" name="Picture 12" descr="Turn_and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ECB5-1412-C284-C7C2-50E57F1D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CAE118-3F0E-5D7F-7024-12A154DB74C2}"/>
              </a:ext>
            </a:extLst>
          </p:cNvPr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A6635A-0942-A821-AB69-38101AFFE521}"/>
              </a:ext>
            </a:extLst>
          </p:cNvPr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of each pronoun choice: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E61A23-D041-C256-03DA-44F7C86A58D7}"/>
              </a:ext>
            </a:extLst>
          </p:cNvPr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"I"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Personal; signals opinion; invites the reader to agree with an individual.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Honest but may seem subjective or self-centred.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"You"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Direct; challenges or engages the reader.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Can feel confrontational — use carefully.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"We"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Inclusive; builds solidarity and shared responsibility.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Best for calls to action: "We must act now."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3A1312-0E19-91EC-018C-0C44D2B77E42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Conjunction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80A0B1-2D13-E3F2-5602-A6E11ADFB4D9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S13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82954-C9D7-5A5C-331B-7C1A4B222A7C}"/>
              </a:ext>
            </a:extLst>
          </p:cNvPr>
          <p:cNvSpPr txBox="1"/>
          <p:nvPr/>
        </p:nvSpPr>
        <p:spPr>
          <a:xfrm>
            <a:off x="0" y="5372100"/>
            <a:ext cx="9144000" cy="5770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AU" sz="1050" b="1">
                <a:solidFill>
                  <a:srgbClr val="8C072D"/>
                </a:solidFill>
                <a:latin typeface="Aptos" panose="020B0004020202020204" pitchFamily="34" charset="0"/>
              </a:rPr>
              <a:t>PAIRS REVEAL — REVIEW NEEDED</a:t>
            </a:r>
          </a:p>
          <a:p>
            <a:endParaRPr lang="en-AU" sz="1050">
              <a:latin typeface="Aptos" panose="020B0004020202020204" pitchFamily="34" charset="0"/>
            </a:endParaRPr>
          </a:p>
          <a:p>
            <a:r>
              <a:rPr lang="en-AU" sz="1050">
                <a:latin typeface="Aptos" panose="020B0004020202020204" pitchFamily="34" charset="0"/>
              </a:rPr>
              <a:t>This session uses a comparison/pairs reveal. Please manually distribute sentence pairs across slides 4 and 5 in the same way as Sessions 01–04.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20D0FD-81CE-A7CF-C27F-020EBFD385B1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"I": Personal; signals opinion; invites the reader to agree with an individual.
Honest but may seem subjective or self-centred.
2. "You": Direct; challenges or engages the reader.
Can feel confrontational — use carefully.
3. "We": Inclusive; builds solidarity and shared responsibility.
Best for calls to action: "We must act now."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pic>
        <p:nvPicPr>
          <p:cNvPr id="13" name="Picture 12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14" name="Picture 13" descr="Turn_and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5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First person (I / my)   ·   2 = Second person (you / your)   ·   3 = First person plural (we / our)   ·   4 = Third person (they / it)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firmly believe that the current approach is failing young people.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have the power to make your voice heard on this issue.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cannot afford to ignore the evidence any longer.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government has refused to engage with the research on this topic.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S13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DD6591-1BFC-9B96-29AF-BB20D88F3112}"/>
              </a:ext>
            </a:extLst>
          </p:cNvPr>
          <p:cNvSpPr txBox="1"/>
          <p:nvPr/>
        </p:nvSpPr>
        <p:spPr>
          <a:xfrm>
            <a:off x="0" y="5372100"/>
            <a:ext cx="9144000" cy="1777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EXIT TASK — ANSWERS
1. 1 — First person singular  (I)
2. 2 — Second person  (You, your)
3. 3 — First person plural  (We)
4. 4 — Third person  (The government)
──
After voting, ask: "Which is most persuasive? Which sounds most formal? Which feels most personal?"
There is no single right answer — the point is that the choice creates different effects.
Ask: "Which pronoun creates the most urgency in a call to action?" → [We]</a:t>
            </a:r>
          </a:p>
        </p:txBody>
      </p:sp>
      <p:pic>
        <p:nvPicPr>
          <p:cNvPr id="13" name="Picture 12" descr="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90" y="102404"/>
            <a:ext cx="733509" cy="733509"/>
          </a:xfrm>
          <a:prstGeom prst="rect">
            <a:avLst/>
          </a:prstGeom>
        </p:spPr>
      </p:pic>
      <p:pic>
        <p:nvPicPr>
          <p:cNvPr id="14" name="Picture 13" descr="Tw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631" y="102404"/>
            <a:ext cx="733509" cy="7335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F610312C-0B06-435D-B16A-F3A69F9DAB4F}"/>
</file>

<file path=customXml/itemProps2.xml><?xml version="1.0" encoding="utf-8"?>
<ds:datastoreItem xmlns:ds="http://schemas.openxmlformats.org/officeDocument/2006/customXml" ds:itemID="{B4C407F8-277F-4C2D-BBEE-7CC97641D4BA}"/>
</file>

<file path=customXml/itemProps3.xml><?xml version="1.0" encoding="utf-8"?>
<ds:datastoreItem xmlns:ds="http://schemas.openxmlformats.org/officeDocument/2006/customXml" ds:itemID="{810021B1-7DDB-4BB3-BED6-2B940363FEC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Microsoft Office PowerPoint</Application>
  <PresentationFormat>On-screen Show (16:9)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2</cp:revision>
  <dcterms:created xsi:type="dcterms:W3CDTF">2026-08-14T04:38:46Z</dcterms:created>
  <dcterms:modified xsi:type="dcterms:W3CDTF">2026-09-15T01:29:34Z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