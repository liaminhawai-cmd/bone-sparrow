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s/slide7.xml" ContentType="application/vnd.openxmlformats-officedocument.presentationml.slide+xml"/>
  <Override PartName="/ppt/media/image9.svg" ContentType="image/svg+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media/image3.svg" ContentType="image/svg+xml"/>
  <Override PartName="/ppt/viewProps.xml" ContentType="application/vnd.openxmlformats-officedocument.presentationml.viewProps+xml"/>
  <Override PartName="/ppt/slides/slide2.xml" ContentType="application/vnd.openxmlformats-officedocument.presentationml.slide+xml"/>
  <Override PartName="/ppt/media/image1.svg" ContentType="image/svg+xml"/>
  <Override PartName="/ppt/notesSlides/notesSlide2.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presProps.xml" ContentType="application/vnd.openxmlformats-officedocument.presentationml.presProps+xml"/>
  <Override PartName="/ppt/slides/slide1.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4.xml" ContentType="application/vnd.openxmlformats-officedocument.presentationml.slide+xml"/>
  <Override PartName="/ppt/media/image4.svg" ContentType="image/svg+xml"/>
  <Override PartName="/ppt/media/image8.svg" ContentType="image/svg+xml"/>
  <Override PartName="/ppt/notesSlides/notesSlide4.xml" ContentType="application/vnd.openxmlformats-officedocument.presentationml.notesSlide+xml"/>
  <Override PartName="/ppt/media/image7.svg" ContentType="image/svg+xml"/>
  <Override PartName="/ppt/media/image6.svg" ContentType="image/svg+xml"/>
  <Override PartName="/ppt/media/image5.svg" ContentType="image/svg+xml"/>
  <Override PartName="/ppt/tableStyles.xml" ContentType="application/vnd.openxmlformats-officedocument.presentationml.tableStyles+xml"/>
  <Override PartName="/ppt/slides/slide9.xml" ContentType="application/vnd.openxmlformats-officedocument.presentationml.slide+xml"/>
  <Override PartName="/ppt/notesSlides/notesSlide9.xml" ContentType="application/vnd.openxmlformats-officedocument.presentationml.notesSlide+xml"/>
  <Override PartName="/ppt/slides/slide3.xml" ContentType="application/vnd.openxmlformats-officedocument.presentationml.slide+xml"/>
  <Override PartName="/ppt/media/image2.svg" ContentType="image/svg+xml"/>
  <Override PartName="/ppt/notesSlides/notesSlide3.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2" r:id="rId4"/>
    <p:sldId id="263" r:id="rId5"/>
    <p:sldId id="258" r:id="rId6"/>
    <p:sldId id="259" r:id="rId7"/>
    <p:sldId id="264" r:id="rId8"/>
    <p:sldId id="265" r:id="rId9"/>
    <p:sldId id="260"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07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718" autoAdjust="0"/>
  </p:normalViewPr>
  <p:slideViewPr>
    <p:cSldViewPr snapToGrid="0" snapToObjects="1">
      <p:cViewPr varScale="1">
        <p:scale>
          <a:sx n="83" d="100"/>
          <a:sy n="83" d="100"/>
        </p:scale>
        <p:origin x="1378" y="-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15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TEACHING POINT
Modal verbs signal how certain a claim is. Too weak ("might") and the argument lacks conviction. Too strong ("must") without supporting evidence and the reader pushes back. Skilled persuasive writers choose modals deliberately, calibrating strength to the quality of their evidence.
──
TIMING: 10 minutes total
Display + respond: 3–4 min  |  Reveal + model: 3–4 min  |  Teaching point discussion: 1–2 min  |  Exit task: 1–2 min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OTR SCRIPT — OPPORTUNITIES TO RESPOND
OTR — Ranking
Write these on board: might / could / should / will / must
Students arrange from weakest to strongest — choral response.
Quick vote (fingers):
  "Which modal makes the STRONGEST claim?" → [must] (5 fingers)
  "Which is the WEAKEST?" → [might] (1 finger)
Turn and talk: "If you have a lot of evidence, which modal would you use? If you're not sure, which would you use?"
Cold call to discuss. Expected: strong evidence → "will" or "must"; uncertain → "might" or "could".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A5E97-B5B7-4F46-B9DD-DF4BCD04B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77CFF-9D8D-FA99-39A8-E762452984F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494018F-EC54-63E5-C4C4-8E6B9B003920}"/>
              </a:ext>
            </a:extLst>
          </p:cNvPr>
          <p:cNvSpPr>
            <a:spLocks noGrp="1"/>
          </p:cNvSpPr>
          <p:nvPr>
            <p:ph type="body" idx="1"/>
          </p:nvPr>
        </p:nvSpPr>
        <p:spPr/>
        <p:txBody>
          <a:bodyPr/>
          <a:lstStyle/>
          <a:p>
            <a:r>
              <a:rPr lang="en-US" dirty="0"/>
              <a:t>OTR SCRIPT — OPPORTUNITIES TO RESPOND
OTR — Ranking
Write the modal verbs on the board: should / must / could / will / can
Students think, then turn and talk.
Next slide - vote (fingers):
  "Which modal makes the STRONGEST claim?" → [must] (5 fingers)
  "Which is the WEAKEST?" → [might] (1 finger)
</a:t>
            </a:r>
          </a:p>
        </p:txBody>
      </p:sp>
      <p:sp>
        <p:nvSpPr>
          <p:cNvPr id="4" name="Slide Number Placeholder 3">
            <a:extLst>
              <a:ext uri="{FF2B5EF4-FFF2-40B4-BE49-F238E27FC236}">
                <a16:creationId xmlns:a16="http://schemas.microsoft.com/office/drawing/2014/main" id="{3F52B8F2-9475-A1D1-2E9A-60584B7FDA8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226110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B40FC-BCFC-4AD3-1E23-B8E890CD1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BAA528-B4AF-56C6-C143-8F7CC96000E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C9C312B-EB67-46FC-0895-043181D0F139}"/>
              </a:ext>
            </a:extLst>
          </p:cNvPr>
          <p:cNvSpPr>
            <a:spLocks noGrp="1"/>
          </p:cNvSpPr>
          <p:nvPr>
            <p:ph type="body" idx="1"/>
          </p:nvPr>
        </p:nvSpPr>
        <p:spPr/>
        <p:txBody>
          <a:bodyPr/>
          <a:lstStyle/>
          <a:p>
            <a:r>
              <a:rPr lang="en-US" dirty="0"/>
              <a:t>OTR SCRIPT — OPPORTUNITIES TO RESPOND
OTR — Ranking
Write the modal verbs on the board: should / must / could / will / can
Students think, then turn and talk.
Next slide - vote (fingers):
  "Which modal makes the STRONGEST claim?" → [must] (5 fingers)
  "Which is the WEAKEST?" → [might] (1 finger)
</a:t>
            </a:r>
          </a:p>
        </p:txBody>
      </p:sp>
      <p:sp>
        <p:nvSpPr>
          <p:cNvPr id="4" name="Slide Number Placeholder 3">
            <a:extLst>
              <a:ext uri="{FF2B5EF4-FFF2-40B4-BE49-F238E27FC236}">
                <a16:creationId xmlns:a16="http://schemas.microsoft.com/office/drawing/2014/main" id="{F4FE9A3E-EDE5-739A-DF96-A4497062B65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856646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Allow 3–4 minutes for all students to respond independently. Circulate and observe — do not correct or prompt yet.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REVEAL — TEACHER NOTES
1. could  vs  must: "could" = possible (weak)  ·  "must" = necessary (strong)
"Must" leaves no room for doubt. Only use it with strong evidence.
For each sentence, after confirming the type:
  "What is the verb?" (point to colour coding)
  "Who is doing that?" (for declaratives/interrogatives)
  For imperatives: "Who is doing this? — It's implied: you, the reader."
If students disagree: "What would need to change to make it [other type]?"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54FAE-8C62-6DB9-8E25-C2B74286C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B83CE-1530-952C-6F6A-28995E0D427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F5BD669-E1B7-4338-A1FD-0DC1B40967B5}"/>
              </a:ext>
            </a:extLst>
          </p:cNvPr>
          <p:cNvSpPr>
            <a:spLocks noGrp="1"/>
          </p:cNvSpPr>
          <p:nvPr>
            <p:ph type="body" idx="1"/>
          </p:nvPr>
        </p:nvSpPr>
        <p:spPr/>
        <p:txBody>
          <a:bodyPr/>
          <a:lstStyle/>
          <a:p>
            <a:r>
              <a:rPr lang="en-US" dirty="0"/>
              <a:t>REVEAL — TEACHER NOTES
2. might  vs  will  "might" = uncertain  ·  “will” = stated as fact
“Will cause serious harm" is the strongest claim — it removes all uncertainty.
For each sentence, after confirming the type:
  "What is the verb?" (point to colour coding)
  "Who is doing that?" (for declaratives/interrogatives)
  For imperatives: "Who is doing this? — It's implied: you, the reader."
If students disagree: "What would need to change to make it [other type]?"</a:t>
            </a:r>
          </a:p>
        </p:txBody>
      </p:sp>
      <p:sp>
        <p:nvSpPr>
          <p:cNvPr id="4" name="Slide Number Placeholder 3">
            <a:extLst>
              <a:ext uri="{FF2B5EF4-FFF2-40B4-BE49-F238E27FC236}">
                <a16:creationId xmlns:a16="http://schemas.microsoft.com/office/drawing/2014/main" id="{FCE17722-CFB9-176C-5C65-CFEE6452AF7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281689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004B0-58C3-620A-8D01-89B745DF08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3681B-46FD-92B4-5AE6-A7D18BF3BD1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C05A4E1-3CEA-5B38-3BA8-C724B7BB7821}"/>
              </a:ext>
            </a:extLst>
          </p:cNvPr>
          <p:cNvSpPr>
            <a:spLocks noGrp="1"/>
          </p:cNvSpPr>
          <p:nvPr>
            <p:ph type="body" idx="1"/>
          </p:nvPr>
        </p:nvSpPr>
        <p:spPr/>
        <p:txBody>
          <a:bodyPr/>
          <a:lstStyle/>
          <a:p>
            <a:r>
              <a:rPr lang="en-US" dirty="0"/>
              <a:t>REVEAL — TEACHER NOTES
3. need to  vs  can = recommended  ·  "need to" = a stated necessity
Need to is stronger, but notice how the verb changes from “monitor” to “consider”
For each sentence, after confirming the type:
  "What is the verb?" (point to colour coding)
  "Who is doing that?" (for declaratives/interrogatives)
  For imperatives: "Who is doing this? — It's implied: you, the reader."
If students disagree: "What would need to change to make it [other type]?"</a:t>
            </a:r>
          </a:p>
        </p:txBody>
      </p:sp>
      <p:sp>
        <p:nvSpPr>
          <p:cNvPr id="4" name="Slide Number Placeholder 3">
            <a:extLst>
              <a:ext uri="{FF2B5EF4-FFF2-40B4-BE49-F238E27FC236}">
                <a16:creationId xmlns:a16="http://schemas.microsoft.com/office/drawing/2014/main" id="{8F918670-944A-FE85-346E-DEB54A2D226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55069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EXIT TASK — ANSWERS
1. 1 — Weakest  ("might" = possible, uncertain)
2. 2 — Weak-medium  ("could" = possible)
3. 3 — Strong-medium  ("should" = recommended)
4. 4 — Strongest  ("must" = necessary)
──
After voting, ask: "Which sentence would you use if your evidence was strong? Weak?"
Ask: "Can you rank these in order without the modal verbs? → might / could / should / must"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sv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10.png"/><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 Id="rId7" Type="http://schemas.openxmlformats.org/officeDocument/2006/relationships/image" Target="../media/image8.sv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svg"/><Relationship Id="rId4" Type="http://schemas.openxmlformats.org/officeDocument/2006/relationships/image" Target="../media/image9.svg"/><Relationship Id="rId5" Type="http://schemas.openxmlformats.org/officeDocument/2006/relationships/image" Target="../media/image11.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svg"/><Relationship Id="rId4" Type="http://schemas.openxmlformats.org/officeDocument/2006/relationships/image" Target="../media/image3.svg"/><Relationship Id="rId5" Type="http://schemas.openxmlformats.org/officeDocument/2006/relationships/image" Target="../media/image11.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svg"/><Relationship Id="rId4" Type="http://schemas.openxmlformats.org/officeDocument/2006/relationships/image" Target="../media/image3.svg"/><Relationship Id="rId5" Type="http://schemas.openxmlformats.org/officeDocument/2006/relationships/image" Target="../media/image11.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svg"/><Relationship Id="rId4" Type="http://schemas.openxmlformats.org/officeDocument/2006/relationships/image" Target="../media/image3.svg"/><Relationship Id="rId5" Type="http://schemas.openxmlformats.org/officeDocument/2006/relationships/image" Target="../media/image11.png"/><Relationship Id="rId6"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C072D"/>
          </a:solidFill>
          <a:ln/>
        </p:spPr>
        <p:txBody>
          <a:bodyPr/>
          <a:lstStyle/>
          <a:p>
            <a:endParaRPr lang="en-AU">
              <a:solidFill>
                <a:schemeClr val="accent1"/>
              </a:solidFill>
            </a:endParaRPr>
          </a:p>
        </p:txBody>
      </p:sp>
      <p:sp>
        <p:nvSpPr>
          <p:cNvPr id="3" name="Text 1"/>
          <p:cNvSpPr/>
          <p:nvPr/>
        </p:nvSpPr>
        <p:spPr>
          <a:xfrm>
            <a:off x="457200" y="228600"/>
            <a:ext cx="8229600" cy="292608"/>
          </a:xfrm>
          <a:prstGeom prst="rect">
            <a:avLst/>
          </a:prstGeom>
          <a:noFill/>
          <a:ln/>
        </p:spPr>
        <p:txBody>
          <a:bodyPr wrap="square" rtlCol="0" anchor="ctr"/>
          <a:lstStyle/>
          <a:p>
            <a:pPr marL="0" indent="0">
              <a:buNone/>
            </a:pPr>
            <a:r>
              <a:rPr lang="en-US" sz="1400" i="1" dirty="0">
                <a:solidFill>
                  <a:srgbClr val="FFD0D0"/>
                </a:solidFill>
                <a:latin typeface="Aptos" pitchFamily="34" charset="0"/>
                <a:ea typeface="Aptos" pitchFamily="34" charset="-122"/>
                <a:cs typeface="Aptos" pitchFamily="34" charset="-120"/>
              </a:rPr>
              <a:t>Phase 3 — Persuasive writing: argument and interrogative clauses</a:t>
            </a:r>
            <a:endParaRPr lang="en-US" sz="1400" dirty="0"/>
          </a:p>
        </p:txBody>
      </p:sp>
      <p:sp>
        <p:nvSpPr>
          <p:cNvPr id="4" name="Text 2"/>
          <p:cNvSpPr/>
          <p:nvPr/>
        </p:nvSpPr>
        <p:spPr>
          <a:xfrm>
            <a:off x="457200" y="548640"/>
            <a:ext cx="8229600" cy="384048"/>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Session 10</a:t>
            </a:r>
            <a:endParaRPr lang="en-US" sz="2000" dirty="0"/>
          </a:p>
        </p:txBody>
      </p:sp>
      <p:sp>
        <p:nvSpPr>
          <p:cNvPr id="5" name="Text 3"/>
          <p:cNvSpPr/>
          <p:nvPr/>
        </p:nvSpPr>
        <p:spPr>
          <a:xfrm>
            <a:off x="457200" y="1005840"/>
            <a:ext cx="8229600" cy="1554480"/>
          </a:xfrm>
          <a:prstGeom prst="rect">
            <a:avLst/>
          </a:prstGeom>
          <a:noFill/>
          <a:ln/>
        </p:spPr>
        <p:txBody>
          <a:bodyPr wrap="square" rtlCol="0" anchor="ctr"/>
          <a:lstStyle/>
          <a:p>
            <a:pPr marL="0" indent="0">
              <a:buNone/>
            </a:pPr>
            <a:r>
              <a:rPr lang="en-US" sz="4600" b="1" dirty="0">
                <a:solidFill>
                  <a:srgbClr val="FFFFFF"/>
                </a:solidFill>
                <a:latin typeface="Aptos" pitchFamily="34" charset="0"/>
                <a:ea typeface="Aptos" pitchFamily="34" charset="-122"/>
                <a:cs typeface="Aptos" pitchFamily="34" charset="-120"/>
              </a:rPr>
              <a:t>Using modal verbs</a:t>
            </a:r>
            <a:endParaRPr lang="en-US" sz="4600" dirty="0"/>
          </a:p>
        </p:txBody>
      </p:sp>
      <p:sp>
        <p:nvSpPr>
          <p:cNvPr id="6" name="Text 4"/>
          <p:cNvSpPr/>
          <p:nvPr/>
        </p:nvSpPr>
        <p:spPr>
          <a:xfrm>
            <a:off x="457200" y="2743200"/>
            <a:ext cx="8229600" cy="256032"/>
          </a:xfrm>
          <a:prstGeom prst="rect">
            <a:avLst/>
          </a:prstGeom>
          <a:noFill/>
          <a:ln/>
        </p:spPr>
        <p:txBody>
          <a:bodyPr wrap="square" rtlCol="0" anchor="ctr"/>
          <a:lstStyle/>
          <a:p>
            <a:pPr marL="0" indent="0">
              <a:buNone/>
            </a:pPr>
            <a:r>
              <a:rPr lang="en-US" sz="1300" dirty="0">
                <a:solidFill>
                  <a:srgbClr val="FFD0D0"/>
                </a:solidFill>
                <a:latin typeface="Aptos" pitchFamily="34" charset="0"/>
                <a:ea typeface="Aptos" pitchFamily="34" charset="-122"/>
                <a:cs typeface="Aptos" pitchFamily="34" charset="-120"/>
              </a:rPr>
              <a:t>Learning intention</a:t>
            </a:r>
            <a:endParaRPr lang="en-US" sz="1300" dirty="0"/>
          </a:p>
        </p:txBody>
      </p:sp>
      <p:sp>
        <p:nvSpPr>
          <p:cNvPr id="7" name="Text 5"/>
          <p:cNvSpPr/>
          <p:nvPr/>
        </p:nvSpPr>
        <p:spPr>
          <a:xfrm>
            <a:off x="457200" y="3017520"/>
            <a:ext cx="8229600" cy="1005840"/>
          </a:xfrm>
          <a:prstGeom prst="rect">
            <a:avLst/>
          </a:prstGeom>
          <a:noFill/>
          <a:ln/>
        </p:spPr>
        <p:txBody>
          <a:bodyPr wrap="square" rtlCol="0" anchor="t"/>
          <a:lstStyle/>
          <a:p>
            <a:pPr marL="0" indent="0">
              <a:buNone/>
            </a:pPr>
            <a:r>
              <a:rPr lang="en-US" sz="1900" dirty="0">
                <a:solidFill>
                  <a:srgbClr val="FFE8E8"/>
                </a:solidFill>
                <a:latin typeface="Aptos" pitchFamily="34" charset="0"/>
                <a:ea typeface="Aptos" pitchFamily="34" charset="-122"/>
                <a:cs typeface="Aptos" pitchFamily="34" charset="-120"/>
              </a:rPr>
              <a:t>To rank modal verbs by strength and understand how they signal the writer's level of certainty in a persuasive argument.</a:t>
            </a:r>
            <a:endParaRPr lang="en-US" sz="1900" dirty="0"/>
          </a:p>
        </p:txBody>
      </p:sp>
      <p:sp>
        <p:nvSpPr>
          <p:cNvPr id="8" name="Text 6"/>
          <p:cNvSpPr/>
          <p:nvPr/>
        </p:nvSpPr>
        <p:spPr>
          <a:xfrm>
            <a:off x="457200" y="4754880"/>
            <a:ext cx="7315200" cy="256032"/>
          </a:xfrm>
          <a:prstGeom prst="rect">
            <a:avLst/>
          </a:prstGeom>
          <a:noFill/>
          <a:ln/>
        </p:spPr>
        <p:txBody>
          <a:bodyPr wrap="square" rtlCol="0" anchor="ctr"/>
          <a:lstStyle/>
          <a:p>
            <a:pPr marL="0" indent="0">
              <a:buNone/>
            </a:pPr>
            <a:r>
              <a:rPr lang="en-US" sz="1200" i="1" dirty="0">
                <a:solidFill>
                  <a:srgbClr val="FF9090"/>
                </a:solidFill>
                <a:latin typeface="Aptos" pitchFamily="34" charset="0"/>
                <a:ea typeface="Aptos" pitchFamily="34" charset="-122"/>
                <a:cs typeface="Aptos" pitchFamily="34" charset="-120"/>
              </a:rPr>
              <a:t>Lesson 04 — Persuasive writing</a:t>
            </a:r>
            <a:endParaRPr lang="en-US" sz="1200" dirty="0"/>
          </a:p>
        </p:txBody>
      </p:sp>
      <p:sp>
        <p:nvSpPr>
          <p:cNvPr id="9" name="Text 7"/>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FF9090"/>
                </a:solidFill>
                <a:latin typeface="Aptos" pitchFamily="34" charset="0"/>
                <a:ea typeface="Aptos" pitchFamily="34" charset="-122"/>
                <a:cs typeface="Aptos" pitchFamily="34" charset="-120"/>
              </a:rPr>
              <a:t>S10</a:t>
            </a:r>
            <a:endParaRPr lang="en-US" sz="1100" dirty="0"/>
          </a:p>
        </p:txBody>
      </p:sp>
      <p:sp>
        <p:nvSpPr>
          <p:cNvPr id="10" name="TextBox 9">
            <a:extLst>
              <a:ext uri="{FF2B5EF4-FFF2-40B4-BE49-F238E27FC236}">
                <a16:creationId xmlns:a16="http://schemas.microsoft.com/office/drawing/2014/main" id="{64572B90-E844-AB76-9D5B-4FB00A144059}"/>
              </a:ext>
            </a:extLst>
          </p:cNvPr>
          <p:cNvSpPr txBox="1"/>
          <p:nvPr/>
        </p:nvSpPr>
        <p:spPr>
          <a:xfrm>
            <a:off x="0" y="5372100"/>
            <a:ext cx="9144000" cy="1292662"/>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TEACHING POINT
Modal verbs signal how certain a claim is. Too weak ("might") and the argument lacks conviction. Too strong ("must") without supporting evidence and the reader pushes back. Skilled persuasive writers choose modals deliberately, calibrating strength to the quality of their evidence.
──
TIMING: 10 minutes total
Display + respond: 3–4 min  |  Reveal + model: 3–4 min  |  Teaching point discussion: 1–2 min  |  Exit task: 1–2 min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82880"/>
            <a:ext cx="8229600" cy="384048"/>
          </a:xfrm>
          <a:prstGeom prst="rect">
            <a:avLst/>
          </a:prstGeom>
          <a:noFill/>
          <a:ln/>
        </p:spPr>
        <p:txBody>
          <a:bodyPr wrap="square" rtlCol="0" anchor="ctr"/>
          <a:lstStyle/>
          <a:p>
            <a:pPr marL="0" indent="0">
              <a:buNone/>
            </a:pPr>
            <a:r>
              <a:rPr lang="en-US" sz="2200" b="1" dirty="0">
                <a:solidFill>
                  <a:srgbClr val="8C072D"/>
                </a:solidFill>
                <a:latin typeface="Aptos" pitchFamily="34" charset="0"/>
                <a:ea typeface="Aptos" pitchFamily="34" charset="-122"/>
                <a:cs typeface="Aptos" pitchFamily="34" charset="-120"/>
              </a:rPr>
              <a:t>What you need to know</a:t>
            </a:r>
            <a:endParaRPr lang="en-US" sz="2200" dirty="0"/>
          </a:p>
        </p:txBody>
      </p:sp>
      <p:sp>
        <p:nvSpPr>
          <p:cNvPr id="3" name="Text 1"/>
          <p:cNvSpPr/>
          <p:nvPr/>
        </p:nvSpPr>
        <p:spPr>
          <a:xfrm>
            <a:off x="457200" y="889000"/>
            <a:ext cx="8229600" cy="3911600"/>
          </a:xfrm>
          <a:prstGeom prst="rect">
            <a:avLst/>
          </a:prstGeom>
          <a:noFill/>
          <a:ln/>
        </p:spPr>
        <p:txBody>
          <a:bodyPr wrap="square" rtlCol="0" anchor="ctr"/>
          <a:lstStyle/>
          <a:p>
            <a:pPr marL="0" indent="0">
              <a:spcBef>
                <a:spcPts val="800"/>
              </a:spcBef>
              <a:spcAft>
                <a:spcPts val="800"/>
              </a:spcAft>
              <a:buNone/>
            </a:pPr>
            <a:r>
              <a:rPr lang="en-US" sz="2200" b="1" dirty="0">
                <a:solidFill>
                  <a:srgbClr val="000000"/>
                </a:solidFill>
                <a:latin typeface="Aptos" pitchFamily="34" charset="0"/>
                <a:ea typeface="Aptos" pitchFamily="34" charset="-122"/>
                <a:cs typeface="Aptos" pitchFamily="34" charset="-120"/>
              </a:rPr>
              <a:t>Modal verbs</a:t>
            </a:r>
            <a:r>
              <a:rPr lang="en-US" sz="2200" dirty="0">
                <a:solidFill>
                  <a:srgbClr val="000000"/>
                </a:solidFill>
                <a:latin typeface="Aptos" pitchFamily="34" charset="0"/>
                <a:ea typeface="Aptos" pitchFamily="34" charset="-122"/>
                <a:cs typeface="Aptos" pitchFamily="34" charset="-120"/>
              </a:rPr>
              <a:t> are a type of auxiliary verb.</a:t>
            </a:r>
          </a:p>
          <a:p>
            <a:pPr marL="0" indent="0">
              <a:spcBef>
                <a:spcPts val="800"/>
              </a:spcBef>
              <a:spcAft>
                <a:spcPts val="800"/>
              </a:spcAft>
              <a:buNone/>
            </a:pPr>
            <a:r>
              <a:rPr lang="en-US" sz="2200" dirty="0">
                <a:solidFill>
                  <a:srgbClr val="000000"/>
                </a:solidFill>
                <a:latin typeface="Aptos" pitchFamily="34" charset="0"/>
                <a:ea typeface="Aptos" pitchFamily="34" charset="-122"/>
                <a:cs typeface="Aptos" pitchFamily="34" charset="-120"/>
              </a:rPr>
              <a:t>Auxilliary means ‘extra’.</a:t>
            </a:r>
          </a:p>
          <a:p>
            <a:pPr marL="0" indent="0">
              <a:spcBef>
                <a:spcPts val="800"/>
              </a:spcBef>
              <a:spcAft>
                <a:spcPts val="800"/>
              </a:spcAft>
              <a:buNone/>
            </a:pPr>
            <a:r>
              <a:rPr lang="en-US" sz="2200" dirty="0">
                <a:solidFill>
                  <a:srgbClr val="000000"/>
                </a:solidFill>
                <a:latin typeface="Aptos" pitchFamily="34" charset="0"/>
                <a:ea typeface="Aptos" pitchFamily="34" charset="-122"/>
                <a:cs typeface="Aptos" pitchFamily="34" charset="-120"/>
              </a:rPr>
              <a:t>These ‘extra’ verbs are added to another verb to show how </a:t>
            </a:r>
            <a:r>
              <a:rPr lang="en-US" sz="2200" b="1" dirty="0">
                <a:solidFill>
                  <a:srgbClr val="000000"/>
                </a:solidFill>
                <a:latin typeface="Aptos" pitchFamily="34" charset="0"/>
                <a:ea typeface="Aptos" pitchFamily="34" charset="-122"/>
                <a:cs typeface="Aptos" pitchFamily="34" charset="-120"/>
              </a:rPr>
              <a:t>strong</a:t>
            </a:r>
            <a:r>
              <a:rPr lang="en-US" sz="2200" dirty="0">
                <a:solidFill>
                  <a:srgbClr val="000000"/>
                </a:solidFill>
                <a:latin typeface="Aptos" pitchFamily="34" charset="0"/>
                <a:ea typeface="Aptos" pitchFamily="34" charset="-122"/>
                <a:cs typeface="Aptos" pitchFamily="34" charset="-120"/>
              </a:rPr>
              <a:t> or </a:t>
            </a:r>
            <a:r>
              <a:rPr lang="en-US" sz="2200" b="1" dirty="0">
                <a:solidFill>
                  <a:srgbClr val="000000"/>
                </a:solidFill>
                <a:latin typeface="Aptos" pitchFamily="34" charset="0"/>
                <a:ea typeface="Aptos" pitchFamily="34" charset="-122"/>
                <a:cs typeface="Aptos" pitchFamily="34" charset="-120"/>
              </a:rPr>
              <a:t>certain</a:t>
            </a:r>
            <a:r>
              <a:rPr lang="en-US" sz="2200" dirty="0">
                <a:solidFill>
                  <a:srgbClr val="000000"/>
                </a:solidFill>
                <a:latin typeface="Aptos" pitchFamily="34" charset="0"/>
                <a:ea typeface="Aptos" pitchFamily="34" charset="-122"/>
                <a:cs typeface="Aptos" pitchFamily="34" charset="-120"/>
              </a:rPr>
              <a:t> a claim is.</a:t>
            </a:r>
            <a:endParaRPr lang="en-US" sz="2200" dirty="0"/>
          </a:p>
          <a:p>
            <a:pPr marL="0" indent="0">
              <a:spcBef>
                <a:spcPts val="800"/>
              </a:spcBef>
              <a:spcAft>
                <a:spcPts val="800"/>
              </a:spcAft>
              <a:buNone/>
            </a:pPr>
            <a:r>
              <a:rPr lang="en-US" sz="2200" dirty="0">
                <a:solidFill>
                  <a:srgbClr val="000000"/>
                </a:solidFill>
                <a:latin typeface="Aptos" pitchFamily="34" charset="0"/>
                <a:ea typeface="Aptos" pitchFamily="34" charset="-122"/>
                <a:cs typeface="Aptos" pitchFamily="34" charset="-120"/>
              </a:rPr>
              <a:t>They form a scale from weak to strong:</a:t>
            </a:r>
          </a:p>
          <a:p>
            <a:pPr algn="ctr">
              <a:spcBef>
                <a:spcPts val="800"/>
              </a:spcBef>
              <a:spcAft>
                <a:spcPts val="800"/>
              </a:spcAft>
            </a:pPr>
            <a:r>
              <a:rPr lang="en-US" sz="2200" dirty="0">
                <a:solidFill>
                  <a:srgbClr val="000000"/>
                </a:solidFill>
                <a:latin typeface="Aptos" pitchFamily="34" charset="0"/>
                <a:ea typeface="Aptos" pitchFamily="34" charset="-122"/>
                <a:cs typeface="Aptos" pitchFamily="34" charset="-120"/>
              </a:rPr>
              <a:t>might  -  may - could - should - will - must</a:t>
            </a:r>
          </a:p>
        </p:txBody>
      </p:sp>
      <p:sp>
        <p:nvSpPr>
          <p:cNvPr id="4" name="Text 2"/>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S10</a:t>
            </a:r>
            <a:endParaRPr lang="en-US" sz="1100" dirty="0"/>
          </a:p>
        </p:txBody>
      </p:sp>
      <p:sp>
        <p:nvSpPr>
          <p:cNvPr id="7" name="TextBox 6">
            <a:extLst>
              <a:ext uri="{FF2B5EF4-FFF2-40B4-BE49-F238E27FC236}">
                <a16:creationId xmlns:a16="http://schemas.microsoft.com/office/drawing/2014/main" id="{0CA6020E-77C8-881F-AB8B-F2D3BD49EA30}"/>
              </a:ext>
            </a:extLst>
          </p:cNvPr>
          <p:cNvSpPr txBox="1"/>
          <p:nvPr/>
        </p:nvSpPr>
        <p:spPr>
          <a:xfrm>
            <a:off x="0" y="5372100"/>
            <a:ext cx="9144000" cy="1938992"/>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OTR SCRIPT — OPPORTUNITIES TO RESPOND
OTR — Ranking
Write these on board: might / could / should / will / must
Students arrange from weakest to strongest — choral response.
Quick vote (fingers):
  "Which modal makes the STRONGEST claim?" → [must] (5 fingers)
  "Which is the WEAKEST?" → [might] (1 finger)
Turn and talk: "If you have a lot of evidence, which modal would you use? If you're not sure, which would you use?"
Cold call to discuss. Expected: strong evidence → "will" or "must"; uncertain → "might" or "could".</a:t>
            </a:r>
          </a:p>
        </p:txBody>
      </p:sp>
      <p:pic>
        <p:nvPicPr>
          <p:cNvPr id="8" name="Picture 7" descr="Read.png"/>
          <p:cNvPicPr>
            <a:picLocks noChangeAspect="1"/>
          </p:cNvPicPr>
          <p:nvPr/>
        </p:nvPicPr>
        <p:blipFill>
          <a:blip r:embed="rId4"/>
          <a:stretch>
            <a:fillRect/>
          </a:stretch>
        </p:blipFill>
        <p:spPr>
          <a:xfrm>
            <a:off x="7780868" y="142875"/>
            <a:ext cx="746125" cy="7461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31B1F-0F72-8591-7C2B-FE835C03937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8C852D5-5899-4EFA-1C76-D5E57121482D}"/>
              </a:ext>
            </a:extLst>
          </p:cNvPr>
          <p:cNvSpPr/>
          <p:nvPr/>
        </p:nvSpPr>
        <p:spPr>
          <a:xfrm>
            <a:off x="457200" y="182880"/>
            <a:ext cx="8229600" cy="384048"/>
          </a:xfrm>
          <a:prstGeom prst="rect">
            <a:avLst/>
          </a:prstGeom>
          <a:noFill/>
          <a:ln/>
        </p:spPr>
        <p:txBody>
          <a:bodyPr wrap="square" rtlCol="0" anchor="ctr"/>
          <a:lstStyle/>
          <a:p>
            <a:pPr marL="0" indent="0">
              <a:buNone/>
            </a:pPr>
            <a:r>
              <a:rPr lang="en-US" sz="2200" b="1" dirty="0">
                <a:solidFill>
                  <a:srgbClr val="8C072D"/>
                </a:solidFill>
                <a:latin typeface="Aptos" pitchFamily="34" charset="0"/>
                <a:ea typeface="Aptos" pitchFamily="34" charset="-122"/>
                <a:cs typeface="Aptos" pitchFamily="34" charset="-120"/>
              </a:rPr>
              <a:t>What you need to know</a:t>
            </a:r>
            <a:endParaRPr lang="en-US" sz="2200" dirty="0"/>
          </a:p>
        </p:txBody>
      </p:sp>
      <p:sp>
        <p:nvSpPr>
          <p:cNvPr id="3" name="Text 1">
            <a:extLst>
              <a:ext uri="{FF2B5EF4-FFF2-40B4-BE49-F238E27FC236}">
                <a16:creationId xmlns:a16="http://schemas.microsoft.com/office/drawing/2014/main" id="{48635D51-F28D-8868-A7AD-B2B79DA7F683}"/>
              </a:ext>
            </a:extLst>
          </p:cNvPr>
          <p:cNvSpPr/>
          <p:nvPr/>
        </p:nvSpPr>
        <p:spPr>
          <a:xfrm>
            <a:off x="457200" y="1039660"/>
            <a:ext cx="8229600" cy="3760940"/>
          </a:xfrm>
          <a:prstGeom prst="rect">
            <a:avLst/>
          </a:prstGeom>
          <a:noFill/>
          <a:ln/>
        </p:spPr>
        <p:txBody>
          <a:bodyPr wrap="square" rtlCol="0" anchor="ctr"/>
          <a:lstStyle/>
          <a:p>
            <a:pPr marL="0" indent="0">
              <a:spcBef>
                <a:spcPts val="800"/>
              </a:spcBef>
              <a:spcAft>
                <a:spcPts val="800"/>
              </a:spcAft>
              <a:buNone/>
            </a:pPr>
            <a:r>
              <a:rPr lang="en-US" sz="2400" dirty="0">
                <a:solidFill>
                  <a:srgbClr val="000000"/>
                </a:solidFill>
                <a:latin typeface="Aptos" pitchFamily="34" charset="0"/>
                <a:ea typeface="Aptos" pitchFamily="34" charset="-122"/>
                <a:cs typeface="Aptos" pitchFamily="34" charset="-120"/>
              </a:rPr>
              <a:t>Can you put these in order from </a:t>
            </a:r>
            <a:r>
              <a:rPr lang="en-US" sz="2400" b="1" dirty="0">
                <a:solidFill>
                  <a:srgbClr val="000000"/>
                </a:solidFill>
                <a:latin typeface="Aptos" pitchFamily="34" charset="0"/>
                <a:ea typeface="Aptos" pitchFamily="34" charset="-122"/>
                <a:cs typeface="Aptos" pitchFamily="34" charset="-120"/>
              </a:rPr>
              <a:t>weakest</a:t>
            </a:r>
            <a:r>
              <a:rPr lang="en-US" sz="2400" dirty="0">
                <a:solidFill>
                  <a:srgbClr val="000000"/>
                </a:solidFill>
                <a:latin typeface="Aptos" pitchFamily="34" charset="0"/>
                <a:ea typeface="Aptos" pitchFamily="34" charset="-122"/>
                <a:cs typeface="Aptos" pitchFamily="34" charset="-120"/>
              </a:rPr>
              <a:t> to </a:t>
            </a:r>
            <a:r>
              <a:rPr lang="en-US" sz="2400" b="1" dirty="0">
                <a:solidFill>
                  <a:srgbClr val="000000"/>
                </a:solidFill>
                <a:latin typeface="Aptos" pitchFamily="34" charset="0"/>
                <a:ea typeface="Aptos" pitchFamily="34" charset="-122"/>
                <a:cs typeface="Aptos" pitchFamily="34" charset="-120"/>
              </a:rPr>
              <a:t>strongest</a:t>
            </a:r>
            <a:r>
              <a:rPr lang="en-US" sz="2400" dirty="0">
                <a:solidFill>
                  <a:srgbClr val="000000"/>
                </a:solidFill>
                <a:latin typeface="Aptos" pitchFamily="34" charset="0"/>
                <a:ea typeface="Aptos" pitchFamily="34" charset="-122"/>
                <a:cs typeface="Aptos" pitchFamily="34" charset="-120"/>
              </a:rPr>
              <a:t>?</a:t>
            </a:r>
          </a:p>
          <a:p>
            <a:pPr marL="808038" indent="-342900">
              <a:spcBef>
                <a:spcPts val="800"/>
              </a:spcBef>
              <a:spcAft>
                <a:spcPts val="800"/>
              </a:spcAft>
              <a:buFont typeface="Arial" panose="020B0604020202020204" pitchFamily="34" charset="0"/>
              <a:buChar char="•"/>
            </a:pPr>
            <a:r>
              <a:rPr lang="en-US" sz="2400" i="1" dirty="0">
                <a:solidFill>
                  <a:schemeClr val="accent1"/>
                </a:solidFill>
                <a:latin typeface="Aptos" pitchFamily="34" charset="0"/>
                <a:ea typeface="Aptos" pitchFamily="34" charset="-122"/>
                <a:cs typeface="Aptos" pitchFamily="34" charset="-120"/>
              </a:rPr>
              <a:t>You </a:t>
            </a:r>
            <a:r>
              <a:rPr lang="en-US" sz="2400" b="1" i="1" dirty="0">
                <a:solidFill>
                  <a:schemeClr val="accent1"/>
                </a:solidFill>
                <a:latin typeface="Aptos" pitchFamily="34" charset="0"/>
                <a:ea typeface="Aptos" pitchFamily="34" charset="-122"/>
                <a:cs typeface="Aptos" pitchFamily="34" charset="-120"/>
              </a:rPr>
              <a:t>should</a:t>
            </a:r>
            <a:r>
              <a:rPr lang="en-US" sz="2400" i="1" dirty="0">
                <a:solidFill>
                  <a:schemeClr val="accent1"/>
                </a:solidFill>
                <a:latin typeface="Aptos" pitchFamily="34" charset="0"/>
                <a:ea typeface="Aptos" pitchFamily="34" charset="-122"/>
                <a:cs typeface="Aptos" pitchFamily="34" charset="-120"/>
              </a:rPr>
              <a:t> practise your piano music.</a:t>
            </a:r>
          </a:p>
          <a:p>
            <a:pPr marL="808038" indent="-342900">
              <a:spcBef>
                <a:spcPts val="800"/>
              </a:spcBef>
              <a:spcAft>
                <a:spcPts val="800"/>
              </a:spcAft>
              <a:buFont typeface="Arial" panose="020B0604020202020204" pitchFamily="34" charset="0"/>
              <a:buChar char="•"/>
            </a:pPr>
            <a:r>
              <a:rPr lang="en-US" sz="2400" i="1" dirty="0">
                <a:solidFill>
                  <a:schemeClr val="accent1"/>
                </a:solidFill>
                <a:latin typeface="Aptos" pitchFamily="34" charset="0"/>
                <a:ea typeface="Aptos" pitchFamily="34" charset="-122"/>
                <a:cs typeface="Aptos" pitchFamily="34" charset="-120"/>
              </a:rPr>
              <a:t>You </a:t>
            </a:r>
            <a:r>
              <a:rPr lang="en-US" sz="2400" b="1" i="1" dirty="0">
                <a:solidFill>
                  <a:schemeClr val="accent1"/>
                </a:solidFill>
                <a:latin typeface="Aptos" pitchFamily="34" charset="0"/>
                <a:ea typeface="Aptos" pitchFamily="34" charset="-122"/>
                <a:cs typeface="Aptos" pitchFamily="34" charset="-120"/>
              </a:rPr>
              <a:t>must</a:t>
            </a:r>
            <a:r>
              <a:rPr lang="en-US" sz="2400" i="1" dirty="0">
                <a:solidFill>
                  <a:schemeClr val="accent1"/>
                </a:solidFill>
                <a:latin typeface="Aptos" pitchFamily="34" charset="0"/>
                <a:ea typeface="Aptos" pitchFamily="34" charset="-122"/>
                <a:cs typeface="Aptos" pitchFamily="34" charset="-120"/>
              </a:rPr>
              <a:t> practise your piano music.</a:t>
            </a:r>
          </a:p>
          <a:p>
            <a:pPr marL="808038" indent="-342900">
              <a:spcBef>
                <a:spcPts val="800"/>
              </a:spcBef>
              <a:spcAft>
                <a:spcPts val="800"/>
              </a:spcAft>
              <a:buFont typeface="Arial" panose="020B0604020202020204" pitchFamily="34" charset="0"/>
              <a:buChar char="•"/>
            </a:pPr>
            <a:r>
              <a:rPr lang="en-US" sz="2400" i="1" dirty="0">
                <a:solidFill>
                  <a:schemeClr val="accent1"/>
                </a:solidFill>
                <a:latin typeface="Aptos" pitchFamily="34" charset="0"/>
                <a:ea typeface="Aptos" pitchFamily="34" charset="-122"/>
                <a:cs typeface="Aptos" pitchFamily="34" charset="-120"/>
              </a:rPr>
              <a:t>You </a:t>
            </a:r>
            <a:r>
              <a:rPr lang="en-US" sz="2400" b="1" i="1" dirty="0">
                <a:solidFill>
                  <a:schemeClr val="accent1"/>
                </a:solidFill>
                <a:latin typeface="Aptos" pitchFamily="34" charset="0"/>
                <a:ea typeface="Aptos" pitchFamily="34" charset="-122"/>
                <a:cs typeface="Aptos" pitchFamily="34" charset="-120"/>
              </a:rPr>
              <a:t>could</a:t>
            </a:r>
            <a:r>
              <a:rPr lang="en-US" sz="2400" i="1" dirty="0">
                <a:solidFill>
                  <a:schemeClr val="accent1"/>
                </a:solidFill>
                <a:latin typeface="Aptos" pitchFamily="34" charset="0"/>
                <a:ea typeface="Aptos" pitchFamily="34" charset="-122"/>
                <a:cs typeface="Aptos" pitchFamily="34" charset="-120"/>
              </a:rPr>
              <a:t> practise your piano music.</a:t>
            </a:r>
          </a:p>
          <a:p>
            <a:pPr marL="808038" indent="-342900">
              <a:spcBef>
                <a:spcPts val="800"/>
              </a:spcBef>
              <a:spcAft>
                <a:spcPts val="800"/>
              </a:spcAft>
              <a:buFont typeface="Arial" panose="020B0604020202020204" pitchFamily="34" charset="0"/>
              <a:buChar char="•"/>
            </a:pPr>
            <a:r>
              <a:rPr lang="en-US" sz="2400" i="1" dirty="0">
                <a:solidFill>
                  <a:schemeClr val="accent1"/>
                </a:solidFill>
                <a:latin typeface="Aptos" pitchFamily="34" charset="0"/>
                <a:ea typeface="Aptos" pitchFamily="34" charset="-122"/>
                <a:cs typeface="Aptos" pitchFamily="34" charset="-120"/>
              </a:rPr>
              <a:t>You </a:t>
            </a:r>
            <a:r>
              <a:rPr lang="en-US" sz="2400" b="1" i="1" dirty="0">
                <a:solidFill>
                  <a:schemeClr val="accent1"/>
                </a:solidFill>
                <a:latin typeface="Aptos" pitchFamily="34" charset="0"/>
                <a:ea typeface="Aptos" pitchFamily="34" charset="-122"/>
                <a:cs typeface="Aptos" pitchFamily="34" charset="-120"/>
              </a:rPr>
              <a:t>will</a:t>
            </a:r>
            <a:r>
              <a:rPr lang="en-US" sz="2400" i="1" dirty="0">
                <a:solidFill>
                  <a:schemeClr val="accent1"/>
                </a:solidFill>
                <a:latin typeface="Aptos" pitchFamily="34" charset="0"/>
                <a:ea typeface="Aptos" pitchFamily="34" charset="-122"/>
                <a:cs typeface="Aptos" pitchFamily="34" charset="-120"/>
              </a:rPr>
              <a:t> practise your piano music.</a:t>
            </a:r>
            <a:r>
              <a:rPr lang="en-US" sz="2400" dirty="0">
                <a:solidFill>
                  <a:srgbClr val="000000"/>
                </a:solidFill>
                <a:latin typeface="Aptos" pitchFamily="34" charset="0"/>
                <a:ea typeface="Aptos" pitchFamily="34" charset="-122"/>
                <a:cs typeface="Aptos" pitchFamily="34" charset="-120"/>
              </a:rPr>
              <a:t> </a:t>
            </a:r>
            <a:endParaRPr lang="en-US" sz="2400" dirty="0"/>
          </a:p>
          <a:p>
            <a:pPr marL="808038" indent="-342900">
              <a:spcBef>
                <a:spcPts val="800"/>
              </a:spcBef>
              <a:spcAft>
                <a:spcPts val="800"/>
              </a:spcAft>
              <a:buFont typeface="Arial" panose="020B0604020202020204" pitchFamily="34" charset="0"/>
              <a:buChar char="•"/>
            </a:pPr>
            <a:r>
              <a:rPr lang="en-US" sz="2400" i="1" dirty="0">
                <a:solidFill>
                  <a:schemeClr val="accent1"/>
                </a:solidFill>
                <a:latin typeface="Aptos" pitchFamily="34" charset="0"/>
                <a:ea typeface="Aptos" pitchFamily="34" charset="-122"/>
                <a:cs typeface="Aptos" pitchFamily="34" charset="-120"/>
              </a:rPr>
              <a:t>You </a:t>
            </a:r>
            <a:r>
              <a:rPr lang="en-US" sz="2400" b="1" i="1" dirty="0">
                <a:solidFill>
                  <a:schemeClr val="accent1"/>
                </a:solidFill>
                <a:latin typeface="Aptos" pitchFamily="34" charset="0"/>
                <a:ea typeface="Aptos" pitchFamily="34" charset="-122"/>
                <a:cs typeface="Aptos" pitchFamily="34" charset="-120"/>
              </a:rPr>
              <a:t>can</a:t>
            </a:r>
            <a:r>
              <a:rPr lang="en-US" sz="2400" i="1" dirty="0">
                <a:solidFill>
                  <a:schemeClr val="accent1"/>
                </a:solidFill>
                <a:latin typeface="Aptos" pitchFamily="34" charset="0"/>
                <a:ea typeface="Aptos" pitchFamily="34" charset="-122"/>
                <a:cs typeface="Aptos" pitchFamily="34" charset="-120"/>
              </a:rPr>
              <a:t> practise your piano music.</a:t>
            </a:r>
          </a:p>
        </p:txBody>
      </p:sp>
      <p:sp>
        <p:nvSpPr>
          <p:cNvPr id="4" name="Text 2">
            <a:extLst>
              <a:ext uri="{FF2B5EF4-FFF2-40B4-BE49-F238E27FC236}">
                <a16:creationId xmlns:a16="http://schemas.microsoft.com/office/drawing/2014/main" id="{B19510F2-8A32-F4B2-A67C-788C49E3158F}"/>
              </a:ext>
            </a:extLst>
          </p:cNvPr>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S10</a:t>
            </a:r>
            <a:endParaRPr lang="en-US" sz="1100" dirty="0"/>
          </a:p>
        </p:txBody>
      </p:sp>
      <p:sp>
        <p:nvSpPr>
          <p:cNvPr id="7" name="TextBox 6">
            <a:extLst>
              <a:ext uri="{FF2B5EF4-FFF2-40B4-BE49-F238E27FC236}">
                <a16:creationId xmlns:a16="http://schemas.microsoft.com/office/drawing/2014/main" id="{53DA0B02-B91A-308D-A2CF-41930EBD5B7B}"/>
              </a:ext>
            </a:extLst>
          </p:cNvPr>
          <p:cNvSpPr txBox="1"/>
          <p:nvPr/>
        </p:nvSpPr>
        <p:spPr>
          <a:xfrm>
            <a:off x="0" y="5372100"/>
            <a:ext cx="9144000" cy="1938992"/>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OTR SCRIPT — OPPORTUNITIES TO RESPOND
OTR — Ranking
Write these on board: might / could / should / will / must
Students arrange from weakest to strongest — choral response.
Quick vote (fingers):
  "Which modal makes the STRONGEST claim?" → [must] (5 fingers)
  "Which is the WEAKEST?" → [might] (1 finger)
Turn and talk: "If you have a lot of evidence, which modal would you use? If you're not sure, which would you use?"
Cold call to discuss. Expected: strong evidence → "will" or "must"; uncertain → "might" or "could".</a:t>
            </a:r>
          </a:p>
        </p:txBody>
      </p:sp>
      <p:pic>
        <p:nvPicPr>
          <p:cNvPr id="8" name="Picture 7" descr="Read.png"/>
          <p:cNvPicPr>
            <a:picLocks noChangeAspect="1"/>
          </p:cNvPicPr>
          <p:nvPr/>
        </p:nvPicPr>
        <p:blipFill>
          <a:blip r:embed="rId5"/>
          <a:stretch>
            <a:fillRect/>
          </a:stretch>
        </p:blipFill>
        <p:spPr>
          <a:xfrm>
            <a:off x="6970374" y="207263"/>
            <a:ext cx="720437" cy="720437"/>
          </a:xfrm>
          <a:prstGeom prst="rect">
            <a:avLst/>
          </a:prstGeom>
        </p:spPr>
      </p:pic>
      <p:pic>
        <p:nvPicPr>
          <p:cNvPr id="9" name="Picture 8" descr="Think.png"/>
          <p:cNvPicPr>
            <a:picLocks noChangeAspect="1"/>
          </p:cNvPicPr>
          <p:nvPr/>
        </p:nvPicPr>
        <p:blipFill>
          <a:blip r:embed="rId6"/>
          <a:stretch>
            <a:fillRect/>
          </a:stretch>
        </p:blipFill>
        <p:spPr>
          <a:xfrm>
            <a:off x="7767782" y="207263"/>
            <a:ext cx="720437" cy="720437"/>
          </a:xfrm>
          <a:prstGeom prst="rect">
            <a:avLst/>
          </a:prstGeom>
        </p:spPr>
      </p:pic>
    </p:spTree>
    <p:extLst>
      <p:ext uri="{BB962C8B-B14F-4D97-AF65-F5344CB8AC3E}">
        <p14:creationId xmlns:p14="http://schemas.microsoft.com/office/powerpoint/2010/main" val="449199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4B9F2-D16B-29D8-D856-6D0E295EF46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78AB0A7-3A78-A351-597D-FAE7A7A80989}"/>
              </a:ext>
            </a:extLst>
          </p:cNvPr>
          <p:cNvSpPr/>
          <p:nvPr/>
        </p:nvSpPr>
        <p:spPr>
          <a:xfrm>
            <a:off x="457200" y="182880"/>
            <a:ext cx="8229600" cy="384048"/>
          </a:xfrm>
          <a:prstGeom prst="rect">
            <a:avLst/>
          </a:prstGeom>
          <a:noFill/>
          <a:ln/>
        </p:spPr>
        <p:txBody>
          <a:bodyPr wrap="square" rtlCol="0" anchor="ctr"/>
          <a:lstStyle/>
          <a:p>
            <a:pPr marL="0" indent="0">
              <a:buNone/>
            </a:pPr>
            <a:r>
              <a:rPr lang="en-US" sz="2200" b="1" dirty="0">
                <a:solidFill>
                  <a:srgbClr val="8C072D"/>
                </a:solidFill>
                <a:latin typeface="Aptos" pitchFamily="34" charset="0"/>
                <a:ea typeface="Aptos" pitchFamily="34" charset="-122"/>
                <a:cs typeface="Aptos" pitchFamily="34" charset="-120"/>
              </a:rPr>
              <a:t>What you need to know</a:t>
            </a:r>
            <a:endParaRPr lang="en-US" sz="2200" dirty="0"/>
          </a:p>
        </p:txBody>
      </p:sp>
      <p:sp>
        <p:nvSpPr>
          <p:cNvPr id="3" name="Text 1">
            <a:extLst>
              <a:ext uri="{FF2B5EF4-FFF2-40B4-BE49-F238E27FC236}">
                <a16:creationId xmlns:a16="http://schemas.microsoft.com/office/drawing/2014/main" id="{2C59AC2D-D36C-28E8-A48A-0A7154E8056B}"/>
              </a:ext>
            </a:extLst>
          </p:cNvPr>
          <p:cNvSpPr/>
          <p:nvPr/>
        </p:nvSpPr>
        <p:spPr>
          <a:xfrm>
            <a:off x="457200" y="1039660"/>
            <a:ext cx="8229600" cy="3760940"/>
          </a:xfrm>
          <a:prstGeom prst="rect">
            <a:avLst/>
          </a:prstGeom>
          <a:noFill/>
          <a:ln/>
        </p:spPr>
        <p:txBody>
          <a:bodyPr wrap="square" rtlCol="0" anchor="ctr"/>
          <a:lstStyle/>
          <a:p>
            <a:pPr marL="0" indent="0">
              <a:spcBef>
                <a:spcPts val="800"/>
              </a:spcBef>
              <a:spcAft>
                <a:spcPts val="800"/>
              </a:spcAft>
              <a:buNone/>
            </a:pPr>
            <a:r>
              <a:rPr lang="en-US" sz="2400" b="1" dirty="0">
                <a:solidFill>
                  <a:srgbClr val="000000"/>
                </a:solidFill>
                <a:latin typeface="Aptos" pitchFamily="34" charset="0"/>
                <a:ea typeface="Aptos" pitchFamily="34" charset="-122"/>
                <a:cs typeface="Aptos" pitchFamily="34" charset="-120"/>
              </a:rPr>
              <a:t>Show using your fingers 	</a:t>
            </a:r>
            <a:r>
              <a:rPr lang="en-US" sz="2400" dirty="0">
                <a:solidFill>
                  <a:srgbClr val="000000"/>
                </a:solidFill>
                <a:latin typeface="Aptos" pitchFamily="34" charset="0"/>
                <a:ea typeface="Aptos" pitchFamily="34" charset="-122"/>
                <a:cs typeface="Aptos" pitchFamily="34" charset="-120"/>
              </a:rPr>
              <a:t>(1 – weakest	 5 – strongest)</a:t>
            </a:r>
          </a:p>
          <a:p>
            <a:pPr marL="808038" indent="-342900">
              <a:spcBef>
                <a:spcPts val="800"/>
              </a:spcBef>
              <a:spcAft>
                <a:spcPts val="800"/>
              </a:spcAft>
              <a:buFont typeface="Arial" panose="020B0604020202020204" pitchFamily="34" charset="0"/>
              <a:buChar char="•"/>
            </a:pPr>
            <a:r>
              <a:rPr lang="en-US" sz="2400" i="1" dirty="0">
                <a:solidFill>
                  <a:schemeClr val="accent1"/>
                </a:solidFill>
                <a:latin typeface="Aptos" pitchFamily="34" charset="0"/>
                <a:ea typeface="Aptos" pitchFamily="34" charset="-122"/>
                <a:cs typeface="Aptos" pitchFamily="34" charset="-120"/>
              </a:rPr>
              <a:t>You </a:t>
            </a:r>
            <a:r>
              <a:rPr lang="en-US" sz="2400" b="1" i="1" dirty="0">
                <a:solidFill>
                  <a:schemeClr val="accent1"/>
                </a:solidFill>
                <a:latin typeface="Aptos" pitchFamily="34" charset="0"/>
                <a:ea typeface="Aptos" pitchFamily="34" charset="-122"/>
                <a:cs typeface="Aptos" pitchFamily="34" charset="-120"/>
              </a:rPr>
              <a:t>should</a:t>
            </a:r>
            <a:r>
              <a:rPr lang="en-US" sz="2400" i="1" dirty="0">
                <a:solidFill>
                  <a:schemeClr val="accent1"/>
                </a:solidFill>
                <a:latin typeface="Aptos" pitchFamily="34" charset="0"/>
                <a:ea typeface="Aptos" pitchFamily="34" charset="-122"/>
                <a:cs typeface="Aptos" pitchFamily="34" charset="-120"/>
              </a:rPr>
              <a:t> practise your piano music.</a:t>
            </a:r>
          </a:p>
          <a:p>
            <a:pPr marL="808038" indent="-342900">
              <a:spcBef>
                <a:spcPts val="800"/>
              </a:spcBef>
              <a:spcAft>
                <a:spcPts val="800"/>
              </a:spcAft>
              <a:buFont typeface="Arial" panose="020B0604020202020204" pitchFamily="34" charset="0"/>
              <a:buChar char="•"/>
            </a:pPr>
            <a:r>
              <a:rPr lang="en-US" sz="2400" i="1" dirty="0">
                <a:solidFill>
                  <a:schemeClr val="accent1"/>
                </a:solidFill>
                <a:latin typeface="Aptos" pitchFamily="34" charset="0"/>
                <a:ea typeface="Aptos" pitchFamily="34" charset="-122"/>
                <a:cs typeface="Aptos" pitchFamily="34" charset="-120"/>
              </a:rPr>
              <a:t>You </a:t>
            </a:r>
            <a:r>
              <a:rPr lang="en-US" sz="2400" b="1" i="1" dirty="0">
                <a:solidFill>
                  <a:schemeClr val="accent1"/>
                </a:solidFill>
                <a:latin typeface="Aptos" pitchFamily="34" charset="0"/>
                <a:ea typeface="Aptos" pitchFamily="34" charset="-122"/>
                <a:cs typeface="Aptos" pitchFamily="34" charset="-120"/>
              </a:rPr>
              <a:t>must</a:t>
            </a:r>
            <a:r>
              <a:rPr lang="en-US" sz="2400" i="1" dirty="0">
                <a:solidFill>
                  <a:schemeClr val="accent1"/>
                </a:solidFill>
                <a:latin typeface="Aptos" pitchFamily="34" charset="0"/>
                <a:ea typeface="Aptos" pitchFamily="34" charset="-122"/>
                <a:cs typeface="Aptos" pitchFamily="34" charset="-120"/>
              </a:rPr>
              <a:t> practise your piano music.</a:t>
            </a:r>
          </a:p>
          <a:p>
            <a:pPr marL="808038" indent="-342900">
              <a:spcBef>
                <a:spcPts val="800"/>
              </a:spcBef>
              <a:spcAft>
                <a:spcPts val="800"/>
              </a:spcAft>
              <a:buFont typeface="Arial" panose="020B0604020202020204" pitchFamily="34" charset="0"/>
              <a:buChar char="•"/>
            </a:pPr>
            <a:r>
              <a:rPr lang="en-US" sz="2400" i="1" dirty="0">
                <a:solidFill>
                  <a:schemeClr val="accent1"/>
                </a:solidFill>
                <a:latin typeface="Aptos" pitchFamily="34" charset="0"/>
                <a:ea typeface="Aptos" pitchFamily="34" charset="-122"/>
                <a:cs typeface="Aptos" pitchFamily="34" charset="-120"/>
              </a:rPr>
              <a:t>You </a:t>
            </a:r>
            <a:r>
              <a:rPr lang="en-US" sz="2400" b="1" i="1" dirty="0">
                <a:solidFill>
                  <a:schemeClr val="accent1"/>
                </a:solidFill>
                <a:latin typeface="Aptos" pitchFamily="34" charset="0"/>
                <a:ea typeface="Aptos" pitchFamily="34" charset="-122"/>
                <a:cs typeface="Aptos" pitchFamily="34" charset="-120"/>
              </a:rPr>
              <a:t>could</a:t>
            </a:r>
            <a:r>
              <a:rPr lang="en-US" sz="2400" i="1" dirty="0">
                <a:solidFill>
                  <a:schemeClr val="accent1"/>
                </a:solidFill>
                <a:latin typeface="Aptos" pitchFamily="34" charset="0"/>
                <a:ea typeface="Aptos" pitchFamily="34" charset="-122"/>
                <a:cs typeface="Aptos" pitchFamily="34" charset="-120"/>
              </a:rPr>
              <a:t> practise your piano music.</a:t>
            </a:r>
          </a:p>
          <a:p>
            <a:pPr marL="808038" indent="-342900">
              <a:spcBef>
                <a:spcPts val="800"/>
              </a:spcBef>
              <a:spcAft>
                <a:spcPts val="800"/>
              </a:spcAft>
              <a:buFont typeface="Arial" panose="020B0604020202020204" pitchFamily="34" charset="0"/>
              <a:buChar char="•"/>
            </a:pPr>
            <a:r>
              <a:rPr lang="en-US" sz="2400" i="1" dirty="0">
                <a:solidFill>
                  <a:schemeClr val="accent1"/>
                </a:solidFill>
                <a:latin typeface="Aptos" pitchFamily="34" charset="0"/>
                <a:ea typeface="Aptos" pitchFamily="34" charset="-122"/>
                <a:cs typeface="Aptos" pitchFamily="34" charset="-120"/>
              </a:rPr>
              <a:t>You </a:t>
            </a:r>
            <a:r>
              <a:rPr lang="en-US" sz="2400" b="1" i="1" dirty="0">
                <a:solidFill>
                  <a:schemeClr val="accent1"/>
                </a:solidFill>
                <a:latin typeface="Aptos" pitchFamily="34" charset="0"/>
                <a:ea typeface="Aptos" pitchFamily="34" charset="-122"/>
                <a:cs typeface="Aptos" pitchFamily="34" charset="-120"/>
              </a:rPr>
              <a:t>will</a:t>
            </a:r>
            <a:r>
              <a:rPr lang="en-US" sz="2400" i="1" dirty="0">
                <a:solidFill>
                  <a:schemeClr val="accent1"/>
                </a:solidFill>
                <a:latin typeface="Aptos" pitchFamily="34" charset="0"/>
                <a:ea typeface="Aptos" pitchFamily="34" charset="-122"/>
                <a:cs typeface="Aptos" pitchFamily="34" charset="-120"/>
              </a:rPr>
              <a:t> practise your piano music.</a:t>
            </a:r>
            <a:r>
              <a:rPr lang="en-US" sz="2400" dirty="0">
                <a:solidFill>
                  <a:srgbClr val="000000"/>
                </a:solidFill>
                <a:latin typeface="Aptos" pitchFamily="34" charset="0"/>
                <a:ea typeface="Aptos" pitchFamily="34" charset="-122"/>
                <a:cs typeface="Aptos" pitchFamily="34" charset="-120"/>
              </a:rPr>
              <a:t> </a:t>
            </a:r>
            <a:endParaRPr lang="en-US" sz="2400" dirty="0"/>
          </a:p>
          <a:p>
            <a:pPr marL="808038" indent="-342900">
              <a:spcBef>
                <a:spcPts val="800"/>
              </a:spcBef>
              <a:spcAft>
                <a:spcPts val="800"/>
              </a:spcAft>
              <a:buFont typeface="Arial" panose="020B0604020202020204" pitchFamily="34" charset="0"/>
              <a:buChar char="•"/>
            </a:pPr>
            <a:r>
              <a:rPr lang="en-US" sz="2400" i="1" dirty="0">
                <a:solidFill>
                  <a:schemeClr val="accent1"/>
                </a:solidFill>
                <a:latin typeface="Aptos" pitchFamily="34" charset="0"/>
                <a:ea typeface="Aptos" pitchFamily="34" charset="-122"/>
                <a:cs typeface="Aptos" pitchFamily="34" charset="-120"/>
              </a:rPr>
              <a:t>You </a:t>
            </a:r>
            <a:r>
              <a:rPr lang="en-US" sz="2400" b="1" i="1" dirty="0">
                <a:solidFill>
                  <a:schemeClr val="accent1"/>
                </a:solidFill>
                <a:latin typeface="Aptos" pitchFamily="34" charset="0"/>
                <a:ea typeface="Aptos" pitchFamily="34" charset="-122"/>
                <a:cs typeface="Aptos" pitchFamily="34" charset="-120"/>
              </a:rPr>
              <a:t>can</a:t>
            </a:r>
            <a:r>
              <a:rPr lang="en-US" sz="2400" i="1" dirty="0">
                <a:solidFill>
                  <a:schemeClr val="accent1"/>
                </a:solidFill>
                <a:latin typeface="Aptos" pitchFamily="34" charset="0"/>
                <a:ea typeface="Aptos" pitchFamily="34" charset="-122"/>
                <a:cs typeface="Aptos" pitchFamily="34" charset="-120"/>
              </a:rPr>
              <a:t> practise your piano music.</a:t>
            </a:r>
          </a:p>
        </p:txBody>
      </p:sp>
      <p:sp>
        <p:nvSpPr>
          <p:cNvPr id="4" name="Text 2">
            <a:extLst>
              <a:ext uri="{FF2B5EF4-FFF2-40B4-BE49-F238E27FC236}">
                <a16:creationId xmlns:a16="http://schemas.microsoft.com/office/drawing/2014/main" id="{25E4E243-902C-0042-746F-1B09865EC221}"/>
              </a:ext>
            </a:extLst>
          </p:cNvPr>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S10</a:t>
            </a:r>
            <a:endParaRPr lang="en-US" sz="1100" dirty="0"/>
          </a:p>
        </p:txBody>
      </p:sp>
      <p:sp>
        <p:nvSpPr>
          <p:cNvPr id="7" name="TextBox 6">
            <a:extLst>
              <a:ext uri="{FF2B5EF4-FFF2-40B4-BE49-F238E27FC236}">
                <a16:creationId xmlns:a16="http://schemas.microsoft.com/office/drawing/2014/main" id="{A540D4EA-6D99-7FF1-8F03-5E46807F3683}"/>
              </a:ext>
            </a:extLst>
          </p:cNvPr>
          <p:cNvSpPr txBox="1"/>
          <p:nvPr/>
        </p:nvSpPr>
        <p:spPr>
          <a:xfrm>
            <a:off x="0" y="5372100"/>
            <a:ext cx="9144000" cy="1938992"/>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OTR SCRIPT — OPPORTUNITIES TO RESPOND
OTR — Ranking
Write these on board: might / could / should / will / must
Students arrange from weakest to strongest — choral response.
Quick vote (fingers):
  "Which modal makes the STRONGEST claim?" → [must] (5 fingers)
  "Which is the WEAKEST?" → [might] (1 finger)
Turn and talk: "If you have a lot of evidence, which modal would you use? If you're not sure, which would you use?"
Cold call to discuss. Expected: strong evidence → "will" or "must"; uncertain → "might" or "could".</a:t>
            </a:r>
          </a:p>
        </p:txBody>
      </p:sp>
      <p:grpSp>
        <p:nvGrpSpPr>
          <p:cNvPr id="5" name="Group 4">
            <a:extLst>
              <a:ext uri="{FF2B5EF4-FFF2-40B4-BE49-F238E27FC236}">
                <a16:creationId xmlns:a16="http://schemas.microsoft.com/office/drawing/2014/main" id="{880C8173-8F13-AFB0-BB1E-474DF7E29BBF}"/>
              </a:ext>
            </a:extLst>
          </p:cNvPr>
          <p:cNvGrpSpPr/>
          <p:nvPr/>
        </p:nvGrpSpPr>
        <p:grpSpPr>
          <a:xfrm>
            <a:off x="5301288" y="193694"/>
            <a:ext cx="2652183" cy="609600"/>
            <a:chOff x="5744633" y="137160"/>
            <a:chExt cx="2652183" cy="609600"/>
          </a:xfrm>
        </p:grpSpPr>
        <p:pic>
          <p:nvPicPr>
            <p:cNvPr id="6" name="Graphic 5">
              <a:extLst>
                <a:ext uri="{FF2B5EF4-FFF2-40B4-BE49-F238E27FC236}">
                  <a16:creationId xmlns:a16="http://schemas.microsoft.com/office/drawing/2014/main" id="{414A4BCE-D011-5829-B999-F16C5E8779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7216" y="137160"/>
              <a:ext cx="609600" cy="609600"/>
            </a:xfrm>
            <a:prstGeom prst="rect">
              <a:avLst/>
            </a:prstGeom>
          </p:spPr>
        </p:pic>
        <p:pic>
          <p:nvPicPr>
            <p:cNvPr id="8" name="Graphic 7">
              <a:extLst>
                <a:ext uri="{FF2B5EF4-FFF2-40B4-BE49-F238E27FC236}">
                  <a16:creationId xmlns:a16="http://schemas.microsoft.com/office/drawing/2014/main" id="{6F9182EB-2AB7-78A6-E779-41428161BF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4633" y="137160"/>
              <a:ext cx="609600" cy="609600"/>
            </a:xfrm>
            <a:prstGeom prst="rect">
              <a:avLst/>
            </a:prstGeom>
          </p:spPr>
        </p:pic>
        <p:pic>
          <p:nvPicPr>
            <p:cNvPr id="9" name="Graphic 8">
              <a:extLst>
                <a:ext uri="{FF2B5EF4-FFF2-40B4-BE49-F238E27FC236}">
                  <a16:creationId xmlns:a16="http://schemas.microsoft.com/office/drawing/2014/main" id="{EAE2F7EE-CDDB-3504-6F69-14D6F8D4DB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30433" y="137160"/>
              <a:ext cx="609600" cy="609600"/>
            </a:xfrm>
            <a:prstGeom prst="rect">
              <a:avLst/>
            </a:prstGeom>
          </p:spPr>
        </p:pic>
        <p:pic>
          <p:nvPicPr>
            <p:cNvPr id="11" name="Graphic 10">
              <a:extLst>
                <a:ext uri="{FF2B5EF4-FFF2-40B4-BE49-F238E27FC236}">
                  <a16:creationId xmlns:a16="http://schemas.microsoft.com/office/drawing/2014/main" id="{51FECF0D-12B4-46A8-A5D0-211B8DD84D3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16233" y="137160"/>
              <a:ext cx="600075" cy="600075"/>
            </a:xfrm>
            <a:prstGeom prst="rect">
              <a:avLst/>
            </a:prstGeom>
          </p:spPr>
        </p:pic>
      </p:grpSp>
      <p:pic>
        <p:nvPicPr>
          <p:cNvPr id="12" name="Picture 11" descr="Read.png"/>
          <p:cNvPicPr>
            <a:picLocks noChangeAspect="1"/>
          </p:cNvPicPr>
          <p:nvPr/>
        </p:nvPicPr>
        <p:blipFill>
          <a:blip r:embed="rId8"/>
          <a:stretch>
            <a:fillRect/>
          </a:stretch>
        </p:blipFill>
        <p:spPr>
          <a:xfrm>
            <a:off x="8024379" y="182880"/>
            <a:ext cx="609600" cy="609600"/>
          </a:xfrm>
          <a:prstGeom prst="rect">
            <a:avLst/>
          </a:prstGeom>
        </p:spPr>
      </p:pic>
    </p:spTree>
    <p:extLst>
      <p:ext uri="{BB962C8B-B14F-4D97-AF65-F5344CB8AC3E}">
        <p14:creationId xmlns:p14="http://schemas.microsoft.com/office/powerpoint/2010/main" val="1393603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64592"/>
            <a:ext cx="2286000" cy="347472"/>
          </a:xfrm>
          <a:prstGeom prst="rect">
            <a:avLst/>
          </a:prstGeom>
          <a:noFill/>
          <a:ln/>
        </p:spPr>
        <p:txBody>
          <a:bodyPr wrap="square" rtlCol="0" anchor="ctr"/>
          <a:lstStyle/>
          <a:p>
            <a:pPr marL="0" indent="0">
              <a:buNone/>
            </a:pPr>
            <a:r>
              <a:rPr lang="en-US" sz="2000" b="1" dirty="0">
                <a:solidFill>
                  <a:srgbClr val="8C072D"/>
                </a:solidFill>
                <a:latin typeface="Aptos" pitchFamily="34" charset="0"/>
                <a:ea typeface="Aptos" pitchFamily="34" charset="-122"/>
                <a:cs typeface="Aptos" pitchFamily="34" charset="-120"/>
              </a:rPr>
              <a:t>Display</a:t>
            </a:r>
            <a:endParaRPr lang="en-US" sz="2000" dirty="0"/>
          </a:p>
        </p:txBody>
      </p:sp>
      <p:sp>
        <p:nvSpPr>
          <p:cNvPr id="3" name="Text 1"/>
          <p:cNvSpPr/>
          <p:nvPr/>
        </p:nvSpPr>
        <p:spPr>
          <a:xfrm>
            <a:off x="443345" y="913476"/>
            <a:ext cx="8229600" cy="438912"/>
          </a:xfrm>
          <a:prstGeom prst="rect">
            <a:avLst/>
          </a:prstGeom>
          <a:noFill/>
          <a:ln/>
        </p:spPr>
        <p:txBody>
          <a:bodyPr wrap="square" rtlCol="0" anchor="ctr"/>
          <a:lstStyle/>
          <a:p>
            <a:pPr marL="0" indent="0">
              <a:buNone/>
            </a:pPr>
            <a:r>
              <a:rPr lang="en-US" sz="1700" i="1" dirty="0">
                <a:solidFill>
                  <a:srgbClr val="888888"/>
                </a:solidFill>
                <a:latin typeface="Aptos" pitchFamily="34" charset="0"/>
                <a:ea typeface="Aptos" pitchFamily="34" charset="-122"/>
                <a:cs typeface="Aptos" pitchFamily="34" charset="-120"/>
              </a:rPr>
              <a:t>Which version makes a stronger claim? Why does the strength matter?</a:t>
            </a:r>
            <a:endParaRPr lang="en-US" sz="1700" dirty="0"/>
          </a:p>
        </p:txBody>
      </p:sp>
      <p:sp>
        <p:nvSpPr>
          <p:cNvPr id="4" name="Text 2"/>
          <p:cNvSpPr/>
          <p:nvPr/>
        </p:nvSpPr>
        <p:spPr>
          <a:xfrm>
            <a:off x="563418" y="1422400"/>
            <a:ext cx="8397702" cy="3314192"/>
          </a:xfrm>
          <a:prstGeom prst="rect">
            <a:avLst/>
          </a:prstGeom>
          <a:noFill/>
          <a:ln/>
        </p:spPr>
        <p:txBody>
          <a:bodyPr wrap="square" rtlCol="0" anchor="ctr"/>
          <a:lstStyle/>
          <a:p>
            <a:pPr marL="0" indent="0">
              <a:buNone/>
            </a:pPr>
            <a:r>
              <a:rPr lang="en-US" sz="2300" i="1" dirty="0">
                <a:solidFill>
                  <a:schemeClr val="accent1"/>
                </a:solidFill>
                <a:latin typeface="Aptos" pitchFamily="34" charset="0"/>
                <a:ea typeface="Aptos" pitchFamily="34" charset="-122"/>
                <a:cs typeface="Aptos" pitchFamily="34" charset="-120"/>
              </a:rPr>
              <a:t>a) </a:t>
            </a:r>
            <a:r>
              <a:rPr lang="en-US" sz="2300" dirty="0">
                <a:solidFill>
                  <a:srgbClr val="000000"/>
                </a:solidFill>
                <a:latin typeface="Aptos" pitchFamily="34" charset="0"/>
                <a:ea typeface="Aptos" pitchFamily="34" charset="-122"/>
                <a:cs typeface="Aptos" pitchFamily="34" charset="-120"/>
              </a:rPr>
              <a:t>The government could introduce stricter guidelines.</a:t>
            </a:r>
            <a:endParaRPr lang="en-US" sz="2300" dirty="0"/>
          </a:p>
          <a:p>
            <a:pPr marL="0" indent="0">
              <a:buNone/>
            </a:pPr>
            <a:r>
              <a:rPr lang="en-US" sz="2300" i="1" dirty="0">
                <a:solidFill>
                  <a:schemeClr val="accent1"/>
                </a:solidFill>
                <a:latin typeface="Aptos" pitchFamily="34" charset="0"/>
                <a:ea typeface="Aptos" pitchFamily="34" charset="-122"/>
                <a:cs typeface="Aptos" pitchFamily="34" charset="-120"/>
              </a:rPr>
              <a:t>b) </a:t>
            </a:r>
            <a:r>
              <a:rPr lang="en-US" sz="2300" dirty="0">
                <a:solidFill>
                  <a:srgbClr val="000000"/>
                </a:solidFill>
                <a:latin typeface="Aptos" pitchFamily="34" charset="0"/>
                <a:ea typeface="Aptos" pitchFamily="34" charset="-122"/>
                <a:cs typeface="Aptos" pitchFamily="34" charset="-120"/>
              </a:rPr>
              <a:t>The government must introduce stricter guidelines.</a:t>
            </a:r>
            <a:endParaRPr lang="en-US" sz="2300" dirty="0"/>
          </a:p>
          <a:p>
            <a:pPr marL="0" indent="0">
              <a:buNone/>
            </a:pPr>
            <a:endParaRPr lang="en-US" sz="2300" dirty="0"/>
          </a:p>
          <a:p>
            <a:r>
              <a:rPr lang="en-US" sz="2300" i="1" dirty="0">
                <a:solidFill>
                  <a:schemeClr val="accent1"/>
                </a:solidFill>
                <a:latin typeface="Aptos" pitchFamily="34" charset="0"/>
                <a:ea typeface="Aptos" pitchFamily="34" charset="-122"/>
                <a:cs typeface="Aptos" pitchFamily="34" charset="-120"/>
              </a:rPr>
              <a:t>a) </a:t>
            </a:r>
            <a:r>
              <a:rPr lang="en-US" sz="2300" dirty="0">
                <a:solidFill>
                  <a:srgbClr val="000000"/>
                </a:solidFill>
                <a:latin typeface="Aptos" pitchFamily="34" charset="0"/>
                <a:ea typeface="Aptos" pitchFamily="34" charset="-122"/>
                <a:cs typeface="Aptos" pitchFamily="34" charset="-120"/>
              </a:rPr>
              <a:t>Social media will cause serious harm to young people.</a:t>
            </a:r>
            <a:endParaRPr lang="en-US" sz="2300" dirty="0"/>
          </a:p>
          <a:p>
            <a:r>
              <a:rPr lang="en-US" sz="2300" i="1" dirty="0">
                <a:solidFill>
                  <a:schemeClr val="accent1"/>
                </a:solidFill>
                <a:latin typeface="Aptos" pitchFamily="34" charset="0"/>
                <a:ea typeface="Aptos" pitchFamily="34" charset="-122"/>
                <a:cs typeface="Aptos" pitchFamily="34" charset="-120"/>
              </a:rPr>
              <a:t>b)</a:t>
            </a:r>
            <a:r>
              <a:rPr lang="en-US" sz="2300" dirty="0">
                <a:solidFill>
                  <a:srgbClr val="000000"/>
                </a:solidFill>
                <a:latin typeface="Aptos" pitchFamily="34" charset="0"/>
                <a:ea typeface="Aptos" pitchFamily="34" charset="-122"/>
                <a:cs typeface="Aptos" pitchFamily="34" charset="-120"/>
              </a:rPr>
              <a:t> Social media might cause harm to young people.</a:t>
            </a:r>
            <a:endParaRPr lang="en-US" sz="2300" dirty="0"/>
          </a:p>
          <a:p>
            <a:endParaRPr lang="en-US" sz="2300" dirty="0"/>
          </a:p>
          <a:p>
            <a:r>
              <a:rPr lang="en-US" sz="2300" i="1" dirty="0">
                <a:solidFill>
                  <a:schemeClr val="accent1"/>
                </a:solidFill>
                <a:latin typeface="Aptos" pitchFamily="34" charset="0"/>
                <a:ea typeface="Aptos" pitchFamily="34" charset="-122"/>
                <a:cs typeface="Aptos" pitchFamily="34" charset="-120"/>
              </a:rPr>
              <a:t>a) </a:t>
            </a:r>
            <a:r>
              <a:rPr lang="en-US" sz="2300" dirty="0">
                <a:solidFill>
                  <a:srgbClr val="000000"/>
                </a:solidFill>
                <a:latin typeface="Aptos" pitchFamily="34" charset="0"/>
                <a:ea typeface="Aptos" pitchFamily="34" charset="-122"/>
                <a:cs typeface="Aptos" pitchFamily="34" charset="-120"/>
              </a:rPr>
              <a:t>Parents need to monitor their children's screen time. </a:t>
            </a:r>
          </a:p>
          <a:p>
            <a:r>
              <a:rPr lang="en-US" sz="2300" i="1" dirty="0">
                <a:solidFill>
                  <a:schemeClr val="accent1"/>
                </a:solidFill>
                <a:latin typeface="Aptos" pitchFamily="34" charset="0"/>
                <a:ea typeface="Aptos" pitchFamily="34" charset="-122"/>
                <a:cs typeface="Aptos" pitchFamily="34" charset="-120"/>
              </a:rPr>
              <a:t>b) </a:t>
            </a:r>
            <a:r>
              <a:rPr lang="en-US" sz="2300" dirty="0">
                <a:solidFill>
                  <a:srgbClr val="000000"/>
                </a:solidFill>
                <a:latin typeface="Aptos" pitchFamily="34" charset="0"/>
                <a:ea typeface="Aptos" pitchFamily="34" charset="-122"/>
                <a:cs typeface="Aptos" pitchFamily="34" charset="-120"/>
              </a:rPr>
              <a:t>Parents can consider monitoring their children's screen time.</a:t>
            </a:r>
            <a:endParaRPr lang="en-US" sz="2300" dirty="0"/>
          </a:p>
        </p:txBody>
      </p:sp>
      <p:sp>
        <p:nvSpPr>
          <p:cNvPr id="5" name="Text 3"/>
          <p:cNvSpPr/>
          <p:nvPr/>
        </p:nvSpPr>
        <p:spPr>
          <a:xfrm>
            <a:off x="258616" y="4759683"/>
            <a:ext cx="3840480" cy="256032"/>
          </a:xfrm>
          <a:prstGeom prst="rect">
            <a:avLst/>
          </a:prstGeom>
          <a:noFill/>
          <a:ln/>
        </p:spPr>
        <p:txBody>
          <a:bodyPr wrap="square" rtlCol="0" anchor="ctr"/>
          <a:lstStyle/>
          <a:p>
            <a:pPr marL="0" indent="0">
              <a:buNone/>
            </a:pPr>
            <a:r>
              <a:rPr lang="en-US" sz="1100" i="1" dirty="0">
                <a:solidFill>
                  <a:srgbClr val="888888"/>
                </a:solidFill>
                <a:latin typeface="Aptos" pitchFamily="34" charset="0"/>
                <a:ea typeface="Aptos" pitchFamily="34" charset="-122"/>
                <a:cs typeface="Aptos" pitchFamily="34" charset="-120"/>
              </a:rPr>
              <a:t>All students respond — 3–4 min</a:t>
            </a:r>
            <a:endParaRPr lang="en-US" sz="1100" dirty="0"/>
          </a:p>
        </p:txBody>
      </p:sp>
      <p:sp>
        <p:nvSpPr>
          <p:cNvPr id="6" name="Text 4"/>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S10</a:t>
            </a:r>
            <a:endParaRPr lang="en-US" sz="1100" dirty="0"/>
          </a:p>
        </p:txBody>
      </p:sp>
      <p:sp>
        <p:nvSpPr>
          <p:cNvPr id="11" name="TextBox 10">
            <a:extLst>
              <a:ext uri="{FF2B5EF4-FFF2-40B4-BE49-F238E27FC236}">
                <a16:creationId xmlns:a16="http://schemas.microsoft.com/office/drawing/2014/main" id="{5336EB9F-B537-03D1-571F-E3E05B1FF523}"/>
              </a:ext>
            </a:extLst>
          </p:cNvPr>
          <p:cNvSpPr txBox="1"/>
          <p:nvPr/>
        </p:nvSpPr>
        <p:spPr>
          <a:xfrm>
            <a:off x="0" y="5372100"/>
            <a:ext cx="9144000" cy="161583"/>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Allow 3–4 minutes for all students to respond independently. Circulate and observe — do not correct or prompt yet.</a:t>
            </a:r>
          </a:p>
        </p:txBody>
      </p:sp>
      <p:sp>
        <p:nvSpPr>
          <p:cNvPr id="7" name="TextBox 6">
            <a:extLst>
              <a:ext uri="{FF2B5EF4-FFF2-40B4-BE49-F238E27FC236}">
                <a16:creationId xmlns:a16="http://schemas.microsoft.com/office/drawing/2014/main" id="{30482B72-3013-34E9-3BAA-0988F0BDFFF6}"/>
              </a:ext>
            </a:extLst>
          </p:cNvPr>
          <p:cNvSpPr txBox="1"/>
          <p:nvPr/>
        </p:nvSpPr>
        <p:spPr>
          <a:xfrm>
            <a:off x="182880" y="1579607"/>
            <a:ext cx="369455" cy="2862322"/>
          </a:xfrm>
          <a:prstGeom prst="rect">
            <a:avLst/>
          </a:prstGeom>
          <a:noFill/>
        </p:spPr>
        <p:txBody>
          <a:bodyPr wrap="square" rtlCol="0">
            <a:spAutoFit/>
          </a:bodyPr>
          <a:lstStyle/>
          <a:p>
            <a:pPr algn="r">
              <a:spcAft>
                <a:spcPts val="1200"/>
              </a:spcAft>
            </a:pPr>
            <a:r>
              <a:rPr lang="en-AU" sz="2800" b="1" dirty="0">
                <a:solidFill>
                  <a:schemeClr val="accent1"/>
                </a:solidFill>
              </a:rPr>
              <a:t>1</a:t>
            </a:r>
          </a:p>
          <a:p>
            <a:pPr algn="r">
              <a:spcAft>
                <a:spcPts val="1200"/>
              </a:spcAft>
            </a:pPr>
            <a:endParaRPr lang="en-AU" sz="2800" b="1" dirty="0">
              <a:solidFill>
                <a:schemeClr val="accent1"/>
              </a:solidFill>
            </a:endParaRPr>
          </a:p>
          <a:p>
            <a:pPr algn="r">
              <a:spcAft>
                <a:spcPts val="1200"/>
              </a:spcAft>
            </a:pPr>
            <a:r>
              <a:rPr lang="en-AU" sz="2800" b="1" dirty="0">
                <a:solidFill>
                  <a:schemeClr val="accent1"/>
                </a:solidFill>
              </a:rPr>
              <a:t>2</a:t>
            </a:r>
          </a:p>
          <a:p>
            <a:pPr algn="r">
              <a:spcAft>
                <a:spcPts val="1200"/>
              </a:spcAft>
            </a:pPr>
            <a:endParaRPr lang="en-AU" sz="2800" b="1" dirty="0">
              <a:solidFill>
                <a:schemeClr val="accent1"/>
              </a:solidFill>
            </a:endParaRPr>
          </a:p>
          <a:p>
            <a:pPr algn="r">
              <a:spcAft>
                <a:spcPts val="1200"/>
              </a:spcAft>
            </a:pPr>
            <a:r>
              <a:rPr lang="en-AU" sz="2800" b="1" dirty="0">
                <a:solidFill>
                  <a:schemeClr val="accent1"/>
                </a:solidFill>
              </a:rPr>
              <a:t>3</a:t>
            </a:r>
          </a:p>
        </p:txBody>
      </p:sp>
      <p:pic>
        <p:nvPicPr>
          <p:cNvPr id="12" name="Picture 11" descr="Think.png"/>
          <p:cNvPicPr>
            <a:picLocks noChangeAspect="1"/>
          </p:cNvPicPr>
          <p:nvPr/>
        </p:nvPicPr>
        <p:blipFill>
          <a:blip r:embed="rId5"/>
          <a:stretch>
            <a:fillRect/>
          </a:stretch>
        </p:blipFill>
        <p:spPr>
          <a:xfrm>
            <a:off x="7247466" y="207264"/>
            <a:ext cx="609600" cy="609600"/>
          </a:xfrm>
          <a:prstGeom prst="rect">
            <a:avLst/>
          </a:prstGeom>
        </p:spPr>
      </p:pic>
      <p:pic>
        <p:nvPicPr>
          <p:cNvPr id="13" name="Picture 12" descr="Stop_and_jot.png"/>
          <p:cNvPicPr>
            <a:picLocks noChangeAspect="1"/>
          </p:cNvPicPr>
          <p:nvPr/>
        </p:nvPicPr>
        <p:blipFill>
          <a:blip r:embed="rId6"/>
          <a:stretch>
            <a:fillRect/>
          </a:stretch>
        </p:blipFill>
        <p:spPr>
          <a:xfrm>
            <a:off x="7967133" y="207264"/>
            <a:ext cx="609600" cy="609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4572000" cy="347472"/>
          </a:xfrm>
          <a:prstGeom prst="rect">
            <a:avLst/>
          </a:prstGeom>
          <a:noFill/>
          <a:ln/>
        </p:spPr>
        <p:txBody>
          <a:bodyPr wrap="square" rtlCol="0" anchor="ctr"/>
          <a:lstStyle/>
          <a:p>
            <a:pPr marL="0" indent="0">
              <a:buNone/>
            </a:pPr>
            <a:r>
              <a:rPr lang="en-US" sz="2000" b="1" dirty="0">
                <a:solidFill>
                  <a:srgbClr val="8C072D"/>
                </a:solidFill>
                <a:latin typeface="Aptos" pitchFamily="34" charset="0"/>
                <a:ea typeface="Aptos" pitchFamily="34" charset="-122"/>
                <a:cs typeface="Aptos" pitchFamily="34" charset="-120"/>
              </a:rPr>
              <a:t>Reveal and model</a:t>
            </a:r>
            <a:endParaRPr lang="en-US" sz="2000" dirty="0"/>
          </a:p>
        </p:txBody>
      </p:sp>
      <p:sp>
        <p:nvSpPr>
          <p:cNvPr id="3" name="Text 1"/>
          <p:cNvSpPr/>
          <p:nvPr/>
        </p:nvSpPr>
        <p:spPr>
          <a:xfrm>
            <a:off x="457200" y="530352"/>
            <a:ext cx="8229600" cy="292608"/>
          </a:xfrm>
          <a:prstGeom prst="rect">
            <a:avLst/>
          </a:prstGeom>
          <a:noFill/>
          <a:ln/>
        </p:spPr>
        <p:txBody>
          <a:bodyPr wrap="square" rtlCol="0" anchor="ctr"/>
          <a:lstStyle/>
          <a:p>
            <a:pPr marL="0" indent="0">
              <a:buNone/>
            </a:pPr>
            <a:r>
              <a:rPr lang="en-US" sz="1800" i="1" dirty="0">
                <a:solidFill>
                  <a:srgbClr val="888888"/>
                </a:solidFill>
                <a:latin typeface="Aptos" pitchFamily="34" charset="0"/>
                <a:ea typeface="Aptos" pitchFamily="34" charset="-122"/>
                <a:cs typeface="Aptos" pitchFamily="34" charset="-120"/>
              </a:rPr>
              <a:t>Weak → strong:</a:t>
            </a:r>
            <a:endParaRPr lang="en-US" sz="1800" dirty="0"/>
          </a:p>
        </p:txBody>
      </p:sp>
      <p:sp>
        <p:nvSpPr>
          <p:cNvPr id="4" name="Text 2"/>
          <p:cNvSpPr/>
          <p:nvPr/>
        </p:nvSpPr>
        <p:spPr>
          <a:xfrm>
            <a:off x="457200" y="868680"/>
            <a:ext cx="8229600" cy="3749040"/>
          </a:xfrm>
          <a:prstGeom prst="rect">
            <a:avLst/>
          </a:prstGeom>
          <a:noFill/>
          <a:ln/>
        </p:spPr>
        <p:txBody>
          <a:bodyPr wrap="square" rtlCol="0" anchor="t"/>
          <a:lstStyle/>
          <a:p>
            <a:pPr marL="0" indent="0">
              <a:buNone/>
            </a:pPr>
            <a:endParaRPr lang="en-US" sz="2000" dirty="0"/>
          </a:p>
        </p:txBody>
      </p:sp>
      <p:sp>
        <p:nvSpPr>
          <p:cNvPr id="5" name="Text 3"/>
          <p:cNvSpPr/>
          <p:nvPr/>
        </p:nvSpPr>
        <p:spPr>
          <a:xfrm>
            <a:off x="457200" y="4754880"/>
            <a:ext cx="8229600" cy="228600"/>
          </a:xfrm>
          <a:prstGeom prst="rect">
            <a:avLst/>
          </a:prstGeom>
          <a:noFill/>
          <a:ln/>
        </p:spPr>
        <p:txBody>
          <a:bodyPr wrap="square" rtlCol="0" anchor="ctr"/>
          <a:lstStyle/>
          <a:p>
            <a:pPr marL="0" indent="0">
              <a:buNone/>
            </a:pPr>
            <a:r>
              <a:rPr lang="en-US" sz="1100" b="1" dirty="0">
                <a:solidFill>
                  <a:srgbClr val="A24800"/>
                </a:solidFill>
                <a:latin typeface="Aptos" pitchFamily="34" charset="0"/>
                <a:ea typeface="Aptos" pitchFamily="34" charset="-122"/>
                <a:cs typeface="Aptos" pitchFamily="34" charset="-120"/>
              </a:rPr>
              <a:t>Subject </a:t>
            </a:r>
            <a:r>
              <a:rPr lang="en-US" sz="1100" b="1" i="1" dirty="0">
                <a:solidFill>
                  <a:srgbClr val="0F6E4D"/>
                </a:solidFill>
                <a:latin typeface="Aptos" pitchFamily="34" charset="0"/>
                <a:ea typeface="Aptos" pitchFamily="34" charset="-122"/>
                <a:cs typeface="Aptos" pitchFamily="34" charset="-120"/>
              </a:rPr>
              <a:t>   Verb </a:t>
            </a:r>
            <a:r>
              <a:rPr lang="en-US" sz="1100" b="1" dirty="0">
                <a:solidFill>
                  <a:srgbClr val="1F5FA8"/>
                </a:solidFill>
                <a:latin typeface="Aptos" pitchFamily="34" charset="0"/>
                <a:ea typeface="Aptos" pitchFamily="34" charset="-122"/>
                <a:cs typeface="Aptos" pitchFamily="34" charset="-120"/>
              </a:rPr>
              <a:t>   Prep phrase </a:t>
            </a:r>
            <a:r>
              <a:rPr lang="en-US" sz="1100" b="1" dirty="0">
                <a:solidFill>
                  <a:srgbClr val="000000"/>
                </a:solidFill>
                <a:latin typeface="Aptos" pitchFamily="34" charset="0"/>
                <a:ea typeface="Aptos" pitchFamily="34" charset="-122"/>
                <a:cs typeface="Aptos" pitchFamily="34" charset="-120"/>
              </a:rPr>
              <a:t>   </a:t>
            </a:r>
            <a:r>
              <a:rPr lang="en-US" sz="1100" b="1" u="sng" dirty="0">
                <a:solidFill>
                  <a:srgbClr val="000000"/>
                </a:solidFill>
                <a:latin typeface="Aptos" pitchFamily="34" charset="0"/>
                <a:ea typeface="Aptos" pitchFamily="34" charset="-122"/>
                <a:cs typeface="Aptos" pitchFamily="34" charset="-120"/>
              </a:rPr>
              <a:t>Conjunction</a:t>
            </a:r>
            <a:endParaRPr lang="en-US" sz="1100" dirty="0"/>
          </a:p>
        </p:txBody>
      </p:sp>
      <p:sp>
        <p:nvSpPr>
          <p:cNvPr id="6" name="Text 4"/>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S10</a:t>
            </a:r>
            <a:endParaRPr lang="en-US" sz="1100" dirty="0"/>
          </a:p>
        </p:txBody>
      </p:sp>
      <p:sp>
        <p:nvSpPr>
          <p:cNvPr id="11" name="TextBox 10">
            <a:extLst>
              <a:ext uri="{FF2B5EF4-FFF2-40B4-BE49-F238E27FC236}">
                <a16:creationId xmlns:a16="http://schemas.microsoft.com/office/drawing/2014/main" id="{8C82A0B7-543A-6067-07D9-58D4ACC46EA1}"/>
              </a:ext>
            </a:extLst>
          </p:cNvPr>
          <p:cNvSpPr txBox="1"/>
          <p:nvPr/>
        </p:nvSpPr>
        <p:spPr>
          <a:xfrm>
            <a:off x="0" y="5372100"/>
            <a:ext cx="9144000" cy="2585323"/>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REVEAL — TEACHER NOTES
1. could  vs  must: "could" = possible (weak)  ·  "must" = necessary (strong)
"Must" leaves no room for doubt. Only use it with strong evidence.
2. might  vs  causes (no modal): "might" = uncertain  ·  No modal = stated as fact
"Causes serious harm" is the strongest claim — it removes all hedging.
3. should  vs  need to: "should" = recommended  ·  "need to" = a stated necessity
Both are strong — "need to" slightly more urgent.
──
For each sentence, after confirming the type:
  "What is the verb?" (point to colour coding)
  "Who is doing that?" (for declaratives/interrogatives)
  For imperatives: "Who is doing this? — It's implied: you, the reader."
If students disagree: "What would need to change to make it [other type]?"</a:t>
            </a:r>
          </a:p>
        </p:txBody>
      </p:sp>
      <p:sp>
        <p:nvSpPr>
          <p:cNvPr id="8" name="TextBox 7">
            <a:extLst>
              <a:ext uri="{FF2B5EF4-FFF2-40B4-BE49-F238E27FC236}">
                <a16:creationId xmlns:a16="http://schemas.microsoft.com/office/drawing/2014/main" id="{1DB7ACA0-EEFD-A102-1CCB-CFF3C9EDF731}"/>
              </a:ext>
            </a:extLst>
          </p:cNvPr>
          <p:cNvSpPr txBox="1"/>
          <p:nvPr/>
        </p:nvSpPr>
        <p:spPr>
          <a:xfrm>
            <a:off x="457200" y="1160712"/>
            <a:ext cx="6744855" cy="954107"/>
          </a:xfrm>
          <a:prstGeom prst="rect">
            <a:avLst/>
          </a:prstGeom>
          <a:noFill/>
        </p:spPr>
        <p:txBody>
          <a:bodyPr wrap="square">
            <a:spAutoFit/>
          </a:bodyPr>
          <a:lstStyle/>
          <a:p>
            <a:pPr marL="0" indent="0">
              <a:spcAft>
                <a:spcPts val="1200"/>
              </a:spcAft>
              <a:buNone/>
            </a:pPr>
            <a:r>
              <a:rPr lang="en-US" sz="2300" dirty="0">
                <a:solidFill>
                  <a:schemeClr val="accent1"/>
                </a:solidFill>
                <a:latin typeface="Aptos" pitchFamily="34" charset="0"/>
                <a:ea typeface="Aptos" pitchFamily="34" charset="-122"/>
                <a:cs typeface="Aptos" pitchFamily="34" charset="-120"/>
              </a:rPr>
              <a:t>The government </a:t>
            </a:r>
            <a:r>
              <a:rPr lang="en-US" sz="2300" i="1" dirty="0">
                <a:solidFill>
                  <a:schemeClr val="accent2">
                    <a:lumMod val="75000"/>
                  </a:schemeClr>
                </a:solidFill>
                <a:latin typeface="Aptos" pitchFamily="34" charset="0"/>
                <a:ea typeface="Aptos" pitchFamily="34" charset="-122"/>
                <a:cs typeface="Aptos" pitchFamily="34" charset="-120"/>
              </a:rPr>
              <a:t>could introduce </a:t>
            </a:r>
            <a:r>
              <a:rPr lang="en-US" sz="2300" dirty="0">
                <a:solidFill>
                  <a:srgbClr val="000000"/>
                </a:solidFill>
                <a:latin typeface="Aptos" pitchFamily="34" charset="0"/>
                <a:ea typeface="Aptos" pitchFamily="34" charset="-122"/>
                <a:cs typeface="Aptos" pitchFamily="34" charset="-120"/>
              </a:rPr>
              <a:t>stricter guidelines.</a:t>
            </a:r>
            <a:endParaRPr lang="en-US" sz="2300" dirty="0"/>
          </a:p>
          <a:p>
            <a:pPr marL="0" indent="0">
              <a:spcAft>
                <a:spcPts val="1200"/>
              </a:spcAft>
              <a:buNone/>
            </a:pPr>
            <a:r>
              <a:rPr lang="en-US" sz="2300" dirty="0">
                <a:solidFill>
                  <a:schemeClr val="accent1"/>
                </a:solidFill>
                <a:latin typeface="Aptos" pitchFamily="34" charset="0"/>
                <a:ea typeface="Aptos" pitchFamily="34" charset="-122"/>
                <a:cs typeface="Aptos" pitchFamily="34" charset="-120"/>
              </a:rPr>
              <a:t>The government </a:t>
            </a:r>
            <a:r>
              <a:rPr lang="en-US" sz="2300" i="1" dirty="0">
                <a:solidFill>
                  <a:schemeClr val="accent2">
                    <a:lumMod val="75000"/>
                  </a:schemeClr>
                </a:solidFill>
                <a:latin typeface="Aptos" pitchFamily="34" charset="0"/>
                <a:ea typeface="Aptos" pitchFamily="34" charset="-122"/>
                <a:cs typeface="Aptos" pitchFamily="34" charset="-120"/>
              </a:rPr>
              <a:t>must introduce </a:t>
            </a:r>
            <a:r>
              <a:rPr lang="en-US" sz="2300" dirty="0">
                <a:solidFill>
                  <a:srgbClr val="000000"/>
                </a:solidFill>
                <a:latin typeface="Aptos" pitchFamily="34" charset="0"/>
                <a:ea typeface="Aptos" pitchFamily="34" charset="-122"/>
                <a:cs typeface="Aptos" pitchFamily="34" charset="-120"/>
              </a:rPr>
              <a:t>stricter guidelines.</a:t>
            </a:r>
            <a:endParaRPr lang="en-US" sz="2300" dirty="0"/>
          </a:p>
        </p:txBody>
      </p:sp>
      <p:sp>
        <p:nvSpPr>
          <p:cNvPr id="12" name="Arrow: Left 11">
            <a:extLst>
              <a:ext uri="{FF2B5EF4-FFF2-40B4-BE49-F238E27FC236}">
                <a16:creationId xmlns:a16="http://schemas.microsoft.com/office/drawing/2014/main" id="{FF940CBF-24FE-3C3D-0A69-77D8BA7F5FCC}"/>
              </a:ext>
            </a:extLst>
          </p:cNvPr>
          <p:cNvSpPr/>
          <p:nvPr/>
        </p:nvSpPr>
        <p:spPr>
          <a:xfrm>
            <a:off x="7129319" y="1473376"/>
            <a:ext cx="1533236" cy="822037"/>
          </a:xfrm>
          <a:prstGeom prst="leftArrow">
            <a:avLst/>
          </a:prstGeom>
          <a:solidFill>
            <a:srgbClr val="FFC000"/>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36000" rtlCol="0" anchor="ctr"/>
          <a:lstStyle/>
          <a:p>
            <a:pPr algn="ctr"/>
            <a:r>
              <a:rPr lang="en-AU" sz="2400" b="1" dirty="0">
                <a:solidFill>
                  <a:schemeClr val="tx1"/>
                </a:solidFill>
              </a:rPr>
              <a:t>Stronger!</a:t>
            </a:r>
          </a:p>
        </p:txBody>
      </p:sp>
      <p:sp>
        <p:nvSpPr>
          <p:cNvPr id="15" name="TextBox 14">
            <a:extLst>
              <a:ext uri="{FF2B5EF4-FFF2-40B4-BE49-F238E27FC236}">
                <a16:creationId xmlns:a16="http://schemas.microsoft.com/office/drawing/2014/main" id="{D204CCAE-55E2-04A2-D991-5028A9095C35}"/>
              </a:ext>
            </a:extLst>
          </p:cNvPr>
          <p:cNvSpPr txBox="1"/>
          <p:nvPr/>
        </p:nvSpPr>
        <p:spPr>
          <a:xfrm>
            <a:off x="557646" y="2459821"/>
            <a:ext cx="7854834" cy="1461939"/>
          </a:xfrm>
          <a:prstGeom prst="rect">
            <a:avLst/>
          </a:prstGeom>
          <a:noFill/>
        </p:spPr>
        <p:txBody>
          <a:bodyPr wrap="square">
            <a:spAutoFit/>
          </a:bodyPr>
          <a:lstStyle/>
          <a:p>
            <a:pPr marL="0" indent="0">
              <a:spcAft>
                <a:spcPts val="1200"/>
              </a:spcAft>
              <a:buNone/>
            </a:pPr>
            <a:r>
              <a:rPr lang="en-US" sz="2300" b="1" i="1" dirty="0">
                <a:solidFill>
                  <a:schemeClr val="accent2">
                    <a:lumMod val="75000"/>
                  </a:schemeClr>
                </a:solidFill>
                <a:latin typeface="Aptos" pitchFamily="34" charset="0"/>
                <a:ea typeface="Aptos" pitchFamily="34" charset="-122"/>
                <a:cs typeface="Aptos" pitchFamily="34" charset="-120"/>
              </a:rPr>
              <a:t>Must</a:t>
            </a:r>
            <a:r>
              <a:rPr lang="en-US" sz="2300" dirty="0">
                <a:solidFill>
                  <a:srgbClr val="000000"/>
                </a:solidFill>
                <a:latin typeface="Aptos" pitchFamily="34" charset="0"/>
                <a:ea typeface="Aptos" pitchFamily="34" charset="-122"/>
                <a:cs typeface="Aptos" pitchFamily="34" charset="-120"/>
              </a:rPr>
              <a:t> is stronger than </a:t>
            </a:r>
            <a:r>
              <a:rPr lang="en-US" sz="2300" b="1" i="1" dirty="0">
                <a:solidFill>
                  <a:schemeClr val="accent2">
                    <a:lumMod val="75000"/>
                  </a:schemeClr>
                </a:solidFill>
                <a:latin typeface="Aptos" pitchFamily="34" charset="0"/>
                <a:ea typeface="Aptos" pitchFamily="34" charset="-122"/>
                <a:cs typeface="Aptos" pitchFamily="34" charset="-120"/>
              </a:rPr>
              <a:t>could</a:t>
            </a:r>
            <a:r>
              <a:rPr lang="en-US" sz="2300" dirty="0">
                <a:solidFill>
                  <a:srgbClr val="000000"/>
                </a:solidFill>
                <a:latin typeface="Aptos" pitchFamily="34" charset="0"/>
                <a:ea typeface="Aptos" pitchFamily="34" charset="-122"/>
                <a:cs typeface="Aptos" pitchFamily="34" charset="-120"/>
              </a:rPr>
              <a:t>.</a:t>
            </a:r>
          </a:p>
          <a:p>
            <a:pPr marL="342900" indent="-342900">
              <a:spcAft>
                <a:spcPts val="1200"/>
              </a:spcAft>
              <a:buFont typeface="Arial" panose="020B0604020202020204" pitchFamily="34" charset="0"/>
              <a:buChar char="•"/>
            </a:pPr>
            <a:r>
              <a:rPr lang="en-US" sz="2300" dirty="0">
                <a:solidFill>
                  <a:srgbClr val="000000"/>
                </a:solidFill>
                <a:latin typeface="Aptos" pitchFamily="34" charset="0"/>
                <a:ea typeface="Aptos" pitchFamily="34" charset="-122"/>
                <a:cs typeface="Aptos" pitchFamily="34" charset="-120"/>
              </a:rPr>
              <a:t>Notice how the two words together form the </a:t>
            </a:r>
            <a:r>
              <a:rPr lang="en-US" sz="2300" b="1" i="1" dirty="0">
                <a:solidFill>
                  <a:schemeClr val="accent2">
                    <a:lumMod val="75000"/>
                  </a:schemeClr>
                </a:solidFill>
                <a:latin typeface="Aptos" pitchFamily="34" charset="0"/>
                <a:ea typeface="Aptos" pitchFamily="34" charset="-122"/>
                <a:cs typeface="Aptos" pitchFamily="34" charset="-120"/>
              </a:rPr>
              <a:t>verb group</a:t>
            </a:r>
            <a:r>
              <a:rPr lang="en-US" sz="2300" dirty="0">
                <a:solidFill>
                  <a:srgbClr val="000000"/>
                </a:solidFill>
                <a:latin typeface="Aptos" pitchFamily="34" charset="0"/>
                <a:ea typeface="Aptos" pitchFamily="34" charset="-122"/>
                <a:cs typeface="Aptos" pitchFamily="34" charset="-120"/>
              </a:rPr>
              <a:t>. </a:t>
            </a:r>
          </a:p>
          <a:p>
            <a:pPr marL="342900" indent="-342900">
              <a:spcAft>
                <a:spcPts val="1200"/>
              </a:spcAft>
              <a:buFont typeface="Arial" panose="020B0604020202020204" pitchFamily="34" charset="0"/>
              <a:buChar char="•"/>
            </a:pPr>
            <a:r>
              <a:rPr lang="en-US" sz="2300" dirty="0">
                <a:solidFill>
                  <a:srgbClr val="000000"/>
                </a:solidFill>
                <a:latin typeface="Aptos" pitchFamily="34" charset="0"/>
              </a:rPr>
              <a:t>Who is the </a:t>
            </a:r>
            <a:r>
              <a:rPr lang="en-US" sz="2300" b="1" dirty="0">
                <a:solidFill>
                  <a:schemeClr val="accent1"/>
                </a:solidFill>
                <a:latin typeface="Aptos" pitchFamily="34" charset="0"/>
              </a:rPr>
              <a:t>subject</a:t>
            </a:r>
            <a:r>
              <a:rPr lang="en-US" sz="2300" dirty="0">
                <a:solidFill>
                  <a:srgbClr val="000000"/>
                </a:solidFill>
                <a:latin typeface="Aptos" pitchFamily="34" charset="0"/>
              </a:rPr>
              <a:t>? (Who is doing the introducing?)</a:t>
            </a:r>
            <a:endParaRPr lang="en-US" sz="2300" dirty="0"/>
          </a:p>
        </p:txBody>
      </p:sp>
      <p:pic>
        <p:nvPicPr>
          <p:cNvPr id="21" name="Picture 20" descr="Think.png"/>
          <p:cNvPicPr>
            <a:picLocks noChangeAspect="1"/>
          </p:cNvPicPr>
          <p:nvPr/>
        </p:nvPicPr>
        <p:blipFill>
          <a:blip r:embed="rId5"/>
          <a:stretch>
            <a:fillRect/>
          </a:stretch>
        </p:blipFill>
        <p:spPr>
          <a:xfrm>
            <a:off x="7202055" y="211061"/>
            <a:ext cx="609600" cy="609600"/>
          </a:xfrm>
          <a:prstGeom prst="rect">
            <a:avLst/>
          </a:prstGeom>
        </p:spPr>
      </p:pic>
      <p:pic>
        <p:nvPicPr>
          <p:cNvPr id="22" name="Picture 21" descr="Turn_and_talk.png"/>
          <p:cNvPicPr>
            <a:picLocks noChangeAspect="1"/>
          </p:cNvPicPr>
          <p:nvPr/>
        </p:nvPicPr>
        <p:blipFill>
          <a:blip r:embed="rId6"/>
          <a:stretch>
            <a:fillRect/>
          </a:stretch>
        </p:blipFill>
        <p:spPr>
          <a:xfrm>
            <a:off x="7944427" y="189924"/>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fade">
                                      <p:cBhvr>
                                        <p:cTn id="17" dur="500"/>
                                        <p:tgtEl>
                                          <p:spTgt spid="15">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xEl>
                                              <p:pRg st="2" end="2"/>
                                            </p:txEl>
                                          </p:spTgt>
                                        </p:tgtEl>
                                        <p:attrNameLst>
                                          <p:attrName>style.visibility</p:attrName>
                                        </p:attrNameLst>
                                      </p:cBhvr>
                                      <p:to>
                                        <p:strVal val="visible"/>
                                      </p:to>
                                    </p:set>
                                    <p:animEffect transition="in" filter="fade">
                                      <p:cBhvr>
                                        <p:cTn id="20"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6E2F0-AC8B-AE35-F1D1-919716571E0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266F002-C53C-AA05-69B9-E1C832DDD0ED}"/>
              </a:ext>
            </a:extLst>
          </p:cNvPr>
          <p:cNvSpPr/>
          <p:nvPr/>
        </p:nvSpPr>
        <p:spPr>
          <a:xfrm>
            <a:off x="457200" y="137160"/>
            <a:ext cx="4572000" cy="347472"/>
          </a:xfrm>
          <a:prstGeom prst="rect">
            <a:avLst/>
          </a:prstGeom>
          <a:noFill/>
          <a:ln/>
        </p:spPr>
        <p:txBody>
          <a:bodyPr wrap="square" rtlCol="0" anchor="ctr"/>
          <a:lstStyle/>
          <a:p>
            <a:pPr marL="0" indent="0">
              <a:buNone/>
            </a:pPr>
            <a:r>
              <a:rPr lang="en-US" sz="2000" b="1" dirty="0">
                <a:solidFill>
                  <a:srgbClr val="8C072D"/>
                </a:solidFill>
                <a:latin typeface="Aptos" pitchFamily="34" charset="0"/>
                <a:ea typeface="Aptos" pitchFamily="34" charset="-122"/>
                <a:cs typeface="Aptos" pitchFamily="34" charset="-120"/>
              </a:rPr>
              <a:t>Reveal and model</a:t>
            </a:r>
            <a:endParaRPr lang="en-US" sz="2000" dirty="0"/>
          </a:p>
        </p:txBody>
      </p:sp>
      <p:sp>
        <p:nvSpPr>
          <p:cNvPr id="3" name="Text 1">
            <a:extLst>
              <a:ext uri="{FF2B5EF4-FFF2-40B4-BE49-F238E27FC236}">
                <a16:creationId xmlns:a16="http://schemas.microsoft.com/office/drawing/2014/main" id="{74F1250D-C38B-BB0B-5EAC-471E319C2D3D}"/>
              </a:ext>
            </a:extLst>
          </p:cNvPr>
          <p:cNvSpPr/>
          <p:nvPr/>
        </p:nvSpPr>
        <p:spPr>
          <a:xfrm>
            <a:off x="457200" y="530352"/>
            <a:ext cx="8229600" cy="292608"/>
          </a:xfrm>
          <a:prstGeom prst="rect">
            <a:avLst/>
          </a:prstGeom>
          <a:noFill/>
          <a:ln/>
        </p:spPr>
        <p:txBody>
          <a:bodyPr wrap="square" rtlCol="0" anchor="ctr"/>
          <a:lstStyle/>
          <a:p>
            <a:pPr marL="0" indent="0">
              <a:buNone/>
            </a:pPr>
            <a:r>
              <a:rPr lang="en-US" sz="1800" i="1" dirty="0">
                <a:solidFill>
                  <a:srgbClr val="888888"/>
                </a:solidFill>
                <a:latin typeface="Aptos" pitchFamily="34" charset="0"/>
                <a:ea typeface="Aptos" pitchFamily="34" charset="-122"/>
                <a:cs typeface="Aptos" pitchFamily="34" charset="-120"/>
              </a:rPr>
              <a:t>Weak → strong:</a:t>
            </a:r>
            <a:endParaRPr lang="en-US" sz="1800" dirty="0"/>
          </a:p>
        </p:txBody>
      </p:sp>
      <p:sp>
        <p:nvSpPr>
          <p:cNvPr id="4" name="Text 2">
            <a:extLst>
              <a:ext uri="{FF2B5EF4-FFF2-40B4-BE49-F238E27FC236}">
                <a16:creationId xmlns:a16="http://schemas.microsoft.com/office/drawing/2014/main" id="{ABFB5273-25C9-2DC6-9572-EB4E33EC13B7}"/>
              </a:ext>
            </a:extLst>
          </p:cNvPr>
          <p:cNvSpPr/>
          <p:nvPr/>
        </p:nvSpPr>
        <p:spPr>
          <a:xfrm>
            <a:off x="457200" y="868680"/>
            <a:ext cx="8229600" cy="3749040"/>
          </a:xfrm>
          <a:prstGeom prst="rect">
            <a:avLst/>
          </a:prstGeom>
          <a:noFill/>
          <a:ln/>
        </p:spPr>
        <p:txBody>
          <a:bodyPr wrap="square" rtlCol="0" anchor="t"/>
          <a:lstStyle/>
          <a:p>
            <a:pPr marL="0" indent="0">
              <a:buNone/>
            </a:pPr>
            <a:endParaRPr lang="en-US" sz="2000" dirty="0"/>
          </a:p>
        </p:txBody>
      </p:sp>
      <p:sp>
        <p:nvSpPr>
          <p:cNvPr id="5" name="Text 3">
            <a:extLst>
              <a:ext uri="{FF2B5EF4-FFF2-40B4-BE49-F238E27FC236}">
                <a16:creationId xmlns:a16="http://schemas.microsoft.com/office/drawing/2014/main" id="{64615D8B-1F10-B1B8-E5DA-DF51C84D0C09}"/>
              </a:ext>
            </a:extLst>
          </p:cNvPr>
          <p:cNvSpPr/>
          <p:nvPr/>
        </p:nvSpPr>
        <p:spPr>
          <a:xfrm>
            <a:off x="457200" y="4754880"/>
            <a:ext cx="8229600" cy="228600"/>
          </a:xfrm>
          <a:prstGeom prst="rect">
            <a:avLst/>
          </a:prstGeom>
          <a:noFill/>
          <a:ln/>
        </p:spPr>
        <p:txBody>
          <a:bodyPr wrap="square" rtlCol="0" anchor="ctr"/>
          <a:lstStyle/>
          <a:p>
            <a:pPr marL="0" indent="0">
              <a:buNone/>
            </a:pPr>
            <a:r>
              <a:rPr lang="en-US" sz="1100" b="1" dirty="0">
                <a:solidFill>
                  <a:srgbClr val="A24800"/>
                </a:solidFill>
                <a:latin typeface="Aptos" pitchFamily="34" charset="0"/>
                <a:ea typeface="Aptos" pitchFamily="34" charset="-122"/>
                <a:cs typeface="Aptos" pitchFamily="34" charset="-120"/>
              </a:rPr>
              <a:t>Subject </a:t>
            </a:r>
            <a:r>
              <a:rPr lang="en-US" sz="1100" b="1" i="1" dirty="0">
                <a:solidFill>
                  <a:srgbClr val="0F6E4D"/>
                </a:solidFill>
                <a:latin typeface="Aptos" pitchFamily="34" charset="0"/>
                <a:ea typeface="Aptos" pitchFamily="34" charset="-122"/>
                <a:cs typeface="Aptos" pitchFamily="34" charset="-120"/>
              </a:rPr>
              <a:t>   Verb </a:t>
            </a:r>
            <a:r>
              <a:rPr lang="en-US" sz="1100" b="1" dirty="0">
                <a:solidFill>
                  <a:srgbClr val="1F5FA8"/>
                </a:solidFill>
                <a:latin typeface="Aptos" pitchFamily="34" charset="0"/>
                <a:ea typeface="Aptos" pitchFamily="34" charset="-122"/>
                <a:cs typeface="Aptos" pitchFamily="34" charset="-120"/>
              </a:rPr>
              <a:t>   Prep phrase </a:t>
            </a:r>
            <a:r>
              <a:rPr lang="en-US" sz="1100" b="1" dirty="0">
                <a:solidFill>
                  <a:srgbClr val="000000"/>
                </a:solidFill>
                <a:latin typeface="Aptos" pitchFamily="34" charset="0"/>
                <a:ea typeface="Aptos" pitchFamily="34" charset="-122"/>
                <a:cs typeface="Aptos" pitchFamily="34" charset="-120"/>
              </a:rPr>
              <a:t>   </a:t>
            </a:r>
            <a:r>
              <a:rPr lang="en-US" sz="1100" b="1" u="sng" dirty="0">
                <a:solidFill>
                  <a:srgbClr val="000000"/>
                </a:solidFill>
                <a:latin typeface="Aptos" pitchFamily="34" charset="0"/>
                <a:ea typeface="Aptos" pitchFamily="34" charset="-122"/>
                <a:cs typeface="Aptos" pitchFamily="34" charset="-120"/>
              </a:rPr>
              <a:t>Conjunction</a:t>
            </a:r>
            <a:endParaRPr lang="en-US" sz="1100" dirty="0"/>
          </a:p>
        </p:txBody>
      </p:sp>
      <p:sp>
        <p:nvSpPr>
          <p:cNvPr id="6" name="Text 4">
            <a:extLst>
              <a:ext uri="{FF2B5EF4-FFF2-40B4-BE49-F238E27FC236}">
                <a16:creationId xmlns:a16="http://schemas.microsoft.com/office/drawing/2014/main" id="{B5D2E786-9E80-6FCB-875C-772FE7C1E9C2}"/>
              </a:ext>
            </a:extLst>
          </p:cNvPr>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S10</a:t>
            </a:r>
            <a:endParaRPr lang="en-US" sz="1100" dirty="0"/>
          </a:p>
        </p:txBody>
      </p:sp>
      <p:sp>
        <p:nvSpPr>
          <p:cNvPr id="11" name="TextBox 10">
            <a:extLst>
              <a:ext uri="{FF2B5EF4-FFF2-40B4-BE49-F238E27FC236}">
                <a16:creationId xmlns:a16="http://schemas.microsoft.com/office/drawing/2014/main" id="{F250654C-EC5D-579E-5351-FB9226C38ADE}"/>
              </a:ext>
            </a:extLst>
          </p:cNvPr>
          <p:cNvSpPr txBox="1"/>
          <p:nvPr/>
        </p:nvSpPr>
        <p:spPr>
          <a:xfrm>
            <a:off x="0" y="5372100"/>
            <a:ext cx="9144000" cy="2585323"/>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REVEAL — TEACHER NOTES
1. could  vs  must: "could" = possible (weak)  ·  "must" = necessary (strong)
"Must" leaves no room for doubt. Only use it with strong evidence.
2. might  vs  causes (no modal): "might" = uncertain  ·  No modal = stated as fact
"Causes serious harm" is the strongest claim — it removes all hedging.
3. should  vs  need to: "should" = recommended  ·  "need to" = a stated necessity
Both are strong — "need to" slightly more urgent.
──
For each sentence, after confirming the type:
  "What is the verb?" (point to colour coding)
  "Who is doing that?" (for declaratives/interrogatives)
  For imperatives: "Who is doing this? — It's implied: you, the reader."
If students disagree: "What would need to change to make it [other type]?"</a:t>
            </a:r>
          </a:p>
        </p:txBody>
      </p:sp>
      <p:sp>
        <p:nvSpPr>
          <p:cNvPr id="8" name="TextBox 7">
            <a:extLst>
              <a:ext uri="{FF2B5EF4-FFF2-40B4-BE49-F238E27FC236}">
                <a16:creationId xmlns:a16="http://schemas.microsoft.com/office/drawing/2014/main" id="{143A2FBE-5CAA-5D2A-552C-F8B1BDFC569C}"/>
              </a:ext>
            </a:extLst>
          </p:cNvPr>
          <p:cNvSpPr txBox="1"/>
          <p:nvPr/>
        </p:nvSpPr>
        <p:spPr>
          <a:xfrm>
            <a:off x="457200" y="1124371"/>
            <a:ext cx="7079673" cy="954107"/>
          </a:xfrm>
          <a:prstGeom prst="rect">
            <a:avLst/>
          </a:prstGeom>
          <a:noFill/>
        </p:spPr>
        <p:txBody>
          <a:bodyPr wrap="square">
            <a:spAutoFit/>
          </a:bodyPr>
          <a:lstStyle/>
          <a:p>
            <a:pPr>
              <a:spcAft>
                <a:spcPts val="1200"/>
              </a:spcAft>
            </a:pPr>
            <a:r>
              <a:rPr lang="en-US" sz="2300" dirty="0">
                <a:solidFill>
                  <a:schemeClr val="accent1"/>
                </a:solidFill>
                <a:latin typeface="Aptos" pitchFamily="34" charset="0"/>
                <a:ea typeface="Aptos" pitchFamily="34" charset="-122"/>
                <a:cs typeface="Aptos" pitchFamily="34" charset="-120"/>
              </a:rPr>
              <a:t>Social media </a:t>
            </a:r>
            <a:r>
              <a:rPr lang="en-US" sz="2300" i="1" dirty="0">
                <a:solidFill>
                  <a:schemeClr val="accent2">
                    <a:lumMod val="75000"/>
                  </a:schemeClr>
                </a:solidFill>
                <a:latin typeface="Aptos" pitchFamily="34" charset="0"/>
                <a:ea typeface="Aptos" pitchFamily="34" charset="-122"/>
                <a:cs typeface="Aptos" pitchFamily="34" charset="-120"/>
              </a:rPr>
              <a:t>will cause </a:t>
            </a:r>
            <a:r>
              <a:rPr lang="en-US" sz="2300" dirty="0">
                <a:solidFill>
                  <a:srgbClr val="000000"/>
                </a:solidFill>
                <a:latin typeface="Aptos" pitchFamily="34" charset="0"/>
                <a:ea typeface="Aptos" pitchFamily="34" charset="-122"/>
                <a:cs typeface="Aptos" pitchFamily="34" charset="-120"/>
              </a:rPr>
              <a:t>serious harm to young people.</a:t>
            </a:r>
            <a:endParaRPr lang="en-US" sz="2300" dirty="0"/>
          </a:p>
          <a:p>
            <a:pPr>
              <a:spcAft>
                <a:spcPts val="1200"/>
              </a:spcAft>
            </a:pPr>
            <a:r>
              <a:rPr lang="en-US" sz="2300" dirty="0">
                <a:solidFill>
                  <a:schemeClr val="accent1"/>
                </a:solidFill>
                <a:latin typeface="Aptos" pitchFamily="34" charset="0"/>
                <a:ea typeface="Aptos" pitchFamily="34" charset="-122"/>
                <a:cs typeface="Aptos" pitchFamily="34" charset="-120"/>
              </a:rPr>
              <a:t>Social media </a:t>
            </a:r>
            <a:r>
              <a:rPr lang="en-US" sz="2300" i="1" dirty="0">
                <a:solidFill>
                  <a:schemeClr val="accent2">
                    <a:lumMod val="75000"/>
                  </a:schemeClr>
                </a:solidFill>
                <a:latin typeface="Aptos" pitchFamily="34" charset="0"/>
                <a:ea typeface="Aptos" pitchFamily="34" charset="-122"/>
                <a:cs typeface="Aptos" pitchFamily="34" charset="-120"/>
              </a:rPr>
              <a:t>might cause </a:t>
            </a:r>
            <a:r>
              <a:rPr lang="en-US" sz="2300" dirty="0">
                <a:solidFill>
                  <a:srgbClr val="000000"/>
                </a:solidFill>
                <a:latin typeface="Aptos" pitchFamily="34" charset="0"/>
                <a:ea typeface="Aptos" pitchFamily="34" charset="-122"/>
                <a:cs typeface="Aptos" pitchFamily="34" charset="-120"/>
              </a:rPr>
              <a:t>harm to young people.</a:t>
            </a:r>
            <a:endParaRPr lang="en-US" sz="2300" dirty="0"/>
          </a:p>
        </p:txBody>
      </p:sp>
      <p:sp>
        <p:nvSpPr>
          <p:cNvPr id="12" name="Arrow: Left 11">
            <a:extLst>
              <a:ext uri="{FF2B5EF4-FFF2-40B4-BE49-F238E27FC236}">
                <a16:creationId xmlns:a16="http://schemas.microsoft.com/office/drawing/2014/main" id="{33401714-B37B-17FB-8336-D3B7026A9DB6}"/>
              </a:ext>
            </a:extLst>
          </p:cNvPr>
          <p:cNvSpPr/>
          <p:nvPr/>
        </p:nvSpPr>
        <p:spPr>
          <a:xfrm>
            <a:off x="7427884" y="936684"/>
            <a:ext cx="1533236" cy="822037"/>
          </a:xfrm>
          <a:prstGeom prst="leftArrow">
            <a:avLst/>
          </a:prstGeom>
          <a:solidFill>
            <a:srgbClr val="FFC000"/>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36000" rtlCol="0" anchor="ctr"/>
          <a:lstStyle/>
          <a:p>
            <a:pPr algn="ctr"/>
            <a:r>
              <a:rPr lang="en-AU" sz="2400" b="1" dirty="0">
                <a:solidFill>
                  <a:schemeClr val="tx1"/>
                </a:solidFill>
              </a:rPr>
              <a:t>Stronger!</a:t>
            </a:r>
          </a:p>
        </p:txBody>
      </p:sp>
      <p:sp>
        <p:nvSpPr>
          <p:cNvPr id="15" name="TextBox 14">
            <a:extLst>
              <a:ext uri="{FF2B5EF4-FFF2-40B4-BE49-F238E27FC236}">
                <a16:creationId xmlns:a16="http://schemas.microsoft.com/office/drawing/2014/main" id="{2A695797-1203-6CE8-7627-DD8838DE99B0}"/>
              </a:ext>
            </a:extLst>
          </p:cNvPr>
          <p:cNvSpPr txBox="1"/>
          <p:nvPr/>
        </p:nvSpPr>
        <p:spPr>
          <a:xfrm>
            <a:off x="557646" y="2423480"/>
            <a:ext cx="7854834" cy="1892826"/>
          </a:xfrm>
          <a:prstGeom prst="rect">
            <a:avLst/>
          </a:prstGeom>
          <a:noFill/>
        </p:spPr>
        <p:txBody>
          <a:bodyPr wrap="square">
            <a:spAutoFit/>
          </a:bodyPr>
          <a:lstStyle/>
          <a:p>
            <a:pPr marL="0" indent="0">
              <a:spcAft>
                <a:spcPts val="600"/>
              </a:spcAft>
              <a:buNone/>
            </a:pPr>
            <a:r>
              <a:rPr lang="en-US" sz="2300" b="1" i="1" dirty="0">
                <a:solidFill>
                  <a:schemeClr val="accent2">
                    <a:lumMod val="75000"/>
                  </a:schemeClr>
                </a:solidFill>
                <a:latin typeface="Aptos" pitchFamily="34" charset="0"/>
                <a:ea typeface="Aptos" pitchFamily="34" charset="-122"/>
                <a:cs typeface="Aptos" pitchFamily="34" charset="-120"/>
              </a:rPr>
              <a:t>Will</a:t>
            </a:r>
            <a:r>
              <a:rPr lang="en-US" sz="2300" dirty="0">
                <a:solidFill>
                  <a:srgbClr val="000000"/>
                </a:solidFill>
                <a:latin typeface="Aptos" pitchFamily="34" charset="0"/>
                <a:ea typeface="Aptos" pitchFamily="34" charset="-122"/>
                <a:cs typeface="Aptos" pitchFamily="34" charset="-120"/>
              </a:rPr>
              <a:t> is stronger than </a:t>
            </a:r>
            <a:r>
              <a:rPr lang="en-US" sz="2300" b="1" i="1" dirty="0">
                <a:solidFill>
                  <a:schemeClr val="accent2">
                    <a:lumMod val="75000"/>
                  </a:schemeClr>
                </a:solidFill>
                <a:latin typeface="Aptos" pitchFamily="34" charset="0"/>
                <a:ea typeface="Aptos" pitchFamily="34" charset="-122"/>
                <a:cs typeface="Aptos" pitchFamily="34" charset="-120"/>
              </a:rPr>
              <a:t>might</a:t>
            </a:r>
            <a:r>
              <a:rPr lang="en-US" sz="2300" dirty="0">
                <a:solidFill>
                  <a:srgbClr val="000000"/>
                </a:solidFill>
                <a:latin typeface="Aptos" pitchFamily="34" charset="0"/>
                <a:ea typeface="Aptos" pitchFamily="34" charset="-122"/>
                <a:cs typeface="Aptos" pitchFamily="34" charset="-120"/>
              </a:rPr>
              <a:t>.</a:t>
            </a:r>
          </a:p>
          <a:p>
            <a:pPr marL="0" indent="0">
              <a:spcAft>
                <a:spcPts val="1200"/>
              </a:spcAft>
              <a:buNone/>
            </a:pPr>
            <a:endParaRPr lang="en-US" sz="2300" dirty="0">
              <a:solidFill>
                <a:srgbClr val="000000"/>
              </a:solidFill>
              <a:latin typeface="Aptos" pitchFamily="34" charset="0"/>
              <a:ea typeface="Aptos" pitchFamily="34" charset="-122"/>
              <a:cs typeface="Aptos" pitchFamily="34" charset="-120"/>
            </a:endParaRPr>
          </a:p>
          <a:p>
            <a:pPr marL="342900" indent="-342900">
              <a:spcAft>
                <a:spcPts val="1200"/>
              </a:spcAft>
              <a:buFont typeface="Arial" panose="020B0604020202020204" pitchFamily="34" charset="0"/>
              <a:buChar char="•"/>
            </a:pPr>
            <a:r>
              <a:rPr lang="en-US" sz="2300" dirty="0">
                <a:solidFill>
                  <a:srgbClr val="000000"/>
                </a:solidFill>
                <a:latin typeface="Aptos" pitchFamily="34" charset="0"/>
                <a:ea typeface="Aptos" pitchFamily="34" charset="-122"/>
                <a:cs typeface="Aptos" pitchFamily="34" charset="-120"/>
              </a:rPr>
              <a:t>What is the whole </a:t>
            </a:r>
            <a:r>
              <a:rPr lang="en-US" sz="2300" b="1" i="1" dirty="0">
                <a:solidFill>
                  <a:schemeClr val="accent2">
                    <a:lumMod val="75000"/>
                  </a:schemeClr>
                </a:solidFill>
                <a:latin typeface="Aptos" pitchFamily="34" charset="0"/>
                <a:ea typeface="Aptos" pitchFamily="34" charset="-122"/>
                <a:cs typeface="Aptos" pitchFamily="34" charset="-120"/>
              </a:rPr>
              <a:t>verb group</a:t>
            </a:r>
            <a:r>
              <a:rPr lang="en-US" sz="2300" dirty="0">
                <a:solidFill>
                  <a:srgbClr val="000000"/>
                </a:solidFill>
                <a:latin typeface="Aptos" pitchFamily="34" charset="0"/>
                <a:ea typeface="Aptos" pitchFamily="34" charset="-122"/>
                <a:cs typeface="Aptos" pitchFamily="34" charset="-120"/>
              </a:rPr>
              <a:t>? </a:t>
            </a:r>
          </a:p>
          <a:p>
            <a:pPr marL="342900" indent="-342900">
              <a:spcAft>
                <a:spcPts val="1200"/>
              </a:spcAft>
              <a:buFont typeface="Arial" panose="020B0604020202020204" pitchFamily="34" charset="0"/>
              <a:buChar char="•"/>
            </a:pPr>
            <a:r>
              <a:rPr lang="en-US" sz="2300" dirty="0">
                <a:solidFill>
                  <a:srgbClr val="000000"/>
                </a:solidFill>
                <a:latin typeface="Aptos" pitchFamily="34" charset="0"/>
              </a:rPr>
              <a:t>Who is the </a:t>
            </a:r>
            <a:r>
              <a:rPr lang="en-US" sz="2300" b="1" dirty="0">
                <a:solidFill>
                  <a:schemeClr val="accent1"/>
                </a:solidFill>
                <a:latin typeface="Aptos" pitchFamily="34" charset="0"/>
              </a:rPr>
              <a:t>subject</a:t>
            </a:r>
            <a:r>
              <a:rPr lang="en-US" sz="2300" dirty="0">
                <a:solidFill>
                  <a:srgbClr val="000000"/>
                </a:solidFill>
                <a:latin typeface="Aptos" pitchFamily="34" charset="0"/>
              </a:rPr>
              <a:t>? (Who is doing the introducing?)</a:t>
            </a:r>
            <a:endParaRPr lang="en-US" sz="2300" dirty="0"/>
          </a:p>
        </p:txBody>
      </p:sp>
      <p:pic>
        <p:nvPicPr>
          <p:cNvPr id="21" name="Picture 20" descr="Think.png"/>
          <p:cNvPicPr>
            <a:picLocks noChangeAspect="1"/>
          </p:cNvPicPr>
          <p:nvPr/>
        </p:nvPicPr>
        <p:blipFill>
          <a:blip r:embed="rId5"/>
          <a:stretch>
            <a:fillRect/>
          </a:stretch>
        </p:blipFill>
        <p:spPr>
          <a:xfrm>
            <a:off x="7202055" y="211061"/>
            <a:ext cx="609600" cy="609600"/>
          </a:xfrm>
          <a:prstGeom prst="rect">
            <a:avLst/>
          </a:prstGeom>
        </p:spPr>
      </p:pic>
      <p:pic>
        <p:nvPicPr>
          <p:cNvPr id="22" name="Picture 21" descr="Turn_and_talk.png"/>
          <p:cNvPicPr>
            <a:picLocks noChangeAspect="1"/>
          </p:cNvPicPr>
          <p:nvPr/>
        </p:nvPicPr>
        <p:blipFill>
          <a:blip r:embed="rId6"/>
          <a:stretch>
            <a:fillRect/>
          </a:stretch>
        </p:blipFill>
        <p:spPr>
          <a:xfrm>
            <a:off x="7944427" y="189924"/>
            <a:ext cx="609600" cy="609600"/>
          </a:xfrm>
          <a:prstGeom prst="rect">
            <a:avLst/>
          </a:prstGeom>
        </p:spPr>
      </p:pic>
    </p:spTree>
    <p:extLst>
      <p:ext uri="{BB962C8B-B14F-4D97-AF65-F5344CB8AC3E}">
        <p14:creationId xmlns:p14="http://schemas.microsoft.com/office/powerpoint/2010/main" val="384126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xEl>
                                              <p:pRg st="3" end="3"/>
                                            </p:txEl>
                                          </p:spTgt>
                                        </p:tgtEl>
                                        <p:attrNameLst>
                                          <p:attrName>style.visibility</p:attrName>
                                        </p:attrNameLst>
                                      </p:cBhvr>
                                      <p:to>
                                        <p:strVal val="visible"/>
                                      </p:to>
                                    </p:set>
                                    <p:animEffect transition="in" filter="fade">
                                      <p:cBhvr>
                                        <p:cTn id="20"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2C97E-302C-F12E-EB52-00110E1F09F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FFB181C-D4E7-F167-A164-E2AE380F6FAF}"/>
              </a:ext>
            </a:extLst>
          </p:cNvPr>
          <p:cNvSpPr/>
          <p:nvPr/>
        </p:nvSpPr>
        <p:spPr>
          <a:xfrm>
            <a:off x="457200" y="137160"/>
            <a:ext cx="4572000" cy="347472"/>
          </a:xfrm>
          <a:prstGeom prst="rect">
            <a:avLst/>
          </a:prstGeom>
          <a:noFill/>
          <a:ln/>
        </p:spPr>
        <p:txBody>
          <a:bodyPr wrap="square" rtlCol="0" anchor="ctr"/>
          <a:lstStyle/>
          <a:p>
            <a:pPr marL="0" indent="0">
              <a:buNone/>
            </a:pPr>
            <a:r>
              <a:rPr lang="en-US" sz="2000" b="1" dirty="0">
                <a:solidFill>
                  <a:srgbClr val="8C072D"/>
                </a:solidFill>
                <a:latin typeface="Aptos" pitchFamily="34" charset="0"/>
                <a:ea typeface="Aptos" pitchFamily="34" charset="-122"/>
                <a:cs typeface="Aptos" pitchFamily="34" charset="-120"/>
              </a:rPr>
              <a:t>Reveal and model</a:t>
            </a:r>
            <a:endParaRPr lang="en-US" sz="2000" dirty="0"/>
          </a:p>
        </p:txBody>
      </p:sp>
      <p:sp>
        <p:nvSpPr>
          <p:cNvPr id="3" name="Text 1">
            <a:extLst>
              <a:ext uri="{FF2B5EF4-FFF2-40B4-BE49-F238E27FC236}">
                <a16:creationId xmlns:a16="http://schemas.microsoft.com/office/drawing/2014/main" id="{6A2F272D-9C71-F168-5B3D-51DA396D1CEF}"/>
              </a:ext>
            </a:extLst>
          </p:cNvPr>
          <p:cNvSpPr/>
          <p:nvPr/>
        </p:nvSpPr>
        <p:spPr>
          <a:xfrm>
            <a:off x="457200" y="530352"/>
            <a:ext cx="8229600" cy="292608"/>
          </a:xfrm>
          <a:prstGeom prst="rect">
            <a:avLst/>
          </a:prstGeom>
          <a:noFill/>
          <a:ln/>
        </p:spPr>
        <p:txBody>
          <a:bodyPr wrap="square" rtlCol="0" anchor="ctr"/>
          <a:lstStyle/>
          <a:p>
            <a:pPr marL="0" indent="0">
              <a:buNone/>
            </a:pPr>
            <a:r>
              <a:rPr lang="en-US" sz="1800" i="1" dirty="0">
                <a:solidFill>
                  <a:srgbClr val="888888"/>
                </a:solidFill>
                <a:latin typeface="Aptos" pitchFamily="34" charset="0"/>
                <a:ea typeface="Aptos" pitchFamily="34" charset="-122"/>
                <a:cs typeface="Aptos" pitchFamily="34" charset="-120"/>
              </a:rPr>
              <a:t>Weak → strong:</a:t>
            </a:r>
            <a:endParaRPr lang="en-US" sz="1800" dirty="0"/>
          </a:p>
        </p:txBody>
      </p:sp>
      <p:sp>
        <p:nvSpPr>
          <p:cNvPr id="4" name="Text 2">
            <a:extLst>
              <a:ext uri="{FF2B5EF4-FFF2-40B4-BE49-F238E27FC236}">
                <a16:creationId xmlns:a16="http://schemas.microsoft.com/office/drawing/2014/main" id="{A2C4031A-27FF-14EA-37BF-A0AF5340E85A}"/>
              </a:ext>
            </a:extLst>
          </p:cNvPr>
          <p:cNvSpPr/>
          <p:nvPr/>
        </p:nvSpPr>
        <p:spPr>
          <a:xfrm>
            <a:off x="457200" y="868680"/>
            <a:ext cx="8229600" cy="3749040"/>
          </a:xfrm>
          <a:prstGeom prst="rect">
            <a:avLst/>
          </a:prstGeom>
          <a:noFill/>
          <a:ln/>
        </p:spPr>
        <p:txBody>
          <a:bodyPr wrap="square" rtlCol="0" anchor="t"/>
          <a:lstStyle/>
          <a:p>
            <a:pPr marL="0" indent="0">
              <a:buNone/>
            </a:pPr>
            <a:endParaRPr lang="en-US" sz="2000" dirty="0"/>
          </a:p>
        </p:txBody>
      </p:sp>
      <p:sp>
        <p:nvSpPr>
          <p:cNvPr id="5" name="Text 3">
            <a:extLst>
              <a:ext uri="{FF2B5EF4-FFF2-40B4-BE49-F238E27FC236}">
                <a16:creationId xmlns:a16="http://schemas.microsoft.com/office/drawing/2014/main" id="{CABCE3A7-264A-F4B6-43D6-D2B9E9CC4974}"/>
              </a:ext>
            </a:extLst>
          </p:cNvPr>
          <p:cNvSpPr/>
          <p:nvPr/>
        </p:nvSpPr>
        <p:spPr>
          <a:xfrm>
            <a:off x="457200" y="4754880"/>
            <a:ext cx="8229600" cy="228600"/>
          </a:xfrm>
          <a:prstGeom prst="rect">
            <a:avLst/>
          </a:prstGeom>
          <a:noFill/>
          <a:ln/>
        </p:spPr>
        <p:txBody>
          <a:bodyPr wrap="square" rtlCol="0" anchor="ctr"/>
          <a:lstStyle/>
          <a:p>
            <a:pPr marL="0" indent="0">
              <a:buNone/>
            </a:pPr>
            <a:r>
              <a:rPr lang="en-US" sz="1100" b="1" dirty="0">
                <a:solidFill>
                  <a:srgbClr val="A24800"/>
                </a:solidFill>
                <a:latin typeface="Aptos" pitchFamily="34" charset="0"/>
                <a:ea typeface="Aptos" pitchFamily="34" charset="-122"/>
                <a:cs typeface="Aptos" pitchFamily="34" charset="-120"/>
              </a:rPr>
              <a:t>Subject </a:t>
            </a:r>
            <a:r>
              <a:rPr lang="en-US" sz="1100" b="1" i="1" dirty="0">
                <a:solidFill>
                  <a:srgbClr val="0F6E4D"/>
                </a:solidFill>
                <a:latin typeface="Aptos" pitchFamily="34" charset="0"/>
                <a:ea typeface="Aptos" pitchFamily="34" charset="-122"/>
                <a:cs typeface="Aptos" pitchFamily="34" charset="-120"/>
              </a:rPr>
              <a:t>   Verb </a:t>
            </a:r>
            <a:r>
              <a:rPr lang="en-US" sz="1100" b="1" dirty="0">
                <a:solidFill>
                  <a:srgbClr val="1F5FA8"/>
                </a:solidFill>
                <a:latin typeface="Aptos" pitchFamily="34" charset="0"/>
                <a:ea typeface="Aptos" pitchFamily="34" charset="-122"/>
                <a:cs typeface="Aptos" pitchFamily="34" charset="-120"/>
              </a:rPr>
              <a:t>   Prep phrase </a:t>
            </a:r>
            <a:r>
              <a:rPr lang="en-US" sz="1100" b="1" dirty="0">
                <a:solidFill>
                  <a:srgbClr val="000000"/>
                </a:solidFill>
                <a:latin typeface="Aptos" pitchFamily="34" charset="0"/>
                <a:ea typeface="Aptos" pitchFamily="34" charset="-122"/>
                <a:cs typeface="Aptos" pitchFamily="34" charset="-120"/>
              </a:rPr>
              <a:t>   </a:t>
            </a:r>
            <a:r>
              <a:rPr lang="en-US" sz="1100" b="1" u="sng" dirty="0">
                <a:solidFill>
                  <a:srgbClr val="000000"/>
                </a:solidFill>
                <a:latin typeface="Aptos" pitchFamily="34" charset="0"/>
                <a:ea typeface="Aptos" pitchFamily="34" charset="-122"/>
                <a:cs typeface="Aptos" pitchFamily="34" charset="-120"/>
              </a:rPr>
              <a:t>Conjunction</a:t>
            </a:r>
            <a:endParaRPr lang="en-US" sz="1100" dirty="0"/>
          </a:p>
        </p:txBody>
      </p:sp>
      <p:sp>
        <p:nvSpPr>
          <p:cNvPr id="6" name="Text 4">
            <a:extLst>
              <a:ext uri="{FF2B5EF4-FFF2-40B4-BE49-F238E27FC236}">
                <a16:creationId xmlns:a16="http://schemas.microsoft.com/office/drawing/2014/main" id="{0065A9A9-2E96-08C9-517F-7DF380F00D99}"/>
              </a:ext>
            </a:extLst>
          </p:cNvPr>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S10</a:t>
            </a:r>
            <a:endParaRPr lang="en-US" sz="1100" dirty="0"/>
          </a:p>
        </p:txBody>
      </p:sp>
      <p:sp>
        <p:nvSpPr>
          <p:cNvPr id="11" name="TextBox 10">
            <a:extLst>
              <a:ext uri="{FF2B5EF4-FFF2-40B4-BE49-F238E27FC236}">
                <a16:creationId xmlns:a16="http://schemas.microsoft.com/office/drawing/2014/main" id="{564F28CF-E20F-BBA2-8623-59A1148317DD}"/>
              </a:ext>
            </a:extLst>
          </p:cNvPr>
          <p:cNvSpPr txBox="1"/>
          <p:nvPr/>
        </p:nvSpPr>
        <p:spPr>
          <a:xfrm>
            <a:off x="0" y="5372100"/>
            <a:ext cx="9144000" cy="2585323"/>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REVEAL — TEACHER NOTES
1. could  vs  must: "could" = possible (weak)  ·  "must" = necessary (strong)
"Must" leaves no room for doubt. Only use it with strong evidence.
2. might  vs  causes (no modal): "might" = uncertain  ·  No modal = stated as fact
"Causes serious harm" is the strongest claim — it removes all hedging.
3. should  vs  need to: "should" = recommended  ·  "need to" = a stated necessity
Both are strong — "need to" slightly more urgent.
──
For each sentence, after confirming the type:
  "What is the verb?" (point to colour coding)
  "Who is doing that?" (for declaratives/interrogatives)
  For imperatives: "Who is doing this? — It's implied: you, the reader."
If students disagree: "What would need to change to make it [other type]?"</a:t>
            </a:r>
          </a:p>
        </p:txBody>
      </p:sp>
      <p:sp>
        <p:nvSpPr>
          <p:cNvPr id="8" name="TextBox 7">
            <a:extLst>
              <a:ext uri="{FF2B5EF4-FFF2-40B4-BE49-F238E27FC236}">
                <a16:creationId xmlns:a16="http://schemas.microsoft.com/office/drawing/2014/main" id="{D538BD92-D077-0D6F-1CD3-E6DA17F8EC70}"/>
              </a:ext>
            </a:extLst>
          </p:cNvPr>
          <p:cNvSpPr txBox="1"/>
          <p:nvPr/>
        </p:nvSpPr>
        <p:spPr>
          <a:xfrm>
            <a:off x="457200" y="1074525"/>
            <a:ext cx="6744855" cy="1308050"/>
          </a:xfrm>
          <a:prstGeom prst="rect">
            <a:avLst/>
          </a:prstGeom>
          <a:noFill/>
        </p:spPr>
        <p:txBody>
          <a:bodyPr wrap="square">
            <a:spAutoFit/>
          </a:bodyPr>
          <a:lstStyle/>
          <a:p>
            <a:pPr>
              <a:spcAft>
                <a:spcPts val="1200"/>
              </a:spcAft>
            </a:pPr>
            <a:r>
              <a:rPr lang="en-US" sz="2300" dirty="0">
                <a:solidFill>
                  <a:schemeClr val="accent1"/>
                </a:solidFill>
                <a:latin typeface="Aptos" pitchFamily="34" charset="0"/>
                <a:ea typeface="Aptos" pitchFamily="34" charset="-122"/>
                <a:cs typeface="Aptos" pitchFamily="34" charset="-120"/>
              </a:rPr>
              <a:t>Parents</a:t>
            </a:r>
            <a:r>
              <a:rPr lang="en-US" sz="2300" dirty="0">
                <a:solidFill>
                  <a:srgbClr val="000000"/>
                </a:solidFill>
                <a:latin typeface="Aptos" pitchFamily="34" charset="0"/>
                <a:ea typeface="Aptos" pitchFamily="34" charset="-122"/>
                <a:cs typeface="Aptos" pitchFamily="34" charset="-120"/>
              </a:rPr>
              <a:t> </a:t>
            </a:r>
            <a:r>
              <a:rPr lang="en-US" sz="2300" i="1" dirty="0">
                <a:solidFill>
                  <a:schemeClr val="accent2">
                    <a:lumMod val="75000"/>
                  </a:schemeClr>
                </a:solidFill>
                <a:latin typeface="Aptos" pitchFamily="34" charset="0"/>
                <a:ea typeface="Aptos" pitchFamily="34" charset="-122"/>
                <a:cs typeface="Aptos" pitchFamily="34" charset="-120"/>
              </a:rPr>
              <a:t>need to </a:t>
            </a:r>
            <a:r>
              <a:rPr lang="en-US" sz="2300" dirty="0">
                <a:solidFill>
                  <a:srgbClr val="000000"/>
                </a:solidFill>
                <a:latin typeface="Aptos" pitchFamily="34" charset="0"/>
                <a:ea typeface="Aptos" pitchFamily="34" charset="-122"/>
                <a:cs typeface="Aptos" pitchFamily="34" charset="-120"/>
              </a:rPr>
              <a:t>monitor their children's screen time. </a:t>
            </a:r>
          </a:p>
          <a:p>
            <a:pPr>
              <a:spcAft>
                <a:spcPts val="1200"/>
              </a:spcAft>
            </a:pPr>
            <a:r>
              <a:rPr lang="en-US" sz="2300" dirty="0">
                <a:solidFill>
                  <a:schemeClr val="accent1"/>
                </a:solidFill>
                <a:latin typeface="Aptos" pitchFamily="34" charset="0"/>
                <a:ea typeface="Aptos" pitchFamily="34" charset="-122"/>
                <a:cs typeface="Aptos" pitchFamily="34" charset="-120"/>
              </a:rPr>
              <a:t>Parents</a:t>
            </a:r>
            <a:r>
              <a:rPr lang="en-US" sz="2300" dirty="0">
                <a:solidFill>
                  <a:srgbClr val="000000"/>
                </a:solidFill>
                <a:latin typeface="Aptos" pitchFamily="34" charset="0"/>
                <a:ea typeface="Aptos" pitchFamily="34" charset="-122"/>
                <a:cs typeface="Aptos" pitchFamily="34" charset="-120"/>
              </a:rPr>
              <a:t> </a:t>
            </a:r>
            <a:r>
              <a:rPr lang="en-US" sz="2300" i="1" dirty="0">
                <a:solidFill>
                  <a:schemeClr val="accent2">
                    <a:lumMod val="75000"/>
                  </a:schemeClr>
                </a:solidFill>
                <a:latin typeface="Aptos" pitchFamily="34" charset="0"/>
                <a:ea typeface="Aptos" pitchFamily="34" charset="-122"/>
                <a:cs typeface="Aptos" pitchFamily="34" charset="-120"/>
              </a:rPr>
              <a:t>can consider </a:t>
            </a:r>
            <a:r>
              <a:rPr lang="en-US" sz="2300" dirty="0">
                <a:solidFill>
                  <a:srgbClr val="000000"/>
                </a:solidFill>
                <a:latin typeface="Aptos" pitchFamily="34" charset="0"/>
                <a:ea typeface="Aptos" pitchFamily="34" charset="-122"/>
                <a:cs typeface="Aptos" pitchFamily="34" charset="-120"/>
              </a:rPr>
              <a:t>monitoring their children's screen time.</a:t>
            </a:r>
            <a:endParaRPr lang="en-US" sz="2300" dirty="0"/>
          </a:p>
        </p:txBody>
      </p:sp>
      <p:sp>
        <p:nvSpPr>
          <p:cNvPr id="12" name="Arrow: Left 11">
            <a:extLst>
              <a:ext uri="{FF2B5EF4-FFF2-40B4-BE49-F238E27FC236}">
                <a16:creationId xmlns:a16="http://schemas.microsoft.com/office/drawing/2014/main" id="{0FCAE3A1-9EB8-11FE-3B5F-FC851DCE486B}"/>
              </a:ext>
            </a:extLst>
          </p:cNvPr>
          <p:cNvSpPr/>
          <p:nvPr/>
        </p:nvSpPr>
        <p:spPr>
          <a:xfrm>
            <a:off x="7286337" y="906513"/>
            <a:ext cx="1533236" cy="822037"/>
          </a:xfrm>
          <a:prstGeom prst="leftArrow">
            <a:avLst/>
          </a:prstGeom>
          <a:solidFill>
            <a:srgbClr val="FFC000"/>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36000" rtlCol="0" anchor="ctr"/>
          <a:lstStyle/>
          <a:p>
            <a:pPr algn="ctr"/>
            <a:r>
              <a:rPr lang="en-AU" sz="2400" b="1" dirty="0">
                <a:solidFill>
                  <a:schemeClr val="tx1"/>
                </a:solidFill>
              </a:rPr>
              <a:t>Stronger!</a:t>
            </a:r>
          </a:p>
        </p:txBody>
      </p:sp>
      <p:sp>
        <p:nvSpPr>
          <p:cNvPr id="15" name="TextBox 14">
            <a:extLst>
              <a:ext uri="{FF2B5EF4-FFF2-40B4-BE49-F238E27FC236}">
                <a16:creationId xmlns:a16="http://schemas.microsoft.com/office/drawing/2014/main" id="{2B7ADA75-4023-F401-D182-E0C1CA364624}"/>
              </a:ext>
            </a:extLst>
          </p:cNvPr>
          <p:cNvSpPr txBox="1"/>
          <p:nvPr/>
        </p:nvSpPr>
        <p:spPr>
          <a:xfrm>
            <a:off x="557646" y="2667744"/>
            <a:ext cx="7854834" cy="1892826"/>
          </a:xfrm>
          <a:prstGeom prst="rect">
            <a:avLst/>
          </a:prstGeom>
          <a:noFill/>
        </p:spPr>
        <p:txBody>
          <a:bodyPr wrap="square">
            <a:spAutoFit/>
          </a:bodyPr>
          <a:lstStyle/>
          <a:p>
            <a:pPr marL="0" indent="0">
              <a:spcAft>
                <a:spcPts val="600"/>
              </a:spcAft>
              <a:buNone/>
            </a:pPr>
            <a:r>
              <a:rPr lang="en-US" sz="2300" b="1" i="1" dirty="0">
                <a:solidFill>
                  <a:schemeClr val="accent2">
                    <a:lumMod val="75000"/>
                  </a:schemeClr>
                </a:solidFill>
                <a:latin typeface="Aptos" pitchFamily="34" charset="0"/>
                <a:ea typeface="Aptos" pitchFamily="34" charset="-122"/>
                <a:cs typeface="Aptos" pitchFamily="34" charset="-120"/>
              </a:rPr>
              <a:t>Need to</a:t>
            </a:r>
            <a:r>
              <a:rPr lang="en-US" sz="2300" dirty="0">
                <a:solidFill>
                  <a:srgbClr val="000000"/>
                </a:solidFill>
                <a:latin typeface="Aptos" pitchFamily="34" charset="0"/>
                <a:ea typeface="Aptos" pitchFamily="34" charset="-122"/>
                <a:cs typeface="Aptos" pitchFamily="34" charset="-120"/>
              </a:rPr>
              <a:t> is stronger than </a:t>
            </a:r>
            <a:r>
              <a:rPr lang="en-US" sz="2300" b="1" i="1" dirty="0">
                <a:solidFill>
                  <a:schemeClr val="accent2">
                    <a:lumMod val="75000"/>
                  </a:schemeClr>
                </a:solidFill>
                <a:latin typeface="Aptos" pitchFamily="34" charset="0"/>
                <a:ea typeface="Aptos" pitchFamily="34" charset="-122"/>
                <a:cs typeface="Aptos" pitchFamily="34" charset="-120"/>
              </a:rPr>
              <a:t>can</a:t>
            </a:r>
            <a:r>
              <a:rPr lang="en-US" sz="2300" dirty="0">
                <a:solidFill>
                  <a:srgbClr val="000000"/>
                </a:solidFill>
                <a:latin typeface="Aptos" pitchFamily="34" charset="0"/>
                <a:ea typeface="Aptos" pitchFamily="34" charset="-122"/>
                <a:cs typeface="Aptos" pitchFamily="34" charset="-120"/>
              </a:rPr>
              <a:t>.</a:t>
            </a:r>
          </a:p>
          <a:p>
            <a:pPr marL="0" indent="0">
              <a:spcAft>
                <a:spcPts val="1200"/>
              </a:spcAft>
              <a:buNone/>
            </a:pPr>
            <a:endParaRPr lang="en-US" sz="2300" dirty="0">
              <a:solidFill>
                <a:srgbClr val="000000"/>
              </a:solidFill>
              <a:latin typeface="Aptos" pitchFamily="34" charset="0"/>
              <a:ea typeface="Aptos" pitchFamily="34" charset="-122"/>
              <a:cs typeface="Aptos" pitchFamily="34" charset="-120"/>
            </a:endParaRPr>
          </a:p>
          <a:p>
            <a:pPr marL="342900" indent="-342900">
              <a:spcAft>
                <a:spcPts val="1200"/>
              </a:spcAft>
              <a:buFont typeface="Arial" panose="020B0604020202020204" pitchFamily="34" charset="0"/>
              <a:buChar char="•"/>
            </a:pPr>
            <a:r>
              <a:rPr lang="en-US" sz="2300" dirty="0">
                <a:solidFill>
                  <a:srgbClr val="000000"/>
                </a:solidFill>
                <a:latin typeface="Aptos" pitchFamily="34" charset="0"/>
                <a:ea typeface="Aptos" pitchFamily="34" charset="-122"/>
                <a:cs typeface="Aptos" pitchFamily="34" charset="-120"/>
              </a:rPr>
              <a:t>What is the whole </a:t>
            </a:r>
            <a:r>
              <a:rPr lang="en-US" sz="2300" b="1" i="1" dirty="0">
                <a:solidFill>
                  <a:schemeClr val="accent2">
                    <a:lumMod val="75000"/>
                  </a:schemeClr>
                </a:solidFill>
                <a:latin typeface="Aptos" pitchFamily="34" charset="0"/>
                <a:ea typeface="Aptos" pitchFamily="34" charset="-122"/>
                <a:cs typeface="Aptos" pitchFamily="34" charset="-120"/>
              </a:rPr>
              <a:t>verb group</a:t>
            </a:r>
            <a:r>
              <a:rPr lang="en-US" sz="2300" dirty="0">
                <a:solidFill>
                  <a:srgbClr val="000000"/>
                </a:solidFill>
                <a:latin typeface="Aptos" pitchFamily="34" charset="0"/>
                <a:ea typeface="Aptos" pitchFamily="34" charset="-122"/>
                <a:cs typeface="Aptos" pitchFamily="34" charset="-120"/>
              </a:rPr>
              <a:t>? </a:t>
            </a:r>
          </a:p>
          <a:p>
            <a:pPr marL="342900" indent="-342900">
              <a:spcAft>
                <a:spcPts val="1200"/>
              </a:spcAft>
              <a:buFont typeface="Arial" panose="020B0604020202020204" pitchFamily="34" charset="0"/>
              <a:buChar char="•"/>
            </a:pPr>
            <a:r>
              <a:rPr lang="en-US" sz="2300" dirty="0">
                <a:solidFill>
                  <a:srgbClr val="000000"/>
                </a:solidFill>
                <a:latin typeface="Aptos" pitchFamily="34" charset="0"/>
              </a:rPr>
              <a:t>Who is the </a:t>
            </a:r>
            <a:r>
              <a:rPr lang="en-US" sz="2300" b="1" dirty="0">
                <a:solidFill>
                  <a:schemeClr val="accent1"/>
                </a:solidFill>
                <a:latin typeface="Aptos" pitchFamily="34" charset="0"/>
              </a:rPr>
              <a:t>subject</a:t>
            </a:r>
            <a:r>
              <a:rPr lang="en-US" sz="2300" dirty="0">
                <a:solidFill>
                  <a:srgbClr val="000000"/>
                </a:solidFill>
                <a:latin typeface="Aptos" pitchFamily="34" charset="0"/>
              </a:rPr>
              <a:t>? (Who is doing the introducing?)</a:t>
            </a:r>
            <a:endParaRPr lang="en-US" sz="2300" dirty="0"/>
          </a:p>
        </p:txBody>
      </p:sp>
      <p:pic>
        <p:nvPicPr>
          <p:cNvPr id="21" name="Picture 20" descr="Think.png"/>
          <p:cNvPicPr>
            <a:picLocks noChangeAspect="1"/>
          </p:cNvPicPr>
          <p:nvPr/>
        </p:nvPicPr>
        <p:blipFill>
          <a:blip r:embed="rId5"/>
          <a:stretch>
            <a:fillRect/>
          </a:stretch>
        </p:blipFill>
        <p:spPr>
          <a:xfrm>
            <a:off x="7202055" y="211061"/>
            <a:ext cx="609600" cy="609600"/>
          </a:xfrm>
          <a:prstGeom prst="rect">
            <a:avLst/>
          </a:prstGeom>
        </p:spPr>
      </p:pic>
      <p:pic>
        <p:nvPicPr>
          <p:cNvPr id="22" name="Picture 21" descr="Turn_and_talk.png"/>
          <p:cNvPicPr>
            <a:picLocks noChangeAspect="1"/>
          </p:cNvPicPr>
          <p:nvPr/>
        </p:nvPicPr>
        <p:blipFill>
          <a:blip r:embed="rId6"/>
          <a:stretch>
            <a:fillRect/>
          </a:stretch>
        </p:blipFill>
        <p:spPr>
          <a:xfrm>
            <a:off x="7944427" y="189924"/>
            <a:ext cx="609600" cy="609600"/>
          </a:xfrm>
          <a:prstGeom prst="rect">
            <a:avLst/>
          </a:prstGeom>
        </p:spPr>
      </p:pic>
    </p:spTree>
    <p:extLst>
      <p:ext uri="{BB962C8B-B14F-4D97-AF65-F5344CB8AC3E}">
        <p14:creationId xmlns:p14="http://schemas.microsoft.com/office/powerpoint/2010/main" val="877044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xEl>
                                              <p:pRg st="3" end="3"/>
                                            </p:txEl>
                                          </p:spTgt>
                                        </p:tgtEl>
                                        <p:attrNameLst>
                                          <p:attrName>style.visibility</p:attrName>
                                        </p:attrNameLst>
                                      </p:cBhvr>
                                      <p:to>
                                        <p:strVal val="visible"/>
                                      </p:to>
                                    </p:set>
                                    <p:animEffect transition="in" filter="fade">
                                      <p:cBhvr>
                                        <p:cTn id="20"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0F1"/>
          </a:solidFill>
          <a:ln/>
        </p:spPr>
        <p:txBody>
          <a:bodyPr/>
          <a:lstStyle/>
          <a:p>
            <a:endParaRPr lang="en-AU"/>
          </a:p>
        </p:txBody>
      </p:sp>
      <p:sp>
        <p:nvSpPr>
          <p:cNvPr id="3" name="Text 1"/>
          <p:cNvSpPr/>
          <p:nvPr/>
        </p:nvSpPr>
        <p:spPr>
          <a:xfrm>
            <a:off x="457200" y="137160"/>
            <a:ext cx="8229600" cy="411480"/>
          </a:xfrm>
          <a:prstGeom prst="rect">
            <a:avLst/>
          </a:prstGeom>
          <a:noFill/>
          <a:ln/>
        </p:spPr>
        <p:txBody>
          <a:bodyPr wrap="square" rtlCol="0" anchor="ctr"/>
          <a:lstStyle/>
          <a:p>
            <a:pPr marL="0" indent="0">
              <a:buNone/>
            </a:pPr>
            <a:r>
              <a:rPr lang="en-US" sz="2400" b="1" dirty="0">
                <a:solidFill>
                  <a:srgbClr val="8C072D"/>
                </a:solidFill>
                <a:latin typeface="Aptos" pitchFamily="34" charset="0"/>
                <a:ea typeface="Aptos" pitchFamily="34" charset="-122"/>
                <a:cs typeface="Aptos" pitchFamily="34" charset="-120"/>
              </a:rPr>
              <a:t>Exit task</a:t>
            </a:r>
            <a:endParaRPr lang="en-US" sz="2400" dirty="0"/>
          </a:p>
        </p:txBody>
      </p:sp>
      <p:sp>
        <p:nvSpPr>
          <p:cNvPr id="4" name="Text 2"/>
          <p:cNvSpPr/>
          <p:nvPr/>
        </p:nvSpPr>
        <p:spPr>
          <a:xfrm>
            <a:off x="457200" y="942293"/>
            <a:ext cx="8229600" cy="384048"/>
          </a:xfrm>
          <a:prstGeom prst="rect">
            <a:avLst/>
          </a:prstGeom>
          <a:noFill/>
          <a:ln/>
        </p:spPr>
        <p:txBody>
          <a:bodyPr wrap="square" rtlCol="0" anchor="ctr"/>
          <a:lstStyle/>
          <a:p>
            <a:pPr marL="0" indent="0">
              <a:buNone/>
            </a:pPr>
            <a:r>
              <a:rPr lang="en-US" sz="1800" b="1" dirty="0">
                <a:solidFill>
                  <a:srgbClr val="000000"/>
                </a:solidFill>
                <a:latin typeface="Aptos" pitchFamily="34" charset="0"/>
                <a:ea typeface="Aptos" pitchFamily="34" charset="-122"/>
                <a:cs typeface="Aptos" pitchFamily="34" charset="-120"/>
              </a:rPr>
              <a:t>1 = Weakest   ·   2 = Weak-medium   ·   3 = Strong-medium   ·   4 = Strongest</a:t>
            </a:r>
            <a:endParaRPr lang="en-US" sz="1800" dirty="0"/>
          </a:p>
        </p:txBody>
      </p:sp>
      <p:sp>
        <p:nvSpPr>
          <p:cNvPr id="5" name="Text 3"/>
          <p:cNvSpPr/>
          <p:nvPr/>
        </p:nvSpPr>
        <p:spPr>
          <a:xfrm>
            <a:off x="457200" y="1560945"/>
            <a:ext cx="8229600" cy="3175647"/>
          </a:xfrm>
          <a:prstGeom prst="rect">
            <a:avLst/>
          </a:prstGeom>
          <a:noFill/>
          <a:ln/>
        </p:spPr>
        <p:txBody>
          <a:bodyPr wrap="square" rtlCol="0" anchor="ctr"/>
          <a:lstStyle/>
          <a:p>
            <a:pPr marL="0" indent="0">
              <a:buNone/>
            </a:pPr>
            <a:r>
              <a:rPr lang="en-US" sz="2400" dirty="0">
                <a:solidFill>
                  <a:srgbClr val="000000"/>
                </a:solidFill>
                <a:latin typeface="Aptos" pitchFamily="34" charset="0"/>
                <a:ea typeface="Aptos" pitchFamily="34" charset="-122"/>
                <a:cs typeface="Aptos" pitchFamily="34" charset="-120"/>
              </a:rPr>
              <a:t>Screen time might affect sleep in some teenagers.</a:t>
            </a:r>
            <a:endParaRPr lang="en-US" sz="2400" dirty="0"/>
          </a:p>
          <a:p>
            <a:pPr marL="0" indent="0">
              <a:buNone/>
            </a:pPr>
            <a:endParaRPr lang="en-US" sz="2400" dirty="0"/>
          </a:p>
          <a:p>
            <a:pPr marL="0" indent="0">
              <a:buNone/>
            </a:pPr>
            <a:r>
              <a:rPr lang="en-US" sz="2400" dirty="0">
                <a:solidFill>
                  <a:srgbClr val="000000"/>
                </a:solidFill>
                <a:latin typeface="Aptos" pitchFamily="34" charset="0"/>
                <a:ea typeface="Aptos" pitchFamily="34" charset="-122"/>
                <a:cs typeface="Aptos" pitchFamily="34" charset="-120"/>
              </a:rPr>
              <a:t>The ban could have some unintended consequences.</a:t>
            </a:r>
            <a:endParaRPr lang="en-US" sz="2400" dirty="0"/>
          </a:p>
          <a:p>
            <a:pPr marL="0" indent="0">
              <a:buNone/>
            </a:pPr>
            <a:endParaRPr lang="en-US" sz="2400" dirty="0"/>
          </a:p>
          <a:p>
            <a:pPr marL="0" indent="0">
              <a:buNone/>
            </a:pPr>
            <a:r>
              <a:rPr lang="en-US" sz="2400" dirty="0">
                <a:solidFill>
                  <a:srgbClr val="000000"/>
                </a:solidFill>
                <a:latin typeface="Aptos" pitchFamily="34" charset="0"/>
                <a:ea typeface="Aptos" pitchFamily="34" charset="-122"/>
                <a:cs typeface="Aptos" pitchFamily="34" charset="-120"/>
              </a:rPr>
              <a:t>Parents should discuss digital safety with their children.</a:t>
            </a:r>
            <a:endParaRPr lang="en-US" sz="2400" dirty="0"/>
          </a:p>
          <a:p>
            <a:pPr marL="0" indent="0">
              <a:buNone/>
            </a:pPr>
            <a:endParaRPr lang="en-US" sz="2400" dirty="0"/>
          </a:p>
          <a:p>
            <a:pPr marL="0" indent="0">
              <a:buNone/>
            </a:pPr>
            <a:r>
              <a:rPr lang="en-US" sz="2400" dirty="0">
                <a:solidFill>
                  <a:srgbClr val="000000"/>
                </a:solidFill>
                <a:latin typeface="Aptos" pitchFamily="34" charset="0"/>
                <a:ea typeface="Aptos" pitchFamily="34" charset="-122"/>
                <a:cs typeface="Aptos" pitchFamily="34" charset="-120"/>
              </a:rPr>
              <a:t>Governments must act before the situation worsens.</a:t>
            </a:r>
            <a:endParaRPr lang="en-US" sz="2400" dirty="0"/>
          </a:p>
        </p:txBody>
      </p:sp>
      <p:sp>
        <p:nvSpPr>
          <p:cNvPr id="6" name="Text 4"/>
          <p:cNvSpPr/>
          <p:nvPr/>
        </p:nvSpPr>
        <p:spPr>
          <a:xfrm>
            <a:off x="457200" y="4736592"/>
            <a:ext cx="7772400" cy="256032"/>
          </a:xfrm>
          <a:prstGeom prst="rect">
            <a:avLst/>
          </a:prstGeom>
          <a:noFill/>
          <a:ln/>
        </p:spPr>
        <p:txBody>
          <a:bodyPr wrap="square" rtlCol="0" anchor="ctr"/>
          <a:lstStyle/>
          <a:p>
            <a:pPr marL="0" indent="0">
              <a:buNone/>
            </a:pPr>
            <a:r>
              <a:rPr lang="en-US" sz="1100" i="1" dirty="0">
                <a:solidFill>
                  <a:srgbClr val="888888"/>
                </a:solidFill>
                <a:latin typeface="Aptos" pitchFamily="34" charset="0"/>
                <a:ea typeface="Aptos" pitchFamily="34" charset="-122"/>
                <a:cs typeface="Aptos" pitchFamily="34" charset="-120"/>
              </a:rPr>
              <a:t>Vote with your fingers — scan the room before revealing.</a:t>
            </a:r>
            <a:endParaRPr lang="en-US" sz="1100" dirty="0"/>
          </a:p>
        </p:txBody>
      </p:sp>
      <p:sp>
        <p:nvSpPr>
          <p:cNvPr id="7" name="Text 5"/>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S10</a:t>
            </a:r>
            <a:endParaRPr lang="en-US" sz="1100" dirty="0"/>
          </a:p>
        </p:txBody>
      </p:sp>
      <p:sp>
        <p:nvSpPr>
          <p:cNvPr id="12" name="TextBox 11">
            <a:extLst>
              <a:ext uri="{FF2B5EF4-FFF2-40B4-BE49-F238E27FC236}">
                <a16:creationId xmlns:a16="http://schemas.microsoft.com/office/drawing/2014/main" id="{96A4F8B8-6B87-0921-82A3-4571382AE219}"/>
              </a:ext>
            </a:extLst>
          </p:cNvPr>
          <p:cNvSpPr txBox="1"/>
          <p:nvPr/>
        </p:nvSpPr>
        <p:spPr>
          <a:xfrm>
            <a:off x="0" y="5372100"/>
            <a:ext cx="9144000" cy="1615827"/>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EXIT TASK — ANSWERS
1. 1 — Weakest  ("might" = possible, uncertain)
2. 2 — Weak-medium  ("could" = possible)
3. 3 — Strong-medium  ("should" = recommended)
4. 4 — Strongest  ("must" = necessary)
──
After voting, ask: "Which sentence would you use if your evidence was strong? Weak?"
Ask: "Can you rank these in order without the modal verbs? → might / could / should / must"</a:t>
            </a:r>
          </a:p>
        </p:txBody>
      </p:sp>
      <p:grpSp>
        <p:nvGrpSpPr>
          <p:cNvPr id="8" name="Group 7">
            <a:extLst>
              <a:ext uri="{FF2B5EF4-FFF2-40B4-BE49-F238E27FC236}">
                <a16:creationId xmlns:a16="http://schemas.microsoft.com/office/drawing/2014/main" id="{17E2C597-4546-1244-EF92-4E75243713C1}"/>
              </a:ext>
            </a:extLst>
          </p:cNvPr>
          <p:cNvGrpSpPr/>
          <p:nvPr/>
        </p:nvGrpSpPr>
        <p:grpSpPr>
          <a:xfrm>
            <a:off x="5744633" y="137160"/>
            <a:ext cx="2652183" cy="609600"/>
            <a:chOff x="5744633" y="137160"/>
            <a:chExt cx="2652183" cy="609600"/>
          </a:xfrm>
        </p:grpSpPr>
        <p:pic>
          <p:nvPicPr>
            <p:cNvPr id="10" name="Graphic 9">
              <a:extLst>
                <a:ext uri="{FF2B5EF4-FFF2-40B4-BE49-F238E27FC236}">
                  <a16:creationId xmlns:a16="http://schemas.microsoft.com/office/drawing/2014/main" id="{4DAE1ED5-0BD3-5A36-27AF-3E869E296E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7216" y="137160"/>
              <a:ext cx="609600" cy="609600"/>
            </a:xfrm>
            <a:prstGeom prst="rect">
              <a:avLst/>
            </a:prstGeom>
          </p:spPr>
        </p:pic>
        <p:pic>
          <p:nvPicPr>
            <p:cNvPr id="13" name="Graphic 12">
              <a:extLst>
                <a:ext uri="{FF2B5EF4-FFF2-40B4-BE49-F238E27FC236}">
                  <a16:creationId xmlns:a16="http://schemas.microsoft.com/office/drawing/2014/main" id="{5F36015D-15E2-628C-FB52-E85D05FEA1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4633" y="137160"/>
              <a:ext cx="609600" cy="609600"/>
            </a:xfrm>
            <a:prstGeom prst="rect">
              <a:avLst/>
            </a:prstGeom>
          </p:spPr>
        </p:pic>
        <p:pic>
          <p:nvPicPr>
            <p:cNvPr id="14" name="Graphic 13">
              <a:extLst>
                <a:ext uri="{FF2B5EF4-FFF2-40B4-BE49-F238E27FC236}">
                  <a16:creationId xmlns:a16="http://schemas.microsoft.com/office/drawing/2014/main" id="{4B3A75C2-A931-E714-AF77-D49D9845747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30433" y="137160"/>
              <a:ext cx="609600" cy="609600"/>
            </a:xfrm>
            <a:prstGeom prst="rect">
              <a:avLst/>
            </a:prstGeom>
          </p:spPr>
        </p:pic>
        <p:pic>
          <p:nvPicPr>
            <p:cNvPr id="15" name="Graphic 14">
              <a:extLst>
                <a:ext uri="{FF2B5EF4-FFF2-40B4-BE49-F238E27FC236}">
                  <a16:creationId xmlns:a16="http://schemas.microsoft.com/office/drawing/2014/main" id="{6BCD6E6F-B0A0-F981-0BF3-43C41CA62A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16233" y="137160"/>
              <a:ext cx="600075" cy="600075"/>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KHS grammar">
      <a:dk1>
        <a:sysClr val="windowText" lastClr="000000"/>
      </a:dk1>
      <a:lt1>
        <a:sysClr val="window" lastClr="FFFFFF"/>
      </a:lt1>
      <a:dk2>
        <a:srgbClr val="0E2841"/>
      </a:dk2>
      <a:lt2>
        <a:srgbClr val="E8E8E8"/>
      </a:lt2>
      <a:accent1>
        <a:srgbClr val="7A0101"/>
      </a:accent1>
      <a:accent2>
        <a:srgbClr val="0DC3A5"/>
      </a:accent2>
      <a:accent3>
        <a:srgbClr val="0072B2"/>
      </a:accent3>
      <a:accent4>
        <a:srgbClr val="0F9ED5"/>
      </a:accent4>
      <a:accent5>
        <a:srgbClr val="8C072D"/>
      </a:accent5>
      <a:accent6>
        <a:srgbClr val="4EA72E"/>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9f09437d8d02a1e3f0770c32ba2175b3">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555cb06902e6186cbfcc866e1dbcbb82"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Props1.xml><?xml version="1.0" encoding="utf-8"?>
<ds:datastoreItem xmlns:ds="http://schemas.openxmlformats.org/officeDocument/2006/customXml" ds:itemID="{A3F8B369-5D20-4CC5-9A8E-5C9C2E1864B7}"/>
</file>

<file path=customXml/itemProps2.xml><?xml version="1.0" encoding="utf-8"?>
<ds:datastoreItem xmlns:ds="http://schemas.openxmlformats.org/officeDocument/2006/customXml" ds:itemID="{C469B3EF-809E-4636-9648-701ED6D288AC}"/>
</file>

<file path=customXml/itemProps3.xml><?xml version="1.0" encoding="utf-8"?>
<ds:datastoreItem xmlns:ds="http://schemas.openxmlformats.org/officeDocument/2006/customXml" ds:itemID="{17170DEE-E05C-4DA0-BDBA-422E5D4F186D}"/>
</file>

<file path=docProps/app.xml><?xml version="1.0" encoding="utf-8"?>
<Properties xmlns="http://schemas.openxmlformats.org/officeDocument/2006/extended-properties" xmlns:vt="http://schemas.openxmlformats.org/officeDocument/2006/docPropsVTypes">
  <TotalTime>146</TotalTime>
  <Words>2642</Words>
  <Application>Microsoft Office PowerPoint</Application>
  <PresentationFormat>On-screen Show (16:9)</PresentationFormat>
  <Paragraphs>117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
  <cp:lastModifiedBy/>
  <cp:revision>7</cp:revision>
  <dcterms:created xsi:type="dcterms:W3CDTF">2026-08-14T04:38:46Z</dcterms:created>
  <dcterms:modified xsi:type="dcterms:W3CDTF">2026-10-06T03:13:48Z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ies>
</file>