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000" autoAdjust="0"/>
  </p:normalViewPr>
  <p:slideViewPr>
    <p:cSldViewPr snapToGrid="0" snapToObjects="1">
      <p:cViewPr varScale="1">
        <p:scale>
          <a:sx n="90" d="100"/>
          <a:sy n="90" d="100"/>
        </p:scale>
        <p:origin x="11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06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
The most important distinction is between declarative and imperative. A declarative has a subject performing the verb. An imperative has no stated subject: the verb comes first and "you" is implied. Each text type in this unit favours different sentence types — understanding which type fits where is a core writing skill.
──
TIMING: 10 minutes total
Display + respond: 3–4 min  |  Reveal + model: 3–4 min  |  Teaching point discussion: 1–2 min  |  Exit task: 1–2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 SCRIPT — OPPORTUNITIES TO RESPOND
OTR — Choral completion (whole class)
After presenting each type, pause for choral response:
  “Stating a fact is a ______________ sentence” (declarative)
  "An interrogative is a fancy word for a ___." → [question]
  “Giving an instruction is what type of sentence? An  __________________ sentence” (imperative)
  "An exclamative expresses a _____." → [strong feeling]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3–4 minutes for all students to respond independently. Circulate and observe — do not correct or prompt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REVEAL — TEACHER NOTES
1. </a:t>
            </a:r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Imperative (verb goes first)</a:t>
            </a:r>
            <a:b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</a:br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Verb: </a:t>
            </a:r>
            <a:r>
              <a:rPr lang="en-US" sz="1200" i="1" dirty="0">
                <a:solidFill>
                  <a:srgbClr val="0F6E4D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Stir</a:t>
            </a:r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  Who's doing the stirring?  The reader.</a:t>
            </a:r>
            <a:endParaRPr lang="en-US" sz="1200" dirty="0">
              <a:latin typeface="Aptos" panose="020B0004020202020204" pitchFamily="34" charset="0"/>
            </a:endParaRPr>
          </a:p>
          <a:p>
            <a:endParaRPr lang="en-US" dirty="0"/>
          </a:p>
          <a:p>
            <a:pPr marL="627063"/>
            <a:r>
              <a:rPr lang="en-US" dirty="0"/>
              <a:t>2. </a:t>
            </a:r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Declarative (subject + verb)</a:t>
            </a:r>
            <a:endParaRPr lang="en-US" sz="1200" dirty="0">
              <a:latin typeface="Aptos" panose="020B0004020202020204" pitchFamily="34" charset="0"/>
            </a:endParaRPr>
          </a:p>
          <a:p>
            <a:pPr marL="627063">
              <a:buNone/>
            </a:pPr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Verb: </a:t>
            </a:r>
            <a:r>
              <a:rPr lang="en-US" sz="1200" i="1" dirty="0">
                <a:solidFill>
                  <a:srgbClr val="0F6E4D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has changed</a:t>
            </a:r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 Who's doing the changing?  Social media</a:t>
            </a:r>
            <a:endParaRPr lang="en-US" sz="1200" dirty="0">
              <a:latin typeface="Aptos" panose="020B0004020202020204" pitchFamily="34" charset="0"/>
            </a:endParaRPr>
          </a:p>
          <a:p>
            <a:r>
              <a:rPr lang="en-US" dirty="0"/>
              <a:t>
──
For each sentence, after confirming the type:
  "What is the verb?" (point to </a:t>
            </a:r>
            <a:r>
              <a:rPr lang="en-US" dirty="0" err="1"/>
              <a:t>colour</a:t>
            </a:r>
            <a:r>
              <a:rPr lang="en-US" dirty="0"/>
              <a:t>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24DE-4428-A694-04F2-10B73D966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37C29-F351-8A1C-96AC-E6BF8F181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1E829-E319-12A9-A25A-90A2BA843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7063"/>
            <a:r>
              <a:rPr lang="en-US" dirty="0"/>
              <a:t>REVEAL — TEACHER NOTES
3. </a:t>
            </a:r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Interrogative (auxiliary – subject – verb)</a:t>
            </a:r>
          </a:p>
          <a:p>
            <a:pPr marL="627063"/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Verb: </a:t>
            </a:r>
            <a:r>
              <a:rPr lang="en-US" sz="1200" i="1" dirty="0">
                <a:solidFill>
                  <a:srgbClr val="0F6E4D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Have … stopped</a:t>
            </a:r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  Who's doing the stopping?   You</a:t>
            </a:r>
          </a:p>
          <a:p>
            <a:pPr marL="627063"/>
            <a:endParaRPr lang="en-US" sz="1200" i="1" dirty="0">
              <a:solidFill>
                <a:srgbClr val="888888"/>
              </a:solidFill>
              <a:latin typeface="Aptos" panose="020B0004020202020204" pitchFamily="34" charset="0"/>
            </a:endParaRPr>
          </a:p>
          <a:p>
            <a:pPr marL="627063"/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</a:rPr>
              <a:t>4. </a:t>
            </a:r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Exclamative (expresses emotion; no verb needed)</a:t>
            </a:r>
            <a:endParaRPr lang="en-US" sz="1200" dirty="0">
              <a:latin typeface="Aptos" panose="020B0004020202020204" pitchFamily="34" charset="0"/>
            </a:endParaRPr>
          </a:p>
          <a:p>
            <a:pPr marL="627063">
              <a:buNone/>
            </a:pPr>
            <a:r>
              <a:rPr lang="en-US" sz="1200" i="1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No verb / no subject in this sentence type.</a:t>
            </a:r>
            <a:endParaRPr lang="en-US" sz="1200">
              <a:latin typeface="Aptos" panose="020B0004020202020204" pitchFamily="34" charset="0"/>
            </a:endParaRPr>
          </a:p>
          <a:p>
            <a:pPr marL="627063"/>
            <a:endParaRPr lang="en-US" sz="1200" dirty="0">
              <a:latin typeface="Aptos" panose="020B0004020202020204" pitchFamily="34" charset="0"/>
            </a:endParaRPr>
          </a:p>
          <a:p>
            <a:r>
              <a:rPr lang="en-US" dirty="0"/>
              <a:t>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70D1F-BC2D-B144-39E6-09C7AE856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2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TASK — ANSWERS
1. 2 — Imperative  (verb-first: Turn)
2. 1 — Declarative  (subject: Grammar  ·  verb: is)
3. 3 — Interrogative  (inverted order: did you)
4. 4 — Exclamative  (What an … + strong feeling)
──
Reveal one sentence at a time. Students hold up fingers — scan the room before giving the answer.
Cold call anyone who looks uncertain: "Why did you choose [x]?"
Probing question if disagreement: "What would need to change to make it [other type]?"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C07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— Sentence types: an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four sentence types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intention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E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understand that English has four sentence types and identify what makes each one distinct.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01 — Six traits of writing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need to know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states something.  </a:t>
            </a: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"Grammar is everywhere."</a:t>
            </a:r>
            <a:endParaRPr lang="en-US" sz="2200" dirty="0"/>
          </a:p>
          <a:p>
            <a:pPr marL="357188" indent="-357188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Interrogative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a question.  </a:t>
            </a: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"Have you read it?"</a:t>
            </a:r>
            <a:endParaRPr lang="en-US" sz="2200" dirty="0"/>
          </a:p>
          <a:p>
            <a:pPr marL="357188" indent="-357188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Imperative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an instruction. Verb first; no subject.  </a:t>
            </a: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"Open your book."</a:t>
            </a:r>
            <a:endParaRPr lang="en-US" sz="2200" dirty="0"/>
          </a:p>
          <a:p>
            <a:pPr marL="357188" indent="-357188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Exclamative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strong feeling. Starts with What or How.  </a:t>
            </a: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"What a result!"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S01</a:t>
            </a:r>
            <a:endParaRPr lang="en-US" sz="11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0B5F6F5-4964-AFF4-3BF8-3CBE275BE6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0868" y="142875"/>
            <a:ext cx="746125" cy="746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48639"/>
            <a:ext cx="8229600" cy="65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88888"/>
                </a:solidFill>
                <a:latin typeface="Aptos" pitchFamily="34" charset="0"/>
              </a:rPr>
              <a:t>What type of sentence is each of these? </a:t>
            </a:r>
          </a:p>
          <a:p>
            <a:pPr marL="0" indent="0">
              <a:buNone/>
            </a:pPr>
            <a:r>
              <a:rPr lang="en-US" sz="1700" i="1" dirty="0">
                <a:solidFill>
                  <a:srgbClr val="888888"/>
                </a:solidFill>
                <a:latin typeface="Aptos" pitchFamily="34" charset="0"/>
              </a:rPr>
              <a:t>Declarative (</a:t>
            </a:r>
            <a:r>
              <a:rPr lang="en-US" sz="1700" b="1" i="1" dirty="0">
                <a:solidFill>
                  <a:schemeClr val="accent1"/>
                </a:solidFill>
                <a:latin typeface="Aptos" pitchFamily="34" charset="0"/>
              </a:rPr>
              <a:t>D</a:t>
            </a:r>
            <a:r>
              <a:rPr lang="en-US" sz="1700" i="1" dirty="0">
                <a:solidFill>
                  <a:srgbClr val="888888"/>
                </a:solidFill>
                <a:latin typeface="Aptos" pitchFamily="34" charset="0"/>
              </a:rPr>
              <a:t>), Imperative (</a:t>
            </a:r>
            <a:r>
              <a:rPr lang="en-US" sz="1700" b="1" i="1" dirty="0">
                <a:solidFill>
                  <a:schemeClr val="accent1"/>
                </a:solidFill>
                <a:latin typeface="Aptos" pitchFamily="34" charset="0"/>
              </a:rPr>
              <a:t>Imp</a:t>
            </a:r>
            <a:r>
              <a:rPr lang="en-US" sz="1700" i="1" dirty="0">
                <a:solidFill>
                  <a:srgbClr val="888888"/>
                </a:solidFill>
                <a:latin typeface="Aptos" pitchFamily="34" charset="0"/>
              </a:rPr>
              <a:t>), Interrogative (</a:t>
            </a:r>
            <a:r>
              <a:rPr lang="en-US" sz="1700" b="1" i="1" dirty="0">
                <a:solidFill>
                  <a:schemeClr val="accent1"/>
                </a:solidFill>
                <a:latin typeface="Aptos" pitchFamily="34" charset="0"/>
              </a:rPr>
              <a:t>Q</a:t>
            </a:r>
            <a:r>
              <a:rPr lang="en-US" sz="1700" i="1" dirty="0">
                <a:solidFill>
                  <a:srgbClr val="888888"/>
                </a:solidFill>
                <a:latin typeface="Aptos" pitchFamily="34" charset="0"/>
              </a:rPr>
              <a:t>), or Exclamative (</a:t>
            </a:r>
            <a:r>
              <a:rPr lang="en-US" sz="1700" b="1" i="1" dirty="0">
                <a:solidFill>
                  <a:schemeClr val="accent1"/>
                </a:solidFill>
                <a:latin typeface="Aptos" pitchFamily="34" charset="0"/>
              </a:rPr>
              <a:t>E</a:t>
            </a:r>
            <a:r>
              <a:rPr lang="en-US" sz="1700" i="1" dirty="0">
                <a:solidFill>
                  <a:srgbClr val="888888"/>
                </a:solidFill>
                <a:latin typeface="Aptos" pitchFamily="34" charset="0"/>
              </a:rPr>
              <a:t>) 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407380"/>
            <a:ext cx="8229600" cy="3329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en-US" sz="2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Stir the butter until it melts completely.</a:t>
            </a:r>
            <a:endParaRPr lang="en-US" sz="2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has changed the way young people communicate.</a:t>
            </a:r>
            <a:endParaRPr lang="en-US" sz="2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 you ever stopped to think about what you are sharing online?</a:t>
            </a:r>
            <a:endParaRPr lang="en-US" sz="2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 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 waste of time.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students respond — 3–4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S01</a:t>
            </a:r>
            <a:endParaRPr lang="en-US" sz="11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F3E2C3-CFC4-9366-575A-ABB2DD343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9517D48C-3740-3E63-E134-A9F8B48E5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4766"/>
            <a:ext cx="4572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can tell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0546"/>
            <a:ext cx="8229600" cy="3727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7063" indent="-627063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2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Stir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butter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until it melts completely.</a:t>
            </a:r>
            <a:r>
              <a:rPr lang="en-US" sz="24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</a:t>
            </a:r>
            <a:br>
              <a:rPr lang="en-US" sz="24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2400" dirty="0"/>
          </a:p>
          <a:p>
            <a:pPr marL="457200" indent="-457200">
              <a:buAutoNum type="arabicPeriod" startAt="2"/>
            </a:pPr>
            <a:r>
              <a:rPr lang="en-US" sz="24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</a:t>
            </a:r>
            <a:r>
              <a:rPr lang="en-US" sz="2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 changed</a:t>
            </a:r>
            <a:r>
              <a:rPr lang="en-US" sz="2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way young people communicate.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r>
              <a:rPr lang="en-US" sz="16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6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6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S01</a:t>
            </a:r>
            <a:endParaRPr lang="en-US" sz="11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9270C27-2620-179E-045E-3988E0A490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9417" y="132588"/>
            <a:ext cx="746125" cy="746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506F3-7C26-F689-4280-E052D92A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DC991C-DEFE-6D58-F327-91508C12600B}"/>
              </a:ext>
            </a:extLst>
          </p:cNvPr>
          <p:cNvSpPr/>
          <p:nvPr/>
        </p:nvSpPr>
        <p:spPr>
          <a:xfrm>
            <a:off x="457200" y="364766"/>
            <a:ext cx="4572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can tell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90F18C-2AC2-AE6A-0AE1-0A5FBDF65D84}"/>
              </a:ext>
            </a:extLst>
          </p:cNvPr>
          <p:cNvSpPr/>
          <p:nvPr/>
        </p:nvSpPr>
        <p:spPr>
          <a:xfrm>
            <a:off x="457200" y="890546"/>
            <a:ext cx="8229600" cy="3727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AutoNum type="arabicPeriod" startAt="3"/>
            </a:pPr>
            <a:r>
              <a:rPr lang="en-US" sz="2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ever stopped to think about what you are sharing online?</a:t>
            </a:r>
            <a:r>
              <a:rPr lang="en-US" sz="24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</a:p>
          <a:p>
            <a:pPr marL="0" indent="0">
              <a:buNone/>
            </a:pPr>
            <a:endParaRPr lang="en-US" sz="1700" dirty="0"/>
          </a:p>
          <a:p>
            <a:pPr marL="342900" indent="-342900">
              <a:buAutoNum type="arabicPeriod" startAt="4"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</a:t>
            </a:r>
            <a:r>
              <a:rPr lang="en-US" sz="24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waste of time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400" i="1" dirty="0">
              <a:solidFill>
                <a:srgbClr val="888888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21DD3E-D20C-F366-03C5-E6C4AA865C69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S01</a:t>
            </a:r>
            <a:endParaRPr lang="en-US" sz="11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A891FFF-DD87-71FA-7745-A42340C8E9E0}"/>
              </a:ext>
            </a:extLst>
          </p:cNvPr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r>
              <a:rPr lang="en-US" sz="16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6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6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6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5E2B722-7C1C-96DF-5992-D24C6F9EA8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0868" y="142875"/>
            <a:ext cx="746125" cy="74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246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9636"/>
            <a:ext cx="8229600" cy="733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the right number of fingers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en-US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Declarative   </a:t>
            </a:r>
            <a:r>
              <a:rPr lang="en-US" sz="1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 2 </a:t>
            </a: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Imperative   ·   </a:t>
            </a:r>
            <a:r>
              <a:rPr lang="en-US" sz="1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Interrogative   ·   </a:t>
            </a:r>
            <a:r>
              <a:rPr lang="en-US" sz="1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Exclamative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45732"/>
            <a:ext cx="8229600" cy="2982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off your phone before the exam begins.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Grammar is the most misunderstood subject in school.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on earth did you manage that?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an incredible effort from the whole team!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S01</a:t>
            </a:r>
            <a:endParaRPr lang="en-US" sz="11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F52223-F946-8019-2952-7CF72C69A9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7216" y="137160"/>
            <a:ext cx="609600" cy="6096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8A046D-E5DC-D9D4-FE7A-7C257BB304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44633" y="137160"/>
            <a:ext cx="609600" cy="6096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706013A-D010-D5AD-22D6-60E8F9A039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0433" y="137160"/>
            <a:ext cx="609600" cy="6096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B2CDF6D-224A-9A71-2427-37E134337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6233" y="137160"/>
            <a:ext cx="600075" cy="600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S grammar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7A0101"/>
      </a:accent1>
      <a:accent2>
        <a:srgbClr val="0DC3A5"/>
      </a:accent2>
      <a:accent3>
        <a:srgbClr val="0072B2"/>
      </a:accent3>
      <a:accent4>
        <a:srgbClr val="0F9ED5"/>
      </a:accent4>
      <a:accent5>
        <a:srgbClr val="8C072D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9f09437d8d02a1e3f0770c32ba2175b3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555cb06902e6186cbfcc866e1dbcbb82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D85C3472-2E97-4F31-9FD6-D686D9B384D4}"/>
</file>

<file path=customXml/itemProps2.xml><?xml version="1.0" encoding="utf-8"?>
<ds:datastoreItem xmlns:ds="http://schemas.openxmlformats.org/officeDocument/2006/customXml" ds:itemID="{ACB91A82-9E88-437A-AD20-1E405F22089A}"/>
</file>

<file path=customXml/itemProps3.xml><?xml version="1.0" encoding="utf-8"?>
<ds:datastoreItem xmlns:ds="http://schemas.openxmlformats.org/officeDocument/2006/customXml" ds:itemID="{DB468C32-CA65-4DAA-837B-D787B7DB388A}"/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895</Words>
  <Application>Microsoft Office PowerPoint</Application>
  <PresentationFormat>On-screen Show (16:9)</PresentationFormat>
  <Paragraphs>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8</cp:revision>
  <dcterms:created xsi:type="dcterms:W3CDTF">2026-08-14T04:38:46Z</dcterms:created>
  <dcterms:modified xsi:type="dcterms:W3CDTF">2026-10-05T05:38:49Z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</Properties>
</file>